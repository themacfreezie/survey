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omments/modernComment_148_81A864E1.xml" ContentType="application/vnd.ms-powerpoint.comment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78"/>
  </p:notesMasterIdLst>
  <p:sldIdLst>
    <p:sldId id="296" r:id="rId2"/>
    <p:sldId id="403" r:id="rId3"/>
    <p:sldId id="368" r:id="rId4"/>
    <p:sldId id="341" r:id="rId5"/>
    <p:sldId id="405" r:id="rId6"/>
    <p:sldId id="404" r:id="rId7"/>
    <p:sldId id="428" r:id="rId8"/>
    <p:sldId id="429" r:id="rId9"/>
    <p:sldId id="430" r:id="rId10"/>
    <p:sldId id="342" r:id="rId11"/>
    <p:sldId id="431" r:id="rId12"/>
    <p:sldId id="416" r:id="rId13"/>
    <p:sldId id="420" r:id="rId14"/>
    <p:sldId id="299" r:id="rId15"/>
    <p:sldId id="419" r:id="rId16"/>
    <p:sldId id="418" r:id="rId17"/>
    <p:sldId id="421" r:id="rId18"/>
    <p:sldId id="441" r:id="rId19"/>
    <p:sldId id="343" r:id="rId20"/>
    <p:sldId id="432" r:id="rId21"/>
    <p:sldId id="433" r:id="rId22"/>
    <p:sldId id="435" r:id="rId23"/>
    <p:sldId id="436" r:id="rId24"/>
    <p:sldId id="317" r:id="rId25"/>
    <p:sldId id="318" r:id="rId26"/>
    <p:sldId id="319" r:id="rId27"/>
    <p:sldId id="320" r:id="rId28"/>
    <p:sldId id="321" r:id="rId29"/>
    <p:sldId id="499" r:id="rId30"/>
    <p:sldId id="322" r:id="rId31"/>
    <p:sldId id="442" r:id="rId32"/>
    <p:sldId id="324" r:id="rId33"/>
    <p:sldId id="344" r:id="rId34"/>
    <p:sldId id="325" r:id="rId35"/>
    <p:sldId id="440" r:id="rId36"/>
    <p:sldId id="498" r:id="rId37"/>
    <p:sldId id="438" r:id="rId38"/>
    <p:sldId id="439" r:id="rId39"/>
    <p:sldId id="437" r:id="rId40"/>
    <p:sldId id="326" r:id="rId41"/>
    <p:sldId id="457" r:id="rId42"/>
    <p:sldId id="328" r:id="rId43"/>
    <p:sldId id="329" r:id="rId44"/>
    <p:sldId id="331" r:id="rId45"/>
    <p:sldId id="345" r:id="rId46"/>
    <p:sldId id="338" r:id="rId47"/>
    <p:sldId id="370" r:id="rId48"/>
    <p:sldId id="371" r:id="rId49"/>
    <p:sldId id="392" r:id="rId50"/>
    <p:sldId id="399" r:id="rId51"/>
    <p:sldId id="400" r:id="rId52"/>
    <p:sldId id="374" r:id="rId53"/>
    <p:sldId id="346" r:id="rId54"/>
    <p:sldId id="459" r:id="rId55"/>
    <p:sldId id="489" r:id="rId56"/>
    <p:sldId id="484" r:id="rId57"/>
    <p:sldId id="473" r:id="rId58"/>
    <p:sldId id="487" r:id="rId59"/>
    <p:sldId id="480" r:id="rId60"/>
    <p:sldId id="491" r:id="rId61"/>
    <p:sldId id="445" r:id="rId62"/>
    <p:sldId id="483" r:id="rId63"/>
    <p:sldId id="486" r:id="rId64"/>
    <p:sldId id="477" r:id="rId65"/>
    <p:sldId id="357" r:id="rId66"/>
    <p:sldId id="359" r:id="rId67"/>
    <p:sldId id="367" r:id="rId68"/>
    <p:sldId id="492" r:id="rId69"/>
    <p:sldId id="425" r:id="rId70"/>
    <p:sldId id="463" r:id="rId71"/>
    <p:sldId id="493" r:id="rId72"/>
    <p:sldId id="496" r:id="rId73"/>
    <p:sldId id="494" r:id="rId74"/>
    <p:sldId id="495" r:id="rId75"/>
    <p:sldId id="497" r:id="rId76"/>
    <p:sldId id="340" r:id="rId7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B0BED2-DCF0-D752-F2C4-F17733FEE147}" name="Brian E McGreal" initials="BM" userId="S::bmcgreal@uw.edu::500ccbb3-e957-4a38-850c-c0c2fd4a68d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F00"/>
    <a:srgbClr val="00FF04"/>
    <a:srgbClr val="FF8400"/>
    <a:srgbClr val="04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956" autoAdjust="0"/>
  </p:normalViewPr>
  <p:slideViewPr>
    <p:cSldViewPr snapToGrid="0">
      <p:cViewPr varScale="1">
        <p:scale>
          <a:sx n="82" d="100"/>
          <a:sy n="82" d="100"/>
        </p:scale>
        <p:origin x="772" y="48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comments/modernComment_148_81A864E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039B60D-DE02-4468-A4A2-92B70966D270}" authorId="{4DB0BED2-DCF0-D752-F2C4-F17733FEE147}" created="2025-11-05T17:08:25.048">
    <pc:sldMkLst xmlns:pc="http://schemas.microsoft.com/office/powerpoint/2013/main/command">
      <pc:docMk/>
      <pc:sldMk cId="2175296737" sldId="328"/>
    </pc:sldMkLst>
    <p188:txBody>
      <a:bodyPr/>
      <a:lstStyle/>
      <a:p>
        <a:r>
          <a:rPr lang="en-US"/>
          <a:t>Something more here? Highlight groups? I tried this before..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8CCD7DE-C3B7-6F17-99EA-83BB9CF34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CC87EC-3880-11A3-FC32-4D2121F22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94F5491-41AF-7432-7E0D-BAFCDB400A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10324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2FED314-83EE-6F29-072A-8756C090E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7CE917-32B9-4B53-B755-229E3589F7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EBE36E4-DB09-27A5-DBBC-6E3DE2C630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7527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F1A75AF-F139-8498-6DFE-6FE5D19ED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D843EF1-A2D2-50FC-F375-08328B057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95C222B-E222-AC81-0C57-D1F54DB5A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3125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76E2080-1789-5574-1F8D-BCF51B95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6DFCF12-80C2-D1D8-5541-3C4C7C95E6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A22C6DD-1D90-1412-0179-0CD5EDA718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21823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B3B300F-CF1F-540F-70A8-29212E91C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DB5BD4-1C8D-137E-854D-08D03DBF7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EF69597-D941-7CDE-83A4-D171B4F25C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98711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3901E86-20DF-19FB-4EBD-746E87A65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7CBFED-44C1-A120-AE38-AF6EEDEA94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C9833E5-2D86-8C19-171E-D32DAABC5A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9738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939050-1BC0-B5B6-474A-8EFA1E0D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301E135-F32E-6137-FD05-5B8B3A5CF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4B9591A-6FFC-188C-E43E-4731864A8C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Ecologically crucial species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Marine nutrients found in trees in central Idaho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1620290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6CDCFCA-EA30-E25B-AA5E-09683AF11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7E7704E-E41F-82C4-01F9-CE23159E2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A313050-6B70-4186-5B6E-47B2317490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Cultural significance - Kwantlen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Central to Indigenous ways of life and cultural identity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0881974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F8FFA2-A465-034F-BAE8-52A9703D7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6B05F0B-D6F0-9FA4-2F9A-70000FDF73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B84D75E-9D6B-3C74-7E31-BE6888B478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Commercial significance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200" dirty="0">
                <a:solidFill>
                  <a:schemeClr val="bg1"/>
                </a:solidFill>
              </a:rPr>
              <a:t>$7.2 million in OR in 2024 (landed value)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	Not including sport fishing</a:t>
            </a:r>
          </a:p>
        </p:txBody>
      </p:sp>
    </p:spTree>
    <p:extLst>
      <p:ext uri="{BB962C8B-B14F-4D97-AF65-F5344CB8AC3E}">
        <p14:creationId xmlns:p14="http://schemas.microsoft.com/office/powerpoint/2010/main" val="28640872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63C994C-5491-AE10-F5E1-D23552AF3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99392B8-6915-2AC7-283B-5869E6C4B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326FC01-C283-BC7D-B1C9-5922A899BC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84265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AD5D8E4-4B7A-E517-8FF8-3D24B5C6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0002AC-7E1A-98A3-487C-1D6228003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0715729-6FF8-7BFF-15B1-C741FED89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3094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3075C57-39FF-C940-EA28-40B3C2773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9E6D257-8631-03DE-591E-66996D6B52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8053B-7D22-4E04-9E29-4CED23B237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92719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BC5438-3362-C007-85C6-8AB543DD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9E82869-C94B-729A-2E9B-3EA458510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C2FACF3-6BF9-9D7B-9E2E-1E9778B422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75618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EF44126-9054-C47B-5598-521A7B5C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03E981E-4902-5638-4047-4AABB6BBEB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9AD769-CE8D-F7EE-7F3B-58134DF5F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980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15023A5-2CE4-81C4-1726-4AADA5BE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2CEE777-6C95-9A63-44A0-3D2217D21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72DE8C1-AC03-6CD7-8D97-C2959F46B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30991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28AB6B7-9392-186C-3A65-B41E7D82D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4512CBD-F761-82DC-FB3F-9103730AC5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EB536C1-D1D3-4E9E-698A-9C83B0E6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34961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1C5F918-356D-8506-C99E-A5974AC4D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0AED09-9F5A-FAEF-48BA-27076F7C7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BD3109A-90EC-7E7F-C761-74CC2F429D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172276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AC5A7-21E0-D291-17E6-7D8CDEFB4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4BD477E-2E99-D31E-A7EC-376B1DA1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06064A5-6A71-F9B4-6038-83AC78903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Not great in the lower 48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	</a:t>
            </a:r>
            <a:r>
              <a:rPr lang="en-US" sz="1100" dirty="0">
                <a:solidFill>
                  <a:schemeClr val="bg1"/>
                </a:solidFill>
              </a:rPr>
              <a:t>28 population groups of salmon/trout listed as endangered or threatened under ESA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13 of these in Columbia Basin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Despite restoration efforts</a:t>
            </a:r>
          </a:p>
          <a:p>
            <a:pPr marL="15875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	$ 9 billion spent in Columbia Basin since 1990s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92043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6144E4C-CB20-9570-F494-DB45E6661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D594524-C411-4779-FFDF-886C25ED8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9233A0B-4670-7ABF-8BE9-F4E728943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1924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62DD149-744B-77DE-BA25-2CE5B69E4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6C6B4B0-22AE-570B-8948-EB048BD13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1A1DD8-77BC-9D5C-62D4-FD6BFFA192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49503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D29C935-FACA-D4B3-3395-4B8C3407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A757821-D1DF-D291-F823-ADEEFC60C9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A55DA9D-0A0F-C805-CF81-2004934803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33631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B07D456-3845-6903-5395-05AF7E5AE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58AAE1F-A69B-2F7C-60AE-8EE45A5321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6078338-125C-AE4D-52B6-2277D603FE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5914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1891AA7-3E44-40B2-BAFA-110513DC8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0CAD9B-13CA-F254-9E88-5B1C207CA7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1DC6CDD-AB92-382D-E44E-ED970BAB6D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65595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A3B8742-C937-D9A5-8B8D-E156269CC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5951750-3012-F9DD-6562-E853CB0EFE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16667E2-4608-A904-FE29-6CA3993A62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Net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3896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5EB0527-8601-007E-202D-922BFF846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566D7BD-9080-D044-9384-A99DF4788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A91FC5E-8B55-5FA9-C24C-D58024109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Snorkel survey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26933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C0BA6DA-19BD-783D-8508-B65456E31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3444537-506E-E8B5-C184-E3C63231CF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61DA722-26EC-B6AF-541C-C1E16B1C78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47600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A1C56159-5097-D46E-3B0D-904C3C58A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865057F-CA6B-04F2-9B8B-B60ACD1819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4CD18A4-F9BE-49E4-E962-A9B01ABA6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PIT tag (passive integrated transponder)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37790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8465D1-12E8-94EA-290A-961C47BCD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1F10493-E052-DDCD-719A-7A935E5300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96AB4113-EF72-BE86-36AF-088D5E809F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Aerial Survey (AK)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84651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115E6C1-3970-88B0-BF03-04E7D795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5805BB-02DB-7F6E-E7B6-F9497118F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3EEBDB5-935E-8FD7-20B3-4B34C7DF1F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Weir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70601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0695230-A505-3CB7-1455-67AE8895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DAF8EE9-C34A-EA7C-9D9C-6FE67DE1E1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1A5ECD-DEB9-3B19-20FE-477CFB84D4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60597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EF53767-BCCD-ABCC-C299-7F7079DAA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97809E4-D524-14F4-5D48-28863542FA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4AD88DC-F431-E27A-3EEB-144CFCED5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5458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5605FD3-7BB1-61FC-D539-A25F6AF42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D1FFFDE-CC5F-98F9-911A-D6CA03F8FF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39F5D43-B6FA-80CD-9320-72D717CB18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8831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552606B-31C7-AB6E-8FFA-6C234E9A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6B39904-0BE4-77A1-F5BB-9C6505DD68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873211-5F5E-7B98-46D3-D730D463B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18654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764DEB9-DB0A-15AE-72FC-BF7D6172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AFDF683C-D6F4-253E-7C34-01629DD63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88C5BD2-5C13-5E5B-2665-108664798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727529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1FFB1BA-C6F9-4981-9DC7-E5336ABE9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50F96CD-A25B-17C3-0C1A-F40B3EC8D3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9DB330B-0A1A-2E31-1734-B26CF1C32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2408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AF78738-9C4F-45B6-CF81-3748BA204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EB347C-8EB2-AC94-6442-BFA55E45CB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9C9E1F8-4CCF-275C-32C6-8F2364BDFB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016451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6AF4A55-22EF-54A6-5F89-B4ABCDD3F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5A4FC02-A6D7-2305-E9CB-0FECD0FFB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0125824-7AE8-82AC-20B4-6A27C70C21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8802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8A49C98-0370-5D0D-1BDC-AABF7606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4C03D06-216D-7281-4363-31DF0D2FD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E09A1DF-016E-3BFA-2979-3850A23AB3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08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11D36AD-196A-56EF-129A-7901A56B2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57D2CCD-5AD3-40C7-ED8D-8FF86DA9EC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9F8407C-5D69-A517-D3C2-057805DB2E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525537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B9A3016-7B55-A3B6-36B4-949825BE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D88E1C96-129C-3537-E5F5-9336CE110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5CB41531-833B-2A24-D6B1-6B41AE7899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54897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6315E26-8D27-3BC3-1FFD-9764BEA54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DB9CADE-7E9B-0171-B107-86A7208A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71B6ABE-365B-EFC2-5D32-ED26B19750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54870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34925A-1344-B903-4822-6DD1C7B8D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FBCF362-B8BF-B84E-7095-611571C5EF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C90946D-39F7-EFC6-7506-44E407669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143451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B5DB378-0FAF-D8AE-AC11-EDF08D37E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0BC6314-1305-C354-02CB-08A66B293C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E298B56-260E-8C16-02A0-40723C6A0C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56607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15B59BD-6A57-A5AD-6949-3AC008F0A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1339DE5-AC60-4E5E-3AAE-489F44A0D8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F75AF54-D896-798D-C35A-D9B35CA9E7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6482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2282F08-D775-C5AF-E2A3-6C510A91F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8AA17AF-144E-E6C7-3EF6-6F64671BE5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A9E82442-40CE-9DCE-CCEB-7663F2A564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5579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BF39697-137E-434C-1BC8-0CEAE7F10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08ADA34-CE02-78FB-A88E-1BB71E4541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24A1211-14FE-4D76-1578-BCAAFBF85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7431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5ECF603-8047-A527-18AB-2AF27134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303DC34-E3D6-8681-1663-7A01F1BB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DA8CC08-7347-AE15-3C91-1B77AFCD7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1934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97E240B-9F1A-591B-00CF-5451FCC09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7A754FB-F5EF-BAA3-118F-5A92A9066B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5CB543D-3077-B38E-B1B1-9859513A9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815398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EF3ADA8-E61B-0D19-5C36-DD815AD1A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A3C9A8-3217-F572-65E0-9377206C7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21767-1500-8181-EA1A-93BB746395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33173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6A1933D-B43B-08C9-E212-EC7B7876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1C41621-C38A-B71A-FEF8-E93D1FFEEF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DFB3374-DA47-5FC4-60AE-2438A43252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11286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C914829-E1AB-5E78-CBA6-4C66EFACB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A0C6809-4F50-4B9E-05AD-0BF25F84E3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8BEB6E96-CE88-B7B6-08B2-23407B112E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19580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426E35F-6C07-EC28-B0FA-938A5010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4F0E9C3-798F-43CF-16CD-7C6B02A6B6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F644694-61D2-D7DC-25D2-9969D0E357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159811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C7A17B3B-0131-DB89-F76D-D1D2382C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C035507C-8C98-6D1F-A78D-7F351D08C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D117626B-E107-109F-8C5B-4633ABACA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370536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F6F788E-73F4-2B9B-4F2A-96A7D19D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D880702-9EFA-3532-746D-477D5A6BCD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AAB9A27-0737-8BE9-7FAF-3B19CDC1C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17538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3BDBB5B-921A-FFD2-4E93-DC21EF11B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8E458BC-9C43-30BE-89BD-95F2EC9B6A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BCC011B-235F-C206-81E4-47B4DFCC9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547938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90E5EC0-D159-9CEA-56CF-4F973FD8D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6E74671-7813-1B06-0B09-15D2679CAA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FFD34B0-DB66-FD05-9E53-370E0677F4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817633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AC815A-0766-84EC-D06F-48CB345FE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C493B39-74CF-4E3C-BFAE-B7AEAA2F57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28E64F7-8AEA-4428-416F-33194B9E7B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101910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F31E796E-72A1-97FA-D00F-6BB8998AB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2458589-94BC-C330-E7E7-B1543C6DA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B8C60CC-221D-F1E8-693F-94DC1B0197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65219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9A446C-C03D-C358-D63B-31137F169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3EB82539-F166-7E8A-88D4-A3508A839A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247EC91-792A-5FB2-C57F-F44B9C1495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3302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474FAC6-79A4-C897-5838-994C5A670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B5CC9112-1255-E9D6-4CDD-C321BE91A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552D365-D3A7-A381-D3F5-20CD9B2384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05042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8D135A4-3764-9F29-0654-6DF5DD438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04BF0EB4-7579-B8E2-7015-E1640471D8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D832B07-04FC-67C9-E551-9E6CC0F831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147404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C97B9D1-7690-0DA3-9C9F-981A89C49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A35520F-C038-853B-E108-136C27990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2B691D7A-7F53-BAD9-EC26-A47EEC1EF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7271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B47609AF-9201-A804-9D31-4CC27E0C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FE22FD9-C7D4-5535-B600-7586AA5ED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86C37DA-A58B-5299-85E6-FDC914FF15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705873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0BF6E36-45B4-B048-B4A8-98BB6103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F1F18DB5-6A9B-F559-C86F-93F2CF52A0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7257147D-566D-605D-116E-59DF4CA8DA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5032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8D121CA-6D64-C580-CDB4-D5E231342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44C7F2BF-2384-D068-9D30-D3DF48E029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F9B661C-6095-EF84-5DC1-B24A3960F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570435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81A8A34-441F-B342-383C-77F914B4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A236942-3027-1070-0C12-EAA14E211B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479E6BF-4529-FCA0-9734-01B3372BB6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503377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6685D3D-E1E7-5D4B-CAF0-AF7C68F8E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7B8791CE-EA7E-65C9-DAC8-7A6F9C31A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188E232-ADF9-957E-9D45-345D72E4A7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51482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23B705E-2123-AFB5-F660-1E1EE7E6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65C65AC-5AF1-6E96-7F54-43C123D60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07B756E0-8A14-8950-7D52-56C61DB952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41770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AD3BDE2-BFA7-226C-2BD1-DA35163E4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E59D3C6D-BB21-AB95-92DF-78C24FD0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483782E4-BDB1-D1B7-FAC7-26E1949D7F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621959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30D06F-7846-1533-2F10-D20B1917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2C0321A-53C5-4AFF-CD72-645FA03A0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E8273209-57E7-E1AB-08EE-1506B450A3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377340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203C7B3-725F-40BD-90D6-FA1D7650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61E638DC-BFFF-C2F2-98CF-8CF1C196C0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10106273-8C89-7B30-E4A2-8D4F591BB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8350989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B64E2DD-BB95-CDC3-CA73-12FA2A95D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0493BFB-786A-3D7E-1667-320279D774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333B9389-5599-EEB1-F5FD-81E93CD57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6955482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7EAB27A-64B6-3E34-ABC0-BC4C9D1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16847978-C723-8C9A-71A9-FE9E2AF7B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321FD2A-B90B-A528-99A8-A10BFA83BA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8189276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7438A9A-E9B4-9F5E-6F1C-436B6E8F5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5AE998DF-270C-6CFA-C08C-3A952CEBA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63100ADE-60F1-A211-BF0E-F85413CC35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732614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C62C34A-C6F5-C0E0-35C0-243CAB55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785B69C-5B01-05E4-2C02-C590FC1BD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B093B91F-D9AB-09CC-0255-AB7AB80CD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65817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32787D3-14C8-1045-DDF9-D7F2F5ABB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2461D365-F4D1-EE7E-D5A5-5204D0A46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772939-3FC5-70AB-6950-E120AD92A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94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6077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787399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53304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472739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2068255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485067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46112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6995574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46633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9738480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179633828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10/14/2026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3436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3" Type="http://schemas.openxmlformats.org/officeDocument/2006/relationships/image" Target="../media/image1.jp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6.jpg"/><Relationship Id="rId10" Type="http://schemas.openxmlformats.org/officeDocument/2006/relationships/image" Target="../media/image20.jpg"/><Relationship Id="rId4" Type="http://schemas.openxmlformats.org/officeDocument/2006/relationships/image" Target="../media/image19.jpg"/><Relationship Id="rId9" Type="http://schemas.openxmlformats.org/officeDocument/2006/relationships/image" Target="../media/image17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48_81A864E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1.jp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fif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2D7C91-B872-AC1F-6685-68A0F0505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693684-4F5E-C0D6-90B3-906863F7C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2E34490-A770-2089-1BD5-38B2B277FA6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15B9D-FF37-A9B1-71B2-5C34AB8274C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B4C9B47-AC18-D027-2DD8-22588A535F0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BB289D2-2CAA-5E86-7A2A-45A5B017707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9131" y="3355077"/>
            <a:ext cx="568862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 dirty="0">
                <a:solidFill>
                  <a:schemeClr val="bg1"/>
                </a:solidFill>
              </a:rPr>
              <a:t>Understanding inherent precision and bias in Pacific salmon abundance survey methods</a:t>
            </a:r>
            <a:br>
              <a:rPr lang="en" dirty="0">
                <a:solidFill>
                  <a:schemeClr val="bg1"/>
                </a:solidFill>
              </a:rPr>
            </a:br>
            <a:br>
              <a:rPr lang="en" sz="2700" dirty="0">
                <a:solidFill>
                  <a:schemeClr val="bg1"/>
                </a:solidFill>
              </a:rPr>
            </a:br>
            <a:endParaRPr sz="2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694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0E155D5-0A52-3FD4-321F-74BE3393B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C1ADF1-E84F-8FD6-63E0-69709A0DF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453BA76-B119-E364-F9B8-8956813769E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75BBBC-F98A-73E1-B8E6-04C2D75A2C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CA3DBDE-8BE6-1D60-C835-78DC1FEC08C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ED02A42C-F66D-EF4C-9113-32E655EE138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Understanding inherent precision and bias in Pacific salmon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E796C9-BB3B-4C45-C12A-55B2F9DD416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0ED0D8DC-DCA6-37F2-04F0-5B096B86686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BF74C0A2-C3DF-8599-2CB0-84BAC9DCEE2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E43B1-46C1-7B77-7F81-4075DF413F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2F50A0-5C1D-6C54-9B05-A54B052D2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F87C0CCB-BAF6-7873-BF1A-0F26725289E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32A83CC-5AC1-88C6-DC7D-740945BC10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F1478362-9E63-DD30-4961-5A8EF74B29A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080FD3C7-4CC4-9BEA-5A9B-10F1526620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8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5D77DDE-B6C7-9F94-A052-7054239E8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DC1A87-F769-B04F-3CD1-AE81C47B2B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018A5B-AF99-A522-2BE9-909CB2544BC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15A7EB-CD7F-3A41-D20D-271A5D24DF4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C0B9039-7D10-B440-526F-42EA64F35BA0}"/>
              </a:ext>
            </a:extLst>
          </p:cNvPr>
          <p:cNvSpPr txBox="1">
            <a:spLocks/>
          </p:cNvSpPr>
          <p:nvPr/>
        </p:nvSpPr>
        <p:spPr>
          <a:xfrm>
            <a:off x="-97373" y="1910560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6ADEEEA-E410-8199-E474-6984F9CCAF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3646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FD179C5-A645-9742-2820-06C8672E1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50BE27-2016-B8D2-2FBD-8C34D39E2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2DF907-7CBA-20B4-96C1-DAAE2894B26F}"/>
              </a:ext>
            </a:extLst>
          </p:cNvPr>
          <p:cNvSpPr/>
          <p:nvPr/>
        </p:nvSpPr>
        <p:spPr>
          <a:xfrm>
            <a:off x="-364385" y="-157447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840F7E-FD94-4B4C-078C-F44B5C8F0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E2DEFC9-6B7E-79EF-5BE6-B708A8BAD959}"/>
              </a:ext>
            </a:extLst>
          </p:cNvPr>
          <p:cNvSpPr txBox="1">
            <a:spLocks/>
          </p:cNvSpPr>
          <p:nvPr/>
        </p:nvSpPr>
        <p:spPr>
          <a:xfrm>
            <a:off x="1818021" y="2078026"/>
            <a:ext cx="4793794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92CF1F8-36F4-3191-B350-E4ACBC7D723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99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E2CA9B-1E83-0BEC-6CE7-A43BAEE6F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DE3B7-C4DA-1DD7-CBD9-15EC2F277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CC56B4-E3D6-3C9C-BA6D-6CCFAF89220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9FAA03-D9C5-3437-3608-CCAE23444BF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36653C-FC4F-3831-A229-B8C9CFE0F2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What are salmon?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600F444-5CB7-41C5-3FB0-283B3DA03CD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0DC92D-D8A0-104C-4007-72F182376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932" y="1152475"/>
            <a:ext cx="6677989" cy="375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5A573E-D18A-CA8D-159E-D63F1CEA28F2}"/>
              </a:ext>
            </a:extLst>
          </p:cNvPr>
          <p:cNvSpPr txBox="1"/>
          <p:nvPr/>
        </p:nvSpPr>
        <p:spPr>
          <a:xfrm>
            <a:off x="610205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Animalia</a:t>
            </a:r>
          </a:p>
        </p:txBody>
      </p:sp>
    </p:spTree>
    <p:extLst>
      <p:ext uri="{BB962C8B-B14F-4D97-AF65-F5344CB8AC3E}">
        <p14:creationId xmlns:p14="http://schemas.microsoft.com/office/powerpoint/2010/main" val="3987523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CF8BDA-8592-D04F-6FD3-B7656A122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B23CCD-0D1B-B44A-0657-9FCD73138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82EA130-52D3-61B3-95B1-CC65E17A71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494873-7608-EB8E-7BDA-52B741B600E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00C4E8B-B3E1-C348-AF2F-A3BEA62A54D9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15CA128-5CB0-4A25-E64B-4186C3F0075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7385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1E057C8-A6C9-5E54-F3BC-620D7FC9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DC6DAB-3B42-A9BE-F854-9131DE600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4FF10F4-866C-882F-2BC6-9FEA78AFF69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67A799-98FB-26A5-A7B5-950C31C431E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8F7B752-EF95-2408-C0E4-A718EBECAC3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99203F-F2B8-7B1D-4B09-896BC00058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852F6C-02B5-E436-8248-819FCCBEC46D}"/>
              </a:ext>
            </a:extLst>
          </p:cNvPr>
          <p:cNvSpPr txBox="1"/>
          <p:nvPr/>
        </p:nvSpPr>
        <p:spPr>
          <a:xfrm>
            <a:off x="73660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Jean Beaufort</a:t>
            </a:r>
          </a:p>
        </p:txBody>
      </p:sp>
    </p:spTree>
    <p:extLst>
      <p:ext uri="{BB962C8B-B14F-4D97-AF65-F5344CB8AC3E}">
        <p14:creationId xmlns:p14="http://schemas.microsoft.com/office/powerpoint/2010/main" val="2930765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4CDD967-B9A7-7244-5127-9A0CF54B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D5AAC8-E9FE-9291-FFCA-03B549DFC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5C2A9D5-FE8E-4516-C41E-15EF6F350B9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608C30-FE4A-5E5F-C5A6-FD1710463A4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9CE50E6-7F72-9B6A-2158-9824D3C184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09ADB9-7287-EDAE-5BFB-A697F0A5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1BCBA6-F331-C1EB-1339-6C2D7A1ED51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64192EC-999F-8464-3EDE-8CA2F7DFA6F7}"/>
              </a:ext>
            </a:extLst>
          </p:cNvPr>
          <p:cNvSpPr txBox="1"/>
          <p:nvPr/>
        </p:nvSpPr>
        <p:spPr>
          <a:xfrm>
            <a:off x="3128210" y="464184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Robert Jago</a:t>
            </a:r>
          </a:p>
        </p:txBody>
      </p:sp>
    </p:spTree>
    <p:extLst>
      <p:ext uri="{BB962C8B-B14F-4D97-AF65-F5344CB8AC3E}">
        <p14:creationId xmlns:p14="http://schemas.microsoft.com/office/powerpoint/2010/main" val="11840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927027F-E349-1B31-8156-BD946885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96EBCE-40A9-B51C-DCCF-B6E8A688A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D6E9B6F-9A1C-4C88-672E-E96F1F5126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B93A8-FF29-DA1C-D5AD-D39D8E982C3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D0C06F-44DC-A5D6-F343-D309A3D7B92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Why salmon are important?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A19FD38-2112-AF21-C83D-ECBD5082FC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994" r="20660"/>
          <a:stretch>
            <a:fillRect/>
          </a:stretch>
        </p:blipFill>
        <p:spPr>
          <a:xfrm>
            <a:off x="736600" y="1322386"/>
            <a:ext cx="2095500" cy="33194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9A8769-B956-5458-341E-3DADED24276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5133" r="37758"/>
          <a:stretch>
            <a:fillRect/>
          </a:stretch>
        </p:blipFill>
        <p:spPr>
          <a:xfrm>
            <a:off x="3128210" y="1320522"/>
            <a:ext cx="2095500" cy="33213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08035E-6018-BF88-CCD9-72D35E3376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9583" r="53720"/>
          <a:stretch>
            <a:fillRect/>
          </a:stretch>
        </p:blipFill>
        <p:spPr>
          <a:xfrm>
            <a:off x="5519820" y="1320521"/>
            <a:ext cx="2095500" cy="33213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4B0674-1585-46A0-95AE-37384C5A1D0F}"/>
              </a:ext>
            </a:extLst>
          </p:cNvPr>
          <p:cNvSpPr txBox="1"/>
          <p:nvPr/>
        </p:nvSpPr>
        <p:spPr>
          <a:xfrm>
            <a:off x="5519820" y="464184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</a:t>
            </a:r>
            <a:r>
              <a:rPr lang="en-US" sz="1000" dirty="0" err="1">
                <a:solidFill>
                  <a:schemeClr val="bg1">
                    <a:lumMod val="65000"/>
                    <a:lumOff val="35000"/>
                  </a:schemeClr>
                </a:solidFill>
              </a:rPr>
              <a:t>CoastAlaska</a:t>
            </a:r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 News</a:t>
            </a:r>
          </a:p>
        </p:txBody>
      </p:sp>
    </p:spTree>
    <p:extLst>
      <p:ext uri="{BB962C8B-B14F-4D97-AF65-F5344CB8AC3E}">
        <p14:creationId xmlns:p14="http://schemas.microsoft.com/office/powerpoint/2010/main" val="1108277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666D5F6-6B83-FE7F-23E0-A58742E5C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741B87-7744-DA6B-BDB0-C91064C17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3F39E5A-F4E3-1500-5A28-A2A609003C7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3956D0-3A71-F869-16B3-E26BCDDC6A6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A40F0A5-0F48-E56D-E64A-1C3713069E0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593D35-A63F-3BA1-8738-08F6EAE13D2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5434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BAF18B-351B-6CB9-CE77-8430827B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713EA3-4E73-8331-3D5F-020796E6B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4ED670-BB75-3EF8-226A-488FC22630A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CC26D1-946D-EDBD-0156-75CE409FE5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E0689B-191E-EB57-C814-49ACF8D229EC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Not great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1813D84-3D9C-7E5D-3829-CBC8AC3DCD7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18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B20C72-CF4E-0BA8-41A3-273CD8D2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29C71A-7ADC-72F2-5726-9614D8E6A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CF7DD40-3B15-F8F4-B215-7ED9B4A45A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B21B7D-5071-4B9C-D5D6-96BFB8AA2B7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14EFB66-5E50-9EE2-D0DC-69C60604359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62ADB55-CE9E-435D-72F1-C08D74A017F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340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74ABA57-5EBC-A11E-67A2-4E2670CF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28AC4A-DD8A-BAA1-016C-47F3BB7D11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B1DCF0-E655-721B-7A32-9DDC8A87E11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DC9359-88C2-38BD-F682-AF27669E965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12743D6-351C-F1AE-E7D4-2B53DF0F4AD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2D91632-0D34-A681-EBB8-9EA25C51574B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8724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9CC4BE1-7C47-B0F1-1B3F-F5924CB25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754284-58D8-FF50-3F6E-7D1BF3C6D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CE7654A-24B1-4AAE-1BAD-CAFF9FC126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9E0EF6-A66F-50CF-EFD4-306DCDD09F59}"/>
              </a:ext>
            </a:extLst>
          </p:cNvPr>
          <p:cNvSpPr/>
          <p:nvPr/>
        </p:nvSpPr>
        <p:spPr>
          <a:xfrm>
            <a:off x="-91439" y="-106224"/>
            <a:ext cx="9235440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290FBA-F905-FDD0-F73D-7011A9A35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8975" y="0"/>
            <a:ext cx="5826050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99C85D-A989-AA16-4976-A1B6CB7F6C13}"/>
              </a:ext>
            </a:extLst>
          </p:cNvPr>
          <p:cNvSpPr txBox="1"/>
          <p:nvPr/>
        </p:nvSpPr>
        <p:spPr>
          <a:xfrm>
            <a:off x="5589825" y="4931838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NOAA Fisheries</a:t>
            </a:r>
          </a:p>
        </p:txBody>
      </p:sp>
    </p:spTree>
    <p:extLst>
      <p:ext uri="{BB962C8B-B14F-4D97-AF65-F5344CB8AC3E}">
        <p14:creationId xmlns:p14="http://schemas.microsoft.com/office/powerpoint/2010/main" val="446311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2161133-FEB4-9328-BFCC-FBAE422B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672A73-FFFF-832A-D454-E29028606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6413E7-0351-007E-209C-8252F724243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988BEE-CA13-924E-CF2A-6B95D62B197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4F5C2A3-B4CB-FBC3-D1CD-9B1D6633528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5C86FCF-7134-5862-FCEC-C52E7ABF16C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755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E96831B-7333-B903-C3F7-379847C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6DD6B3-350E-AB06-C206-4B579D7FD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13B227-0A3B-B58E-8117-4F685A4423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9B3C6-8D14-9641-8669-D17F899C223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76D907-CFF2-CE45-82FA-2188759A23C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3C27567-3A0A-DF47-30EF-8EA5CA803F5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55686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B3A55A7-64FF-9275-1CCB-172E1BFD8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4E3B0A-8D55-764B-990D-F9A80BA12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1CF7696-EE9C-5B83-C4B1-7AF235834F9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652C3E-C52D-BBEF-371F-7483CB996D7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D5E8AAB-F85F-9357-080E-F8A33BED072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C80C721-37DB-DE0C-B728-9393C5D458B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324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785AF92-952F-F46A-C1AB-D8838B2C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88C337-657F-A2D6-4825-E297FCEF3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A649D-2F49-C0F0-4AB2-55A803D3EE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6268FB-FEB0-A2BF-8E96-D5C8BC9C55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45ED82-DD93-B691-FD82-4228C7AD892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are salmon doing?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C7839EB-F544-B44C-489F-237D006BE2C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great in the lower 48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28 ESU/DPSs listed as endangered or 	threatened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13 in Columbia Basin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Despite restoration efforts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$ 9 billion spent in Columbia Basin 	since 1990s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Ongoing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874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C9854B5-3485-1635-C6A7-AFB06698D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47F6C1-B46C-B982-CDD3-7DEAD6ABE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5D14ED-2464-64C6-BFDD-1762FEF2FEA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D39E2-C163-756B-3214-EDF482AAE7E2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912039D-A23F-B542-3C05-7E43F66226AE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salmon aren’t doing great?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A17C81-8C8F-DEE1-C442-8836918681A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87510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1D674D1-68EA-32CA-4083-BC2E424E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9FBFC4-491C-DB15-7A09-15D299E29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A2E718-0E76-BC66-026D-769C5D66E0D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C700AE-2BEA-A27F-ED67-14D3D12B75A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5D06E59-EB87-B90E-C618-D2F017FCEE92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FCC14CA-F7FE-D6CC-6F04-E6E625ED93C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29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AEC761D-1BD9-5334-423C-FBE504005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140D7E-C8D7-A24B-D94A-A1C9D3CFDD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6826050-7569-4F4E-655F-6402CF410EF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C2271C-AFA3-0371-3A68-821F5177526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689D1CC-EBEF-66C0-42DA-AB3088C17C30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E0F00E9-26D2-948D-00C1-AE3C0FA668A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379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69F3FA7-90B0-D74F-3729-2A3BD6A8C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2DEC1E-92BB-37B4-B16E-3AE2C8534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59C6CA-7B36-3E47-9D71-CB09D1EB681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D111B9-3826-390B-3397-10125CA993D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2F16A25-1D63-0723-13BE-89309908A727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92C4BB0-73E8-5948-A458-A85CF40CDE8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116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9A2E10F-D4A4-C620-3614-CF14502D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1E89D-DB86-2BCA-3178-7F40AE289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D138474-47F7-6788-FE98-6779B6AC806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484D4F-E4D3-021E-1F54-9632A53BE6D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E67E0E-D7C0-3973-94C3-BEFBD0F3DDC3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We count them!</a:t>
            </a:r>
          </a:p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Well, we count some of them…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…and make educated guesses 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about the rest…</a:t>
            </a:r>
          </a:p>
          <a:p>
            <a:pPr>
              <a:spcBef>
                <a:spcPts val="0"/>
              </a:spcBef>
            </a:pPr>
            <a:r>
              <a:rPr lang="en-US" sz="2800" dirty="0">
                <a:solidFill>
                  <a:schemeClr val="bg1"/>
                </a:solidFill>
              </a:rPr>
              <a:t>	… using a variety of methods</a:t>
            </a:r>
            <a:endParaRPr lang="en-US" sz="4200" dirty="0">
              <a:solidFill>
                <a:schemeClr val="bg1"/>
              </a:solidFill>
            </a:endParaRP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03C02814-A657-09BC-2938-8241CB02B0F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68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20BEC43-A1F7-0A1A-FAED-34E2D23E4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2A6BB9-A3BC-6AF1-20F9-4258D1C5C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93D2FEE-ED6B-E6A7-43AD-76BA0AB0A65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2C5D8-D7D1-2343-45BC-FDB1FCDBE60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23BD5BE-51D7-878B-6BBD-07A527ABD5A5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C175CE-BA84-82BB-1C53-9E9C76E0D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9634"/>
            <a:ext cx="4677410" cy="311979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96B8FE-C255-8080-6D3C-D061F2444E3A}"/>
              </a:ext>
            </a:extLst>
          </p:cNvPr>
          <p:cNvSpPr txBox="1"/>
          <p:nvPr/>
        </p:nvSpPr>
        <p:spPr>
          <a:xfrm>
            <a:off x="5451232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Bureau of Land Management</a:t>
            </a:r>
          </a:p>
        </p:txBody>
      </p:sp>
    </p:spTree>
    <p:extLst>
      <p:ext uri="{BB962C8B-B14F-4D97-AF65-F5344CB8AC3E}">
        <p14:creationId xmlns:p14="http://schemas.microsoft.com/office/powerpoint/2010/main" val="31213759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581DCC8B-A42E-9135-31F0-6D904555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E9B7B4-D83D-AD4F-180D-C409C6B3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B40C205-2560-8D3D-3688-5D66DD5B991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8549A6-83F9-8E1F-6683-F8041A4C5CF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36A5D2B-023C-070E-0C7A-576D40E0DBB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AF8165-9D3B-4F2C-BCA5-3ECB7FF38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778" y="1730498"/>
            <a:ext cx="4677410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89DEE3B-1543-80DD-E1CD-F8D49642605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National Parks Gallery</a:t>
            </a:r>
          </a:p>
        </p:txBody>
      </p:sp>
    </p:spTree>
    <p:extLst>
      <p:ext uri="{BB962C8B-B14F-4D97-AF65-F5344CB8AC3E}">
        <p14:creationId xmlns:p14="http://schemas.microsoft.com/office/powerpoint/2010/main" val="1746546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EE9CDD-4FDD-021A-E5B9-3D5693D2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E3F45-FE25-952B-BDAF-0BA63087F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FE2CC7-A73E-5C13-689B-E1FF0E7645D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40932B-58FA-5A9F-EDD3-9E46B57CE30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DC4EAC5-24BB-2CF0-8E2C-B93B332E007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CD7DF2-0D68-4BBA-E4FB-5B92DD94FC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5450" y="1730498"/>
            <a:ext cx="3687326" cy="31289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7F2DC3-82AE-DF9A-C694-6AE32FE17B3A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Wikipedia Commons</a:t>
            </a:r>
          </a:p>
        </p:txBody>
      </p:sp>
    </p:spTree>
    <p:extLst>
      <p:ext uri="{BB962C8B-B14F-4D97-AF65-F5344CB8AC3E}">
        <p14:creationId xmlns:p14="http://schemas.microsoft.com/office/powerpoint/2010/main" val="220207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6BE824B-8B05-B1CD-7445-80A58161A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70940D-0A6F-CF20-E385-3223C52F9D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28D5E4-F780-D84E-6C48-67245AB9469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EC5F3A-3C6F-868E-7C4F-4853B42C488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1BCEB2-0B0E-BF20-8FFE-0CE65CB9FDED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95B603-3444-66F7-AC1D-0FE28EC26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7452"/>
            <a:ext cx="4697986" cy="31289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369C33-CA5A-C0E9-C8F5-E8F6939FFB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5004" y="1730498"/>
            <a:ext cx="4638996" cy="31258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48C858-FA5E-E7AF-A6A6-4CBB8C51AC3A}"/>
              </a:ext>
            </a:extLst>
          </p:cNvPr>
          <p:cNvSpPr txBox="1"/>
          <p:nvPr/>
        </p:nvSpPr>
        <p:spPr>
          <a:xfrm>
            <a:off x="5495194" y="48392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US Fish and Wildlife Service</a:t>
            </a:r>
          </a:p>
        </p:txBody>
      </p:sp>
    </p:spTree>
    <p:extLst>
      <p:ext uri="{BB962C8B-B14F-4D97-AF65-F5344CB8AC3E}">
        <p14:creationId xmlns:p14="http://schemas.microsoft.com/office/powerpoint/2010/main" val="27981588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F6DECE7-DE15-DCD0-DDA0-ABE9919A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BED95C-96C8-D786-F0F2-BAE7B335D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3C11058-FF1E-D3FF-3DCF-3AADE68E662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7D370A-0240-CB04-D92F-48310CBEC7C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7184D47-68E5-8D6B-E8F9-EDB91A0AF56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996561-24DA-93FF-63AD-97C8CF280E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9144000" cy="3302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0625D-776D-C285-09D5-FAD46CD70CC1}"/>
              </a:ext>
            </a:extLst>
          </p:cNvPr>
          <p:cNvSpPr txBox="1"/>
          <p:nvPr/>
        </p:nvSpPr>
        <p:spPr>
          <a:xfrm>
            <a:off x="6149055" y="4933922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Nic McPhee</a:t>
            </a:r>
          </a:p>
        </p:txBody>
      </p:sp>
    </p:spTree>
    <p:extLst>
      <p:ext uri="{BB962C8B-B14F-4D97-AF65-F5344CB8AC3E}">
        <p14:creationId xmlns:p14="http://schemas.microsoft.com/office/powerpoint/2010/main" val="42086551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E998FD6-6C14-5859-8BB1-5C3BB1BAF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FC5451-798E-5DDD-3DF4-9AF22DE26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226C42-49FB-3373-BDAD-1F33B5F2158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CDE2E7-2134-B1A6-CB17-5DD4D84FBB7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48EA9FB-5D36-433F-AD1F-95B2C58B41E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96E1CE-85CE-F366-2447-7EB47DFDE209}"/>
              </a:ext>
            </a:extLst>
          </p:cNvPr>
          <p:cNvSpPr txBox="1"/>
          <p:nvPr/>
        </p:nvSpPr>
        <p:spPr>
          <a:xfrm>
            <a:off x="5662247" y="4897279"/>
            <a:ext cx="35541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65000"/>
                    <a:lumOff val="35000"/>
                  </a:schemeClr>
                </a:solidFill>
              </a:rPr>
              <a:t>Photo credit: U.S. National Archives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C26DFF-9F52-81D1-1ED4-65563329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211" y="1740703"/>
            <a:ext cx="3723804" cy="316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4340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A714EAE-B293-5BFF-009E-678B484E8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28499B-8D97-4125-79E7-B1BA1DC3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E26D8F-CC6D-514F-ACC6-2C29BC3A3D6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A9A8E0-9DB2-A6FA-11C3-6756C7378E8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D13643-B848-7EF5-DFA0-093456FD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673411"/>
            <a:ext cx="3713871" cy="1341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6B7CCA-12B5-1CF3-1B77-68433D3176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3871" y="1673411"/>
            <a:ext cx="1791209" cy="15199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75EA7-C577-7829-6F0C-6AAF75C9D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5080" y="1673411"/>
            <a:ext cx="2814783" cy="18829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1A6C10-9E06-CA91-5ED0-A555C56039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972985"/>
            <a:ext cx="2823025" cy="1882936"/>
          </a:xfrm>
          <a:prstGeom prst="rect">
            <a:avLst/>
          </a:prstGeom>
        </p:spPr>
      </p:pic>
      <p:sp>
        <p:nvSpPr>
          <p:cNvPr id="14" name="Google Shape;92;p19">
            <a:extLst>
              <a:ext uri="{FF2B5EF4-FFF2-40B4-BE49-F238E27FC236}">
                <a16:creationId xmlns:a16="http://schemas.microsoft.com/office/drawing/2014/main" id="{1FD8B541-CAFA-9CE5-FA56-AA835EB2E1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7946035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do we know how salmon are doing?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3BC717A-560C-254C-8918-3A16C48E53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5475" y="2964414"/>
            <a:ext cx="2794387" cy="1882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C395CD-7508-5FB3-A485-508C77808C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93079" y="2964414"/>
            <a:ext cx="2818937" cy="18774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C294CE-1F97-9DC6-63DF-272AB15E20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56935" y="2964414"/>
            <a:ext cx="2213693" cy="18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04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678B2C9-8E5D-E056-71BF-E7001A9A0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E6AE35E-C6A4-8458-34F7-2362DCD51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ACD1FF-8D5B-169E-B1E8-81D3B0B53C0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314807-8BCA-15F3-034C-C84692BD9D3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A372266A-C62B-8BC2-80E8-DA6B9651CF6F}"/>
              </a:ext>
            </a:extLst>
          </p:cNvPr>
          <p:cNvSpPr txBox="1">
            <a:spLocks/>
          </p:cNvSpPr>
          <p:nvPr/>
        </p:nvSpPr>
        <p:spPr>
          <a:xfrm>
            <a:off x="754152" y="2078026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How comparable are these counts?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9FAFBD-2F6D-CE66-FB63-E487D070C341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946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8F85342-A6EF-0A85-6612-CAC14A761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09DCBC-3C79-BAB8-8E05-E656A353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CE4B57A-DC62-1393-97F8-50B18A301B9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A02231-493F-BC1E-62CF-A2AD6084F90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F546BF8-86CB-A301-8AAF-1C3617CBA9D5}"/>
              </a:ext>
            </a:extLst>
          </p:cNvPr>
          <p:cNvSpPr txBox="1">
            <a:spLocks/>
          </p:cNvSpPr>
          <p:nvPr/>
        </p:nvSpPr>
        <p:spPr>
          <a:xfrm>
            <a:off x="311700" y="1654392"/>
            <a:ext cx="8014153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Research goal: Evaluate salmon survey methods for precision and directional bias</a:t>
            </a:r>
          </a:p>
          <a:p>
            <a:pPr>
              <a:spcBef>
                <a:spcPts val="0"/>
              </a:spcBef>
            </a:pPr>
            <a:endParaRPr lang="en-US" sz="4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480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EDD75F-25B6-6761-6ACD-BD252E77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0429ED-B8CC-9854-6459-6BEDB77DF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04A674-9C34-12E2-6F52-CE3D5B83955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3F6877-3417-6400-F43E-381936AA64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79B32EE-9FF4-4997-84D6-3D8D3ACD45F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D4AC916-0000-B932-D1C9-5C9ACFEC60E0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842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4A5C11-5440-97F7-3A19-6479DEA9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3C42-0907-44E5-07FE-29212C5C3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0098A7-03D4-41FC-A22B-540DE497E9E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1205-5EEE-5F6C-645B-CC239D1F514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8F33363-2C62-EDC0-85C6-CFDE6E74BB4E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6FB916A-7A56-4257-8DEF-E8C44FFC9B9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041057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5049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29C3318-986F-BD84-0B8F-C48767711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B14478-1253-BEC8-321F-D9BA7D337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5A22B17-9425-5105-8332-0E1AFA6D70D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CAD3D1-A912-4B08-ABBE-F50E704A39D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697A6F3A-37DC-5836-4AC6-14D0550151B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D3FB0AA-A77F-48FC-6E89-3A6AE8834F6D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268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91FAB3-20AD-EFCF-C84C-FC7C8F338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2A2E7E-1F96-D7B7-8AFA-A83BDDE25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0630719-FA08-9792-A859-F0CF167A826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814CAC-0921-6F46-1BD8-4111EE8BDA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121C85C-5BB6-C928-36A4-47DA789ACCB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CFDB709-21B6-D284-7D99-BE395FA005A0}"/>
              </a:ext>
            </a:extLst>
          </p:cNvPr>
          <p:cNvSpPr txBox="1">
            <a:spLocks/>
          </p:cNvSpPr>
          <p:nvPr/>
        </p:nvSpPr>
        <p:spPr>
          <a:xfrm>
            <a:off x="311699" y="1152474"/>
            <a:ext cx="6365725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20155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0A9154B-7F7B-6AD3-6ADB-7970DC94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4892AB-78E0-A2EE-C56C-F67B8F03B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5E08BE-6EBD-0C18-F806-91CC4FAC8F0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AC3D22-F43F-2D6B-F959-574DDA4571D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862B433D-DAC1-29DC-7A92-F22CFA2216D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BA2A337-F1A8-9986-A896-90FF40E75FD8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70382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56490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0F7F6E5-8D4A-631D-EAFC-4B6D232DD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02B624-3FF3-570D-E342-4D5414277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CB3B01A-0D50-271B-59CB-B0D847DAE12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EB03B8-03A6-0E9D-AE68-86F20368D5B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D32749-3087-6F37-7C43-7526F93C6D0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5C65D16D-AA3A-BE10-F4F4-1509C8FBCE86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296569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59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014541-6EC0-27E3-A613-A71BA026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5D4034-345F-CED1-134B-EAF4726CB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A44FD1-2BAF-713D-5BBB-6D46DA406F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785B0-2D33-DC51-16EF-2AAB81DC47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FA7986E-EFD7-1F67-B810-A46D86683824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7380337-088D-ED6E-F14B-AE45A8C77244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6504038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Natural-origin spawning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salmon estimates in Oregon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2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68 salmonid populations - 9 ESUs (all threatened)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 species: Chinook, coho, steelhead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Annual observations, 1980 to 2022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31 survey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06630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7355048-7985-F5CF-933B-6AF844EA9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5C6F66-F872-5ED8-A8EB-09A55B64C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9C6280C-5004-1046-656E-83B85BD62A4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92A6C9-6AAD-6A71-AF89-2AF5BF5CB99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CFBF47C-AAD2-6451-777F-F59B66D6DA9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abundance estimates</a:t>
            </a:r>
          </a:p>
        </p:txBody>
      </p:sp>
      <p:pic>
        <p:nvPicPr>
          <p:cNvPr id="10" name="Picture 9" descr="The diagram shows a declining trend in Oregon salmon populations, specifically Chinook, Coho, and Steelhead, from 1980 to 2020.&#10;&#10;AI-generated content may be incorrect.">
            <a:extLst>
              <a:ext uri="{FF2B5EF4-FFF2-40B4-BE49-F238E27FC236}">
                <a16:creationId xmlns:a16="http://schemas.microsoft.com/office/drawing/2014/main" id="{5F115CC6-2852-CA79-428C-8B9AB5719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207" y="1136579"/>
            <a:ext cx="7352902" cy="385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8628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416329A1-7228-3981-7A74-55F361E0E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B85503-D62C-D411-115E-DEB8D6A53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14EA49-37AA-54B7-8A52-6E097AFC552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151DBC-C60A-6686-1202-2C45A367F6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90FE531-DDF8-E52D-F82F-B9E5CC4697BF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2F8420-596E-E88C-48F3-1C0FF04A7951}"/>
              </a:ext>
            </a:extLst>
          </p:cNvPr>
          <p:cNvSpPr/>
          <p:nvPr/>
        </p:nvSpPr>
        <p:spPr>
          <a:xfrm>
            <a:off x="0" y="106926"/>
            <a:ext cx="8325853" cy="492964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73A4B2-7CAE-7EDA-E2DC-F4941EAC3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06926"/>
            <a:ext cx="3605503" cy="49296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3FDAA1-8FD5-824B-49EA-E2E46B4E1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5503" y="106926"/>
            <a:ext cx="3318970" cy="4929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8401A-B3B6-CCCA-A99B-D10E6DB11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4473" y="973437"/>
            <a:ext cx="1246851" cy="319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2128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986B2480-7E5A-0854-A4E2-E04F81A8A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48A201-567D-6AB2-7647-2E6B308E56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AA48769-6952-6E49-365E-EF732C8BF30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F8037-1B2B-5EB4-4D82-EB0F872F3FB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1526852-566B-92FE-487B-C38D1F6650B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survey methods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AE5069-7FC2-E75F-DD7F-6F1F9FD50F51}"/>
              </a:ext>
            </a:extLst>
          </p:cNvPr>
          <p:cNvSpPr/>
          <p:nvPr/>
        </p:nvSpPr>
        <p:spPr>
          <a:xfrm>
            <a:off x="1039900" y="1557563"/>
            <a:ext cx="6246054" cy="2186326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ED234CCC-6FE7-9E53-C92E-EAD4AF26228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84" t="10374" r="11557" b="47352"/>
          <a:stretch>
            <a:fillRect/>
          </a:stretch>
        </p:blipFill>
        <p:spPr>
          <a:xfrm>
            <a:off x="1039899" y="1557563"/>
            <a:ext cx="3123027" cy="2059716"/>
          </a:xfrm>
          <a:prstGeom prst="rect">
            <a:avLst/>
          </a:prstGeom>
        </p:spPr>
      </p:pic>
      <p:pic>
        <p:nvPicPr>
          <p:cNvPr id="8" name="Picture 7" descr="A white and black list with black text&#10;&#10;AI-generated content may be incorrect.">
            <a:extLst>
              <a:ext uri="{FF2B5EF4-FFF2-40B4-BE49-F238E27FC236}">
                <a16:creationId xmlns:a16="http://schemas.microsoft.com/office/drawing/2014/main" id="{76944918-0FFA-629E-DD3C-5166B4F5D52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875" t="52090" r="10665" b="3037"/>
          <a:stretch>
            <a:fillRect/>
          </a:stretch>
        </p:blipFill>
        <p:spPr>
          <a:xfrm>
            <a:off x="4162926" y="1557563"/>
            <a:ext cx="3123027" cy="218632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78510A2-7B68-7048-BCDC-6879F22EFEBF}"/>
              </a:ext>
            </a:extLst>
          </p:cNvPr>
          <p:cNvSpPr/>
          <p:nvPr/>
        </p:nvSpPr>
        <p:spPr>
          <a:xfrm>
            <a:off x="4572000" y="1557418"/>
            <a:ext cx="12573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2967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39CAE77-D9AA-F73D-5E65-58828572C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189A80-47AE-A424-EB6B-ADE056FA4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FBCAA42-2B74-EDE9-72AD-08D26678FC8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56EEB5-CAE2-C8CA-90C8-63A7AD1CAD1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B532A17-60EB-79CB-0F52-D0B53EDEAAB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survey methods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12F83F-1F7C-65BD-504A-6C18D4E921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4" y="1189921"/>
            <a:ext cx="5956365" cy="383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520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1D9AC4E-FEB7-D116-3BAD-174221E6E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CB01FA-6069-5EFF-998A-891E74556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80ABC2-8AF6-47B7-97B4-9A63ECE6452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62C2F0-F819-C542-8AEF-7F108084C9B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12090F10-6D81-6774-61EA-D6DC82AEC307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Data – survey methods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C970C7-4389-D5DB-0F67-4916FAE45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593" y="1189921"/>
            <a:ext cx="5956365" cy="383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208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0784720-26A8-32ED-CED3-A6E47096E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3B1AA1B-B580-82C1-1F60-1FBD027BA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BDA99D8-33C5-B7CB-67B1-CD33A8B1CF0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1AFDD8-3715-43C9-F05C-16B1556BF8D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C0EE1FCB-F79E-EF98-411C-DBE5176DF3C6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42B472-66EB-2FFC-AC52-A7CB5A88363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3671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2F2C6B0-9165-7037-8560-F6F79FD2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8ACD3-0326-22C1-723B-FF4E0D3B4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F1077A-44DD-70CD-2D15-E49CB06BEE1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472A79-0AC5-559E-7B1B-017D4B3160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BDEC21C-CA9E-2AD9-0D97-B00D75EE3FC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875BED9-E453-E25D-C407-390240A1612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Multivariate Auto-Regressive State Space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(MARSS)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8171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81A9F10-C7BD-7D54-2499-8C5B3442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7FEEB4-FFA7-26F8-A69C-5D5A7A8A0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6A7889C-9FB1-98CF-9CDA-62F083A01E1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2E1D2-CEFA-E148-73E5-A3DC0C798C2D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A1C5A18-F3A0-5CF3-C85B-7F08ED4BD6FC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AB8CF60-15E4-FFD8-725A-0890B8CF97D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Observation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 </a:t>
            </a:r>
            <a:endParaRPr lang="en-US" sz="2600" dirty="0">
              <a:solidFill>
                <a:schemeClr val="tx1">
                  <a:lumMod val="65000"/>
                </a:schemeClr>
              </a:solidFill>
            </a:endParaRP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513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13A6FB6-8A09-A53F-5CCD-275450B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F22BDA-B4F9-4406-16D4-8CC2019B2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5F25AB3-0F63-1A27-BDDC-D9C2D5AC8C3F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2E005F-AEB6-F00B-E6E1-557613ADEF8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75D2F95-478B-52F1-C59F-EC3C887166F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22F183A-28ED-9C8F-76BF-CD2BFF01807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Underlying state/process equation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=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a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 +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50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50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50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tx1">
                    <a:lumMod val="50000"/>
                  </a:schemeClr>
                </a:solidFill>
              </a:rPr>
              <a:t>R</a:t>
            </a:r>
            <a:r>
              <a:rPr lang="en-US" sz="2600" dirty="0">
                <a:solidFill>
                  <a:schemeClr val="tx1">
                    <a:lumMod val="50000"/>
                  </a:schemeClr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699605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4C3E2C1-3DBF-FC65-3FF1-8D2139C6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E50AC7-7AFE-A866-17C6-7B648AE56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A3C2754-AC1A-6B16-E43E-F071E3DBC517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918E8-5006-28B1-9AC3-49EDB0C3DF1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79B89F1-0ED6-882F-E17C-C4677C33B3AF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056BAB9-E55C-E265-5538-FE42048F51AA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4307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DF5F180-0D80-700E-001F-FF80110B8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735B55-0C7C-4AFA-0C7E-CFF0763D7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483554-0211-11D9-0004-34FA8B44FFC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64FFB-9F89-92AF-BAEE-0B5F8A1F28E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94491E5-F958-AD72-67BD-0215CFD191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B8A211A-F4DD-95E9-5091-9EE03E4B95FE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</a:t>
            </a:r>
            <a:r>
              <a:rPr lang="en-US" sz="1800" dirty="0">
                <a:solidFill>
                  <a:srgbClr val="0400FF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</a:rPr>
              <a:t>		</a:t>
            </a:r>
            <a:r>
              <a:rPr lang="en-US" sz="1800" dirty="0">
                <a:solidFill>
                  <a:srgbClr val="00FF04"/>
                </a:solidFill>
              </a:rPr>
              <a:t>Trend (bias)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rgbClr val="FF0000"/>
                </a:solidFill>
              </a:rPr>
              <a:t>	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AEE09F-5A4E-E9BA-9262-590E456D9164}"/>
              </a:ext>
            </a:extLst>
          </p:cNvPr>
          <p:cNvSpPr/>
          <p:nvPr/>
        </p:nvSpPr>
        <p:spPr>
          <a:xfrm>
            <a:off x="2971800" y="3130062"/>
            <a:ext cx="281354" cy="298938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4297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9E433CD-26FD-7447-DFD9-ECE2395AB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F2BFF-5202-21FC-890C-140D5CE06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1E7A16-08F4-BCD4-6ECA-F4546BD81BF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9F6CE0-D4E5-A38F-0966-667D219E332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0F7900E4-20D5-E145-A0F5-9A5FA4538B03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E03CEC1-2F74-7E94-9333-9AAB2260076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MARSS models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Important features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>
                <a:solidFill>
                  <a:schemeClr val="bg1"/>
                </a:solidFill>
              </a:rPr>
              <a:t>Bx</a:t>
            </a:r>
            <a:r>
              <a:rPr lang="en-US" sz="2600" b="1" baseline="-25000" dirty="0">
                <a:solidFill>
                  <a:schemeClr val="bg1"/>
                </a:solidFill>
              </a:rPr>
              <a:t>t−1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u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w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Q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bg1"/>
                </a:solidFill>
              </a:rPr>
              <a:t>y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= </a:t>
            </a:r>
            <a:r>
              <a:rPr lang="en-US" sz="2600" b="1" dirty="0" err="1">
                <a:solidFill>
                  <a:schemeClr val="bg1"/>
                </a:solidFill>
              </a:rPr>
              <a:t>Zx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+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>
                <a:solidFill>
                  <a:schemeClr val="bg1"/>
                </a:solidFill>
              </a:rPr>
              <a:t>, where </a:t>
            </a:r>
            <a:r>
              <a:rPr lang="en-US" sz="2600" b="1" dirty="0" err="1">
                <a:solidFill>
                  <a:schemeClr val="bg1"/>
                </a:solidFill>
              </a:rPr>
              <a:t>v</a:t>
            </a:r>
            <a:r>
              <a:rPr lang="en-US" sz="2600" b="1" baseline="-25000" dirty="0" err="1">
                <a:solidFill>
                  <a:schemeClr val="bg1"/>
                </a:solidFill>
              </a:rPr>
              <a:t>t</a:t>
            </a:r>
            <a:r>
              <a:rPr lang="en-US" sz="2600" dirty="0" err="1">
                <a:solidFill>
                  <a:schemeClr val="bg1"/>
                </a:solidFill>
              </a:rPr>
              <a:t>∼MVN</a:t>
            </a:r>
            <a:r>
              <a:rPr lang="en-US" sz="2600" dirty="0">
                <a:solidFill>
                  <a:schemeClr val="bg1"/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	</a:t>
            </a:r>
            <a:r>
              <a:rPr lang="en-US" sz="1800" dirty="0">
                <a:solidFill>
                  <a:srgbClr val="00FF04"/>
                </a:solidFill>
              </a:rPr>
              <a:t>Trend (bias)</a:t>
            </a:r>
            <a:r>
              <a:rPr lang="en-US" sz="1800" dirty="0">
                <a:solidFill>
                  <a:srgbClr val="FF0000"/>
                </a:solidFill>
              </a:rPr>
              <a:t>	     </a:t>
            </a:r>
            <a:r>
              <a:rPr lang="en-US" sz="1800" dirty="0">
                <a:solidFill>
                  <a:srgbClr val="FBFF00"/>
                </a:solidFill>
              </a:rPr>
              <a:t>Separate errors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D8358E9-72FC-8DAC-8DFB-8D50FE24E580}"/>
              </a:ext>
            </a:extLst>
          </p:cNvPr>
          <p:cNvSpPr/>
          <p:nvPr/>
        </p:nvSpPr>
        <p:spPr>
          <a:xfrm>
            <a:off x="2971800" y="3130062"/>
            <a:ext cx="281354" cy="298938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79B028-7BE9-F6CD-3997-56FDE72A7302}"/>
              </a:ext>
            </a:extLst>
          </p:cNvPr>
          <p:cNvSpPr/>
          <p:nvPr/>
        </p:nvSpPr>
        <p:spPr>
          <a:xfrm>
            <a:off x="3640015" y="2595557"/>
            <a:ext cx="430823" cy="31084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3CD2C8-2E2C-CA75-AC1B-5B583BB7980E}"/>
              </a:ext>
            </a:extLst>
          </p:cNvPr>
          <p:cNvSpPr/>
          <p:nvPr/>
        </p:nvSpPr>
        <p:spPr>
          <a:xfrm>
            <a:off x="3549264" y="3124110"/>
            <a:ext cx="398251" cy="31084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E7BC4C-7039-FC8C-DFC3-2D06F7E25F54}"/>
              </a:ext>
            </a:extLst>
          </p:cNvPr>
          <p:cNvSpPr/>
          <p:nvPr/>
        </p:nvSpPr>
        <p:spPr>
          <a:xfrm>
            <a:off x="5111891" y="3072643"/>
            <a:ext cx="2241345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4239D2-1174-AEB0-1D73-5675E6A8F420}"/>
              </a:ext>
            </a:extLst>
          </p:cNvPr>
          <p:cNvSpPr/>
          <p:nvPr/>
        </p:nvSpPr>
        <p:spPr>
          <a:xfrm>
            <a:off x="5266361" y="2532117"/>
            <a:ext cx="2241345" cy="40200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631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ECF52C8-CCA0-FDAF-D57C-D0876D15D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2665A4-9082-B515-24D4-F1342DD55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8514368-F8EE-2378-7828-C5A7FBD42E5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5F2D05-0E79-899B-35CF-C4136EDE55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9AA09396-F1FB-0E86-A87C-6DAE10BD90A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028115F-8D43-F19A-CBB4-F4FDF3F3C882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447862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What am I concerned with?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x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= </a:t>
            </a:r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Bx</a:t>
            </a:r>
            <a:r>
              <a:rPr lang="en-US" sz="2600" b="1" baseline="-25000" dirty="0">
                <a:solidFill>
                  <a:schemeClr val="tx1">
                    <a:lumMod val="65000"/>
                  </a:schemeClr>
                </a:solidFill>
              </a:rPr>
              <a:t>t−1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u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+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w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w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65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tx1">
                    <a:lumMod val="65000"/>
                  </a:schemeClr>
                </a:solidFill>
              </a:rPr>
              <a:t>Q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)</a:t>
            </a:r>
          </a:p>
          <a:p>
            <a:pPr algn="ctr"/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y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=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Zx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 + 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 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+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, where </a:t>
            </a:r>
            <a:r>
              <a:rPr lang="en-US" sz="2600" b="1" dirty="0" err="1">
                <a:solidFill>
                  <a:schemeClr val="tx1">
                    <a:lumMod val="65000"/>
                  </a:schemeClr>
                </a:solidFill>
              </a:rPr>
              <a:t>v</a:t>
            </a:r>
            <a:r>
              <a:rPr lang="en-US" sz="2600" b="1" baseline="-25000" dirty="0" err="1">
                <a:solidFill>
                  <a:schemeClr val="tx1">
                    <a:lumMod val="65000"/>
                  </a:schemeClr>
                </a:solidFill>
              </a:rPr>
              <a:t>t</a:t>
            </a:r>
            <a:r>
              <a:rPr lang="en-US" sz="2600" dirty="0" err="1">
                <a:solidFill>
                  <a:schemeClr val="tx1">
                    <a:lumMod val="65000"/>
                  </a:schemeClr>
                </a:solidFill>
              </a:rPr>
              <a:t>∼MVN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(0,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tx1">
                    <a:lumMod val="65000"/>
                  </a:schemeClr>
                </a:solidFill>
              </a:rPr>
              <a:t>)</a:t>
            </a:r>
          </a:p>
          <a:p>
            <a:pPr algn="ctr"/>
            <a:endParaRPr lang="en-US" sz="2600" dirty="0">
              <a:solidFill>
                <a:schemeClr val="bg1"/>
              </a:solidFill>
            </a:endParaRPr>
          </a:p>
          <a:p>
            <a:r>
              <a:rPr lang="en-US" sz="2600" dirty="0">
                <a:solidFill>
                  <a:schemeClr val="bg1"/>
                </a:solidFill>
              </a:rPr>
              <a:t>I am interested in </a:t>
            </a:r>
            <a:r>
              <a:rPr lang="en-US" sz="2600" dirty="0">
                <a:solidFill>
                  <a:srgbClr val="00FF04"/>
                </a:solidFill>
              </a:rPr>
              <a:t>observation bias </a:t>
            </a:r>
            <a:r>
              <a:rPr lang="en-US" sz="2600" dirty="0">
                <a:solidFill>
                  <a:schemeClr val="bg1"/>
                </a:solidFill>
              </a:rPr>
              <a:t>(</a:t>
            </a:r>
            <a:r>
              <a:rPr lang="en-US" sz="2600" b="1" dirty="0">
                <a:solidFill>
                  <a:schemeClr val="bg1"/>
                </a:solidFill>
              </a:rPr>
              <a:t>a</a:t>
            </a:r>
            <a:r>
              <a:rPr lang="en-US" sz="2600" dirty="0">
                <a:solidFill>
                  <a:schemeClr val="bg1"/>
                </a:solidFill>
              </a:rPr>
              <a:t>) and </a:t>
            </a:r>
            <a:r>
              <a:rPr lang="en-US" sz="2600" dirty="0">
                <a:solidFill>
                  <a:srgbClr val="FBFF00"/>
                </a:solidFill>
              </a:rPr>
              <a:t>observation variance </a:t>
            </a:r>
            <a:r>
              <a:rPr lang="en-US" sz="2600" dirty="0">
                <a:solidFill>
                  <a:schemeClr val="bg1"/>
                </a:solidFill>
              </a:rPr>
              <a:t>(</a:t>
            </a:r>
            <a:r>
              <a:rPr lang="en-US" sz="2600" b="1" dirty="0">
                <a:solidFill>
                  <a:schemeClr val="bg1"/>
                </a:solidFill>
              </a:rPr>
              <a:t>R</a:t>
            </a:r>
            <a:r>
              <a:rPr lang="en-US" sz="2600" dirty="0">
                <a:solidFill>
                  <a:schemeClr val="bg1"/>
                </a:solidFill>
              </a:rPr>
              <a:t>)</a:t>
            </a:r>
            <a:endParaRPr lang="en-US" sz="18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D64623-B623-7DDD-A10A-07E9F2582CE3}"/>
              </a:ext>
            </a:extLst>
          </p:cNvPr>
          <p:cNvSpPr/>
          <p:nvPr/>
        </p:nvSpPr>
        <p:spPr>
          <a:xfrm>
            <a:off x="2971800" y="3130062"/>
            <a:ext cx="281354" cy="298938"/>
          </a:xfrm>
          <a:prstGeom prst="rect">
            <a:avLst/>
          </a:prstGeom>
          <a:noFill/>
          <a:ln w="28575">
            <a:solidFill>
              <a:srgbClr val="00FF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712F23-8BEA-C51E-FEC9-E87B1EA73819}"/>
              </a:ext>
            </a:extLst>
          </p:cNvPr>
          <p:cNvSpPr/>
          <p:nvPr/>
        </p:nvSpPr>
        <p:spPr>
          <a:xfrm>
            <a:off x="6793626" y="3057280"/>
            <a:ext cx="398251" cy="31084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2699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BC54FE9-0E8D-1727-C4E0-9BF7F0817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47E424-2F51-7849-5E8D-AE48FBE73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B5D2F3E-8357-C41C-56B6-BD4680E3D5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DABDC0-4937-3215-B2CC-B6BBC4156CA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D57728-DC30-5EA4-A1B8-2D7F710EC39C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Results </a:t>
            </a:r>
          </a:p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(precision)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1EDEECD4-49D5-8272-F5B3-04F4B51FD2D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0972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256C3E-1437-900B-AA6A-0046F06E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E8402-99A7-0990-6E9F-8F90A6D0A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BEDCCFF-6769-A4A5-90F3-BE12258D25B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A2AC4A-6326-49A7-EC3A-EDCCA035A30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31EBC2B-F6C8-6891-4547-A7177EFC7CD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CDDB65-747D-9839-6F51-ACA7A6C08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6"/>
            <a:ext cx="8353537" cy="44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2879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7C9004BB-79EF-4E9A-BE7A-98E022ED9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3E73FA-68ED-33AF-CA70-3F1863D8A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9EDB0FB-9762-6CAF-D2E3-C72BEA3CF131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96982A-A273-B107-1412-5141CF20906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93E0D29-EB1A-A64A-43E5-6267940588C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 descr="The diagram represents a geographical map indicating various latitudes, longitudes, and corresponding population density for two ecological systems: Lower Columbia ESU and Upper Willamette ESU.&#10;&#10;AI-generated content may be incorrect.">
            <a:extLst>
              <a:ext uri="{FF2B5EF4-FFF2-40B4-BE49-F238E27FC236}">
                <a16:creationId xmlns:a16="http://schemas.microsoft.com/office/drawing/2014/main" id="{6FE8EA93-BB56-DD17-2EE0-EB93EE7386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38964"/>
            <a:ext cx="8501554" cy="4485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7082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521FCC4-F213-C033-262D-A4CD1B78A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739FC8-67B4-0B4A-47DD-1C53E121D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084B227-75E3-E788-36FD-1B2FFEACDE66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CFE1D4-E40E-101B-FD6C-B8A442F3FB7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BF38876A-E632-760E-5393-1A65C10587FE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B47280-5EFB-9ADB-67F5-B90FE0334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5"/>
            <a:ext cx="8434049" cy="447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2115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6DC0B76D-40BF-B625-A598-02B69DEB4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B36889-99FE-1BE5-7401-E541D291B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F0BF482-02F0-3578-E1EC-0B24E46D625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8001B1-3BE8-EE47-D9A6-1A17AEE4B3B6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40EDDE7-D5C0-D431-1078-9398BEC2B754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2" name="Picture 11" descr="The image displays a map comparing the distribution and variance of coho salmon populations in the Lower Columbia River ESU and Oregon Coast ESU, with a focus on geographical coordinates ranging from 44ￂﾰN to 46ￂﾰN latitude and 121.5ￂﾰW to 124.5ￂﾰW longitude.&#10;&#10;AI-generated content may be incorrect.">
            <a:extLst>
              <a:ext uri="{FF2B5EF4-FFF2-40B4-BE49-F238E27FC236}">
                <a16:creationId xmlns:a16="http://schemas.microsoft.com/office/drawing/2014/main" id="{3B85D42F-546C-59B1-DF84-28A7F57B1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3366"/>
            <a:ext cx="8431143" cy="4415893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31B2BE-BB54-2515-11CD-341A52FA18DF}"/>
              </a:ext>
            </a:extLst>
          </p:cNvPr>
          <p:cNvSpPr/>
          <p:nvPr/>
        </p:nvSpPr>
        <p:spPr>
          <a:xfrm>
            <a:off x="2926080" y="2369489"/>
            <a:ext cx="1192696" cy="11688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4507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40567F4-148E-110B-00A7-D90692B0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1D2BC9-316E-9929-ADB2-CD6CC6131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B3A516F-E85B-2D62-A8C7-14BB7506736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0BC650-E58F-EF4E-41F8-DBF104641A67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942E5FAE-23AA-F0B7-491C-0FFDE8B45A2A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20FCF4-7BDE-52AF-BBFC-0F2A2C973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7343"/>
            <a:ext cx="8508569" cy="448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884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AF38835-8CBF-427C-3C2B-8DB9AA876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A7BB36-D27E-D298-F6B8-F216C7B2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949C235-0D45-A9F5-801F-E5A66592992D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4DA71-C586-D4BF-3A3B-B4AA68B1445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B3FDA62-08A4-4207-302B-F9BA0B0573A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is a map showing a geographic area with various shaded regions, each labeled with a latitude and longitude coordinate, suggesting a thematic representation such as population density or some other variable.&#10;&#10;AI-generated content may be incorrect.">
            <a:extLst>
              <a:ext uri="{FF2B5EF4-FFF2-40B4-BE49-F238E27FC236}">
                <a16:creationId xmlns:a16="http://schemas.microsoft.com/office/drawing/2014/main" id="{CC1CA9A2-80A7-A3F4-2D13-18ADFE2B0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5207"/>
            <a:ext cx="8483736" cy="443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7443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9B1242D-8A7E-9B4A-D962-64ECE1C8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D6B506-8472-1402-2C43-9A6E036BB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5637F06-C59E-18ED-AA16-549C281C469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10F29A-C63B-1D05-EB6F-AE487BD1F5FA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B42E14F-0AA5-FDF6-8806-F3B2C6FA5E30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Results </a:t>
            </a:r>
          </a:p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(bias)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87B48789-DDCB-73FA-BC5D-DAFD034F40A5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0811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988FEDD-A2B2-A896-B831-7AC0A6063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7A89CB-80AC-7229-71EE-EC25B31BD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CA25492-F5E5-7404-AD8F-A4A6077D1B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11CF3F-1A47-B101-5CC8-13C6996A4D91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DAC5814F-D136-1CAA-5684-302B55123903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4CA2AA-C50F-E6BF-7231-A0A8E7CD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377091" cy="444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4680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CA5C10F-5A33-228B-4547-E28C5844C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63C08B-CB08-7435-96FE-1DB46BED8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90A70C6-2118-227D-FE44-F72154CD9C32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E6A99F-6C04-5D6A-0A03-D9AFCEC68BAB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413060D-95A4-9DD1-446A-18345B20768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918E65-301A-A71A-E0FD-C6F41FC9E7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50796" cy="447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2574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C98C049-E115-FE04-CBF8-D630D60EF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91AA96-135A-B9D4-57E8-5DB8B3033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0B02533-AEB8-1BDF-7DAF-3487043DF12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371C3B-61BF-77FF-3C2A-255E1249E5A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76F0A3D4-7422-6FB3-2F6E-F1C9BC7FAE9D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3F7B5D-5EEA-5CF4-38D9-EBA7F5032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3492"/>
            <a:ext cx="8425156" cy="443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9449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70A4AA8B-23C4-D99B-AFAE-3E86D520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06837-A5C3-08EA-1094-86191A007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209EBCD-8F8B-C36C-B07A-631F427C8BF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C79A75-8066-89DF-810B-FDDC310190E3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FC3B302-BAF5-EE72-81A4-CE7C14FD5072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pic>
        <p:nvPicPr>
          <p:cNvPr id="4" name="Picture 3" descr="The image displays a map with a color gradient representing the average bias in steelhead fish surveys across different latitudinal and longitudinal coordinates from 1980 to 2024, measured against a 'Dam Counts' method.&#10;&#10;AI-generated content may be incorrect.">
            <a:extLst>
              <a:ext uri="{FF2B5EF4-FFF2-40B4-BE49-F238E27FC236}">
                <a16:creationId xmlns:a16="http://schemas.microsoft.com/office/drawing/2014/main" id="{0AC434D0-DA18-84E8-DBDC-5F34644E4C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9152"/>
            <a:ext cx="8446576" cy="443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4610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F4F2DFA2-590B-F46E-E44C-6D65C8B95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28F977-2FD2-B61E-F276-B01214A99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1D77A29-B723-7BCA-77A0-EDB2A3012A50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F557D-D7C5-C331-62F0-B3A71847776F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38BB27C8-4EFA-651F-2652-D154B34AFF7D}"/>
              </a:ext>
            </a:extLst>
          </p:cNvPr>
          <p:cNvSpPr txBox="1">
            <a:spLocks/>
          </p:cNvSpPr>
          <p:nvPr/>
        </p:nvSpPr>
        <p:spPr>
          <a:xfrm>
            <a:off x="311700" y="2118129"/>
            <a:ext cx="7386958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176B126-48AF-25FB-47F8-755F4D69B446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02738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A1290F2-E7D4-090E-5D8A-A7A49F82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D605EA-F665-62E5-9DFC-233F390FD7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F0766F2-CE77-55C7-D9EB-C85152769EF4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F95DD4-075A-2718-4525-E9830BCE84B8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E3B61F7B-0E31-0A07-5FBE-437582B69F4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56BE6BA-A102-FD8D-27E3-34D0032CE419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357650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C9621CF-62D7-48FA-F4C7-7EE88EB75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53A4D-9B25-30A2-73A0-3C9DA2F64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1958D34-ED1E-8293-478B-399195B275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AC7DB0-F0C5-91A5-13FE-C72146AE9A0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4F927281-C950-9768-CE87-C127FC7F5F5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6A544B00-C89D-1FD7-7DED-39BC2CBCCFD7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35954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49507D4-1962-B2E2-D705-01ABE0A6E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C89CAD-A35C-499A-6700-FB5DEAD35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1A8EF9-A9B2-580C-9ED1-BFBB7BDA6149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FD5DD-F817-6120-2CDF-3F6D3106C49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C951869-8A9F-3B79-9504-580ACA75EAF1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-3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j-ea"/>
                <a:cs typeface="+mj-cs"/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A5CCA6BC-BC6A-0948-3A93-735B84CDE265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5196823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Wide variety of survey methods available to biologists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Understanding bias and precision is crucial</a:t>
            </a: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26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r>
              <a:rPr kumimoji="0" lang="en-US" sz="2600" b="0" i="0" u="none" strike="noStrike" kern="1200" cap="none" spc="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Decisions such as ESA listing and restoration funding are dependent on accurate estimates</a:t>
            </a: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6858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6F6F74"/>
              </a:buClr>
              <a:buSzPct val="80000"/>
              <a:buFont typeface="Arial" pitchFamily="34" charset="0"/>
              <a:buNone/>
              <a:tabLst/>
              <a:defRPr/>
            </a:pPr>
            <a:endParaRPr kumimoji="0" lang="en-US" sz="1800" b="0" i="0" u="none" strike="noStrike" kern="1200" cap="none" spc="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98630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39AAAFE-1B31-5433-8ECC-DEC0E867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C116A-C873-AB93-8BC2-9ACA0A765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B161B21-EF6B-74DE-E91D-7C5E9253D788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53A32F-7CA7-A456-905F-194CC539CF60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FFBAE647-DFB4-D73A-DBCB-608EA3465958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605F9A5-D5EB-5660-DA6C-8237345EACD6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Neighboring population and ESUs can be surveyed using significantly different suites of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1552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A11600-58FF-3BB8-400E-0511682FE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FE8C6F-6775-40D8-C032-081144773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3C8F204-4FBC-7507-8B71-36C871613E1A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90F9F-D061-7211-35DE-A285A355B165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7CE58604-B0DE-7684-5A7F-99B723BA2EFB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E372C666-DF6C-1072-0673-E354170F51D8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Neighboring population and ESUs can be surveyed using significantly different suites of methods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Potential for misinterpreting salmonid abundance at ESU level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53852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16646A6B-7586-778C-5FFF-74C442103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DB87B5-CBDA-1B3C-288D-226BB9430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7B2587-38AA-3309-1A1F-C0C0209CA1B3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435E08-E26B-4670-7961-47BA26A9119C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A6FFDB0-FF27-1C8B-45F8-A6C570481A1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B39A534-EA8B-C5DC-B32E-053C4C389A35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methods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3622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43CD3C1-9F2E-8834-257D-2AAB4240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9881AB-8747-4367-23D9-A92DFA6A2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221EC35-4A7E-611A-8093-D67632B50115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03A392-4200-C30F-3B03-F6F1D774B26E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D0AAA23F-0CE6-7C2A-7C62-F63AF2F74736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3571F119-2F54-3A38-98AD-89650575BBEE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The same survey methods can exhibit differing levels of precision and bias across species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Not all methods are universally applicable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641331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F7AEB6A2-52F5-EA79-9EF0-C0852F4F3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D71E28-2202-8057-96F9-C1758097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4D3EF65-183C-744B-C8C1-F8AE2F9AE5B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2551D9-0304-4162-3687-EA36DCB2DD8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282DEE0F-B74E-89E1-0226-7F9EDE5C7062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Next Steps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F74EDD96-1133-C4F2-C100-402D4B002C5D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Identify common watershed characteristics driving trends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97194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41988257-316B-9425-8A19-8CD089CF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AFFBA3-4DC2-712F-B0FF-B6C0169BE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3FAF5B8-C89D-C62D-DF13-61C31A87AA8C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A17058-C492-2D2B-6653-9E6EDA72E334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B445E419-9BA8-0BAF-7466-1A0D78ED0BB0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Next Steps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474C4857-8388-E5A0-CF18-75DA10B6D372}"/>
              </a:ext>
            </a:extLst>
          </p:cNvPr>
          <p:cNvSpPr txBox="1">
            <a:spLocks/>
          </p:cNvSpPr>
          <p:nvPr/>
        </p:nvSpPr>
        <p:spPr>
          <a:xfrm>
            <a:off x="311701" y="1152474"/>
            <a:ext cx="5291578" cy="412007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Identify common watershed characteristics driving trends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2600" dirty="0">
              <a:solidFill>
                <a:schemeClr val="bg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Compare bias and variance of combined methods to component parts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178401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B86EC7A3-D04F-90BA-3242-094E668D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04EC2F-6E03-1FAC-AC44-3A1E70625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4E342F4-1BE7-B100-DDBE-A4A2102C1FCB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6C905-75E0-00B3-38BE-FAABDA7C874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C4910B4A-4829-39F5-9402-521CB4AFF328}"/>
              </a:ext>
            </a:extLst>
          </p:cNvPr>
          <p:cNvSpPr txBox="1">
            <a:spLocks/>
          </p:cNvSpPr>
          <p:nvPr/>
        </p:nvSpPr>
        <p:spPr>
          <a:xfrm>
            <a:off x="311700" y="1152475"/>
            <a:ext cx="5041057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endParaRPr lang="en-US" sz="1900" dirty="0">
              <a:solidFill>
                <a:schemeClr val="bg1"/>
              </a:solidFill>
            </a:endParaRPr>
          </a:p>
        </p:txBody>
      </p:sp>
      <p:sp>
        <p:nvSpPr>
          <p:cNvPr id="2" name="Google Shape;54;p13">
            <a:extLst>
              <a:ext uri="{FF2B5EF4-FFF2-40B4-BE49-F238E27FC236}">
                <a16:creationId xmlns:a16="http://schemas.microsoft.com/office/drawing/2014/main" id="{1D778D54-596D-5880-AEE2-8E44A3C043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529897"/>
            <a:ext cx="8325853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spcBef>
                <a:spcPts val="0"/>
              </a:spcBef>
            </a:pPr>
            <a:r>
              <a:rPr lang="en" sz="3600" dirty="0">
                <a:solidFill>
                  <a:schemeClr val="bg1"/>
                </a:solidFill>
              </a:rPr>
              <a:t>Understanding inherent precision and bias in Pacific salmon abundance survey methods</a:t>
            </a:r>
            <a:br>
              <a:rPr lang="en" sz="3600" dirty="0">
                <a:solidFill>
                  <a:schemeClr val="bg1"/>
                </a:solidFill>
              </a:rPr>
            </a:br>
            <a:br>
              <a:rPr lang="en" sz="3600" dirty="0">
                <a:solidFill>
                  <a:schemeClr val="bg1"/>
                </a:solidFill>
              </a:rPr>
            </a:b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FE004C-D83C-ED4C-7EDC-DAD1B6451584}"/>
              </a:ext>
            </a:extLst>
          </p:cNvPr>
          <p:cNvSpPr/>
          <p:nvPr/>
        </p:nvSpPr>
        <p:spPr>
          <a:xfrm>
            <a:off x="311700" y="1899684"/>
            <a:ext cx="7769043" cy="216027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oogle Shape;238;p39">
            <a:extLst>
              <a:ext uri="{FF2B5EF4-FFF2-40B4-BE49-F238E27FC236}">
                <a16:creationId xmlns:a16="http://schemas.microsoft.com/office/drawing/2014/main" id="{E3994D2C-7D47-0134-C09A-37783E20328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2765" y="1966500"/>
            <a:ext cx="2664673" cy="122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39;p39">
            <a:extLst>
              <a:ext uri="{FF2B5EF4-FFF2-40B4-BE49-F238E27FC236}">
                <a16:creationId xmlns:a16="http://schemas.microsoft.com/office/drawing/2014/main" id="{3675B93F-F9A6-4BD1-D0A1-DBC1C6D8261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49" y="3438700"/>
            <a:ext cx="3801300" cy="552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8A8FBB-4903-D76B-4458-A352752613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0093" y="3375123"/>
            <a:ext cx="1861648" cy="60479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9308B48-D03A-FC1F-0339-5F6144D11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2861" y="1980671"/>
            <a:ext cx="995825" cy="1272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Google Shape;237;p39">
            <a:extLst>
              <a:ext uri="{FF2B5EF4-FFF2-40B4-BE49-F238E27FC236}">
                <a16:creationId xmlns:a16="http://schemas.microsoft.com/office/drawing/2014/main" id="{60D7258E-489A-0103-649A-14F715E1BD3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1200" y="4581785"/>
            <a:ext cx="8325853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</a:rPr>
              <a:t>Brian McGreal						bmcgreal@uw.edu</a:t>
            </a:r>
            <a:endParaRPr sz="2400" dirty="0">
              <a:solidFill>
                <a:schemeClr val="dk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0F6FD01-2A64-62B1-6DD8-0BD5AAFE4B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9080" y="1993582"/>
            <a:ext cx="1324074" cy="1272769"/>
          </a:xfrm>
          <a:prstGeom prst="rect">
            <a:avLst/>
          </a:prstGeom>
        </p:spPr>
      </p:pic>
      <p:pic>
        <p:nvPicPr>
          <p:cNvPr id="16" name="Picture 15" descr="The image depicts the US Geological Survey (USGS) logo, symbolizing their commitment to science for a changing world.&#10;&#10;AI-generated content may be incorrect.">
            <a:extLst>
              <a:ext uri="{FF2B5EF4-FFF2-40B4-BE49-F238E27FC236}">
                <a16:creationId xmlns:a16="http://schemas.microsoft.com/office/drawing/2014/main" id="{9D297DE7-611B-EE71-921B-135EC1998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2612" y="3380998"/>
            <a:ext cx="1629426" cy="598924"/>
          </a:xfrm>
          <a:prstGeom prst="rect">
            <a:avLst/>
          </a:prstGeom>
        </p:spPr>
      </p:pic>
      <p:pic>
        <p:nvPicPr>
          <p:cNvPr id="17" name="Picture 16" descr="The image depicts the Oregon State University emblem, featuring a bear and the university's acronym, surrounded by the year 1868.&#10;&#10;AI-generated content may be incorrect.">
            <a:extLst>
              <a:ext uri="{FF2B5EF4-FFF2-40B4-BE49-F238E27FC236}">
                <a16:creationId xmlns:a16="http://schemas.microsoft.com/office/drawing/2014/main" id="{64AE957C-7165-B86A-5E94-1E888582D9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4910" y="1980672"/>
            <a:ext cx="1211897" cy="127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578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53">
          <a:extLst>
            <a:ext uri="{FF2B5EF4-FFF2-40B4-BE49-F238E27FC236}">
              <a16:creationId xmlns:a16="http://schemas.microsoft.com/office/drawing/2014/main" id="{92AEF6D9-EB5A-BFCD-F67A-C7225BD8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953A8F-7E9E-683A-7DA0-405C4B41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98761"/>
            <a:ext cx="9144000" cy="609897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15C08D-8C61-9CA8-F9A6-9ABBDC5F7E4E}"/>
              </a:ext>
            </a:extLst>
          </p:cNvPr>
          <p:cNvSpPr/>
          <p:nvPr/>
        </p:nvSpPr>
        <p:spPr>
          <a:xfrm>
            <a:off x="-296110" y="-226565"/>
            <a:ext cx="9872770" cy="5857662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CE4A8F-52C6-379E-3957-650817227BD9}"/>
              </a:ext>
            </a:extLst>
          </p:cNvPr>
          <p:cNvSpPr/>
          <p:nvPr/>
        </p:nvSpPr>
        <p:spPr>
          <a:xfrm>
            <a:off x="8325853" y="-106224"/>
            <a:ext cx="818147" cy="551390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92;p19">
            <a:extLst>
              <a:ext uri="{FF2B5EF4-FFF2-40B4-BE49-F238E27FC236}">
                <a16:creationId xmlns:a16="http://schemas.microsoft.com/office/drawing/2014/main" id="{539FF5CE-C3E7-CCEA-E1F1-DBC7BADE886A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38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US" sz="4200" dirty="0">
                <a:solidFill>
                  <a:schemeClr val="bg1"/>
                </a:solidFill>
              </a:rPr>
              <a:t>Modeling approach</a:t>
            </a:r>
          </a:p>
        </p:txBody>
      </p:sp>
      <p:sp>
        <p:nvSpPr>
          <p:cNvPr id="8" name="Google Shape;93;p19">
            <a:extLst>
              <a:ext uri="{FF2B5EF4-FFF2-40B4-BE49-F238E27FC236}">
                <a16:creationId xmlns:a16="http://schemas.microsoft.com/office/drawing/2014/main" id="{2FE7AE96-7710-D4DA-0690-343EF9236E4B}"/>
              </a:ext>
            </a:extLst>
          </p:cNvPr>
          <p:cNvSpPr txBox="1">
            <a:spLocks/>
          </p:cNvSpPr>
          <p:nvPr/>
        </p:nvSpPr>
        <p:spPr>
          <a:xfrm>
            <a:off x="311700" y="1152474"/>
            <a:ext cx="8014153" cy="388375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95000"/>
              </a:lnSpc>
              <a:spcBef>
                <a:spcPts val="1050"/>
              </a:spcBef>
              <a:spcAft>
                <a:spcPts val="15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1650" kern="1200" spc="8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6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225"/>
              </a:spcBef>
              <a:spcAft>
                <a:spcPts val="225"/>
              </a:spcAft>
              <a:buClr>
                <a:schemeClr val="accent1"/>
              </a:buClr>
              <a:buFont typeface="Wingdings 2" pitchFamily="18" charset="2"/>
              <a:buNone/>
              <a:defRPr sz="15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Specifying matrices properly is crucial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600" dirty="0">
                <a:solidFill>
                  <a:schemeClr val="bg1"/>
                </a:solidFill>
              </a:rPr>
              <a:t>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800" dirty="0">
                <a:solidFill>
                  <a:schemeClr val="bg1"/>
                </a:solidFill>
              </a:rPr>
              <a:t>		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8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C12785-2E4B-BCA8-73F2-EE5ACA663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54" y="1846813"/>
            <a:ext cx="8467740" cy="1643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A590F9-C3B1-860B-2C19-78006A7CA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8475" y="3772808"/>
            <a:ext cx="5943600" cy="65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118354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8984</TotalTime>
  <Words>1540</Words>
  <Application>Microsoft Office PowerPoint</Application>
  <PresentationFormat>On-screen Show (16:9)</PresentationFormat>
  <Paragraphs>297</Paragraphs>
  <Slides>76</Slides>
  <Notes>76</Notes>
  <HiddenSlides>7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80" baseType="lpstr">
      <vt:lpstr>Arial</vt:lpstr>
      <vt:lpstr>Century Schoolbook</vt:lpstr>
      <vt:lpstr>Wingdings 2</vt:lpstr>
      <vt:lpstr>View</vt:lpstr>
      <vt:lpstr>Understanding inherent precision and bias in Pacific salmon abundance survey methods  </vt:lpstr>
      <vt:lpstr>Understanding inherent precision and bias in Pacific salmon abundance survey methods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Understanding inherent precision and bias in Pacific salmon abundance survey methods 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Brian E McGreal</cp:lastModifiedBy>
  <cp:revision>61</cp:revision>
  <dcterms:modified xsi:type="dcterms:W3CDTF">2026-10-14T23:45:41Z</dcterms:modified>
</cp:coreProperties>
</file>