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modernComment_148_81A864E1.xml" ContentType="application/vnd.ms-powerpoint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78"/>
  </p:notesMasterIdLst>
  <p:sldIdLst>
    <p:sldId id="296" r:id="rId2"/>
    <p:sldId id="403" r:id="rId3"/>
    <p:sldId id="368" r:id="rId4"/>
    <p:sldId id="341" r:id="rId5"/>
    <p:sldId id="405" r:id="rId6"/>
    <p:sldId id="404" r:id="rId7"/>
    <p:sldId id="428" r:id="rId8"/>
    <p:sldId id="429" r:id="rId9"/>
    <p:sldId id="430" r:id="rId10"/>
    <p:sldId id="342" r:id="rId11"/>
    <p:sldId id="431" r:id="rId12"/>
    <p:sldId id="416" r:id="rId13"/>
    <p:sldId id="420" r:id="rId14"/>
    <p:sldId id="299" r:id="rId15"/>
    <p:sldId id="419" r:id="rId16"/>
    <p:sldId id="418" r:id="rId17"/>
    <p:sldId id="421" r:id="rId18"/>
    <p:sldId id="441" r:id="rId19"/>
    <p:sldId id="343" r:id="rId20"/>
    <p:sldId id="432" r:id="rId21"/>
    <p:sldId id="433" r:id="rId22"/>
    <p:sldId id="435" r:id="rId23"/>
    <p:sldId id="436" r:id="rId24"/>
    <p:sldId id="317" r:id="rId25"/>
    <p:sldId id="318" r:id="rId26"/>
    <p:sldId id="319" r:id="rId27"/>
    <p:sldId id="320" r:id="rId28"/>
    <p:sldId id="321" r:id="rId29"/>
    <p:sldId id="499" r:id="rId30"/>
    <p:sldId id="322" r:id="rId31"/>
    <p:sldId id="442" r:id="rId32"/>
    <p:sldId id="324" r:id="rId33"/>
    <p:sldId id="344" r:id="rId34"/>
    <p:sldId id="325" r:id="rId35"/>
    <p:sldId id="440" r:id="rId36"/>
    <p:sldId id="498" r:id="rId37"/>
    <p:sldId id="438" r:id="rId38"/>
    <p:sldId id="439" r:id="rId39"/>
    <p:sldId id="437" r:id="rId40"/>
    <p:sldId id="326" r:id="rId41"/>
    <p:sldId id="457" r:id="rId42"/>
    <p:sldId id="328" r:id="rId43"/>
    <p:sldId id="329" r:id="rId44"/>
    <p:sldId id="331" r:id="rId45"/>
    <p:sldId id="345" r:id="rId46"/>
    <p:sldId id="338" r:id="rId47"/>
    <p:sldId id="370" r:id="rId48"/>
    <p:sldId id="371" r:id="rId49"/>
    <p:sldId id="392" r:id="rId50"/>
    <p:sldId id="399" r:id="rId51"/>
    <p:sldId id="400" r:id="rId52"/>
    <p:sldId id="374" r:id="rId53"/>
    <p:sldId id="346" r:id="rId54"/>
    <p:sldId id="459" r:id="rId55"/>
    <p:sldId id="489" r:id="rId56"/>
    <p:sldId id="484" r:id="rId57"/>
    <p:sldId id="473" r:id="rId58"/>
    <p:sldId id="487" r:id="rId59"/>
    <p:sldId id="480" r:id="rId60"/>
    <p:sldId id="491" r:id="rId61"/>
    <p:sldId id="445" r:id="rId62"/>
    <p:sldId id="483" r:id="rId63"/>
    <p:sldId id="486" r:id="rId64"/>
    <p:sldId id="477" r:id="rId65"/>
    <p:sldId id="357" r:id="rId66"/>
    <p:sldId id="359" r:id="rId67"/>
    <p:sldId id="367" r:id="rId68"/>
    <p:sldId id="492" r:id="rId69"/>
    <p:sldId id="425" r:id="rId70"/>
    <p:sldId id="463" r:id="rId71"/>
    <p:sldId id="493" r:id="rId72"/>
    <p:sldId id="496" r:id="rId73"/>
    <p:sldId id="494" r:id="rId74"/>
    <p:sldId id="495" r:id="rId75"/>
    <p:sldId id="497" r:id="rId76"/>
    <p:sldId id="340" r:id="rId7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F00"/>
    <a:srgbClr val="00FF04"/>
    <a:srgbClr val="FF8400"/>
    <a:srgbClr val="04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956" autoAdjust="0"/>
  </p:normalViewPr>
  <p:slideViewPr>
    <p:cSldViewPr snapToGrid="0">
      <p:cViewPr varScale="1">
        <p:scale>
          <a:sx n="130" d="100"/>
          <a:sy n="130" d="100"/>
        </p:scale>
        <p:origin x="1110" y="-36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omments/modernComment_148_81A864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039B60D-DE02-4468-A4A2-92B70966D270}" authorId="{4DB0BED2-DCF0-D752-F2C4-F17733FEE147}" created="2025-11-05T17:08:25.048">
    <pc:sldMkLst xmlns:pc="http://schemas.microsoft.com/office/powerpoint/2013/main/command">
      <pc:docMk/>
      <pc:sldMk cId="2175296737" sldId="328"/>
    </pc:sldMkLst>
    <p188:txBody>
      <a:bodyPr/>
      <a:lstStyle/>
      <a:p>
        <a:r>
          <a:rPr lang="en-US"/>
          <a:t>Something more here? Highlight groups? I tried this before..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1A75AF-F139-8498-6DFE-6FE5D19ED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D843EF1-A2D2-50FC-F375-08328B057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95C222B-E222-AC81-0C57-D1F54DB5A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12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F44126-9054-C47B-5598-521A7B5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3E981E-4902-5638-4047-4AABB6BBE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9AD769-CE8D-F7EE-7F3B-58134DF5F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80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1FFB1BA-C6F9-4981-9DC7-E5336ABE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50F96CD-A25B-17C3-0C1A-F40B3EC8D3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9DB330B-0A1A-2E31-1734-B26CF1C32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2408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B9A3016-7B55-A3B6-36B4-949825B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88E1C96-129C-3537-E5F5-9336CE110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CB41531-833B-2A24-D6B1-6B41AE7899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5489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34925A-1344-B903-4822-6DD1C7B8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BCF362-B8BF-B84E-7095-611571C5EF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90946D-39F7-EFC6-7506-44E407669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14345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15B59BD-6A57-A5AD-6949-3AC008F0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1339DE5-AC60-4E5E-3AAE-489F44A0D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F75AF54-D896-798D-C35A-D9B35CA9E7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6482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3BDBB5B-921A-FFD2-4E93-DC21EF11B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E458BC-9C43-30BE-89BD-95F2EC9B6A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BCC011B-235F-C206-81E4-47B4DFCC9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547938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AC815A-0766-84EC-D06F-48CB345F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C493B39-74CF-4E3C-BFAE-B7AEAA2F57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28E64F7-8AEA-4428-416F-33194B9E7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101910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9A446C-C03D-C358-D63B-31137F169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B82539-F166-7E8A-88D4-A3508A839A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247EC91-792A-5FB2-C57F-F44B9C1495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3302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474FAC6-79A4-C897-5838-994C5A670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5CC9112-1255-E9D6-4CDD-C321BE91A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552D365-D3A7-A381-D3F5-20CD9B2384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05042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0BF6E36-45B4-B048-B4A8-98BB6103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1F18DB5-6A9B-F559-C86F-93F2CF52A0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257147D-566D-605D-116E-59DF4CA8D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032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3BDE2-BFA7-226C-2BD1-DA35163E4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9D3C6D-BB21-AB95-92DF-78C24FD0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83782E4-BDB1-D1B7-FAC7-26E1949D7F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621959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203C7B3-725F-40BD-90D6-FA1D7650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E638DC-BFFF-C2F2-98CF-8CF1C196C0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0106273-8C89-7B30-E4A2-8D4F591BB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350989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7EAB27A-64B6-3E34-ABC0-BC4C9D1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847978-C723-8C9A-71A9-FE9E2AF7B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321FD2A-B90B-A528-99A8-A10BFA83BA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8189276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438A9A-E9B4-9F5E-6F1C-436B6E8F5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AE998DF-270C-6CFA-C08C-3A952CEBA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3100ADE-60F1-A211-BF0E-F85413CC35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32614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10/13/2026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6.jpg"/><Relationship Id="rId10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17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8_81A864E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1ADF1-E84F-8FD6-63E0-69709A0DF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453BA76-B119-E364-F9B8-8956813769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5D77DDE-B6C7-9F94-A052-7054239E8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C1A87-F769-B04F-3CD1-AE81C47B2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018A5B-AF99-A522-2BE9-909CB2544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15A7EB-CD7F-3A41-D20D-271A5D24DF4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C0B9039-7D10-B440-526F-42EA64F35BA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6ADEEEA-E410-8199-E474-6984F9CCAF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646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0BE27-2016-B8D2-2FBD-8C34D39E2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2DF907-7CBA-20B4-96C1-DAAE2894B26F}"/>
              </a:ext>
            </a:extLst>
          </p:cNvPr>
          <p:cNvSpPr/>
          <p:nvPr/>
        </p:nvSpPr>
        <p:spPr>
          <a:xfrm>
            <a:off x="-364385" y="-157447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DE3B7-C4DA-1DD7-CBD9-15EC2F277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CC56B4-E3D6-3C9C-BA6D-6CCFAF89220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B23CCD-0D1B-B44A-0657-9FCD73138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2EA130-52D3-61B3-95B1-CC65E17A71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DC6DAB-3B42-A9BE-F854-9131DE600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4FF10F4-866C-882F-2BC6-9FEA78AFF69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AAC8-E9FE-9291-FFCA-03B549DFC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5C2A9D5-FE8E-4516-C41E-15EF6F350B9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96EBCE-40A9-B51C-DCCF-B6E8A688A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D6E9B6F-9A1C-4C88-672E-E96F1F5126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741B87-7744-DA6B-BDB0-C91064C1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F39E5A-F4E3-1500-5A28-A2A609003C7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713EA3-4E73-8331-3D5F-020796E6B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4ED670-BB75-3EF8-226A-488FC22630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29C71A-7ADC-72F2-5726-9614D8E6A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CF7DD40-3B15-F8F4-B215-7ED9B4A45A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28AC4A-DD8A-BAA1-016C-47F3BB7D1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B1DCF0-E655-721B-7A32-9DDC8A87E11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CC4BE1-7C47-B0F1-1B3F-F5924CB2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754284-58D8-FF50-3F6E-7D1BF3C6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E7654A-24B1-4AAE-1BAD-CAFF9FC126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9E0EF6-A66F-50CF-EFD4-306DCDD09F59}"/>
              </a:ext>
            </a:extLst>
          </p:cNvPr>
          <p:cNvSpPr/>
          <p:nvPr/>
        </p:nvSpPr>
        <p:spPr>
          <a:xfrm>
            <a:off x="-91439" y="-106224"/>
            <a:ext cx="9235440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290FBA-F905-FDD0-F73D-7011A9A35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975" y="0"/>
            <a:ext cx="582605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99C85D-A989-AA16-4976-A1B6CB7F6C13}"/>
              </a:ext>
            </a:extLst>
          </p:cNvPr>
          <p:cNvSpPr txBox="1"/>
          <p:nvPr/>
        </p:nvSpPr>
        <p:spPr>
          <a:xfrm>
            <a:off x="5589825" y="493183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NOAA Fisheries</a:t>
            </a:r>
          </a:p>
        </p:txBody>
      </p:sp>
    </p:spTree>
    <p:extLst>
      <p:ext uri="{BB962C8B-B14F-4D97-AF65-F5344CB8AC3E}">
        <p14:creationId xmlns:p14="http://schemas.microsoft.com/office/powerpoint/2010/main" val="446311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72A73-FFFF-832A-D454-E2902860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6413E7-0351-007E-209C-8252F72424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6DD6B3-350E-AB06-C206-4B579D7F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13B227-0A3B-B58E-8117-4F685A4423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4E3B0A-8D55-764B-990D-F9A80BA12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1CF7696-EE9C-5B83-C4B1-7AF235834F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88C337-657F-A2D6-4825-E297FCEF3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A649D-2F49-C0F0-4AB2-55A803D3EE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47F6C1-B46C-B982-CDD3-7DEAD6ABE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5D14ED-2464-64C6-BFDD-1762FEF2FEA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9FBFC4-491C-DB15-7A09-15D299E2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A2E718-0E76-BC66-026D-769C5D66E0D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140D7E-C8D7-A24B-D94A-A1C9D3CFD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826050-7569-4F4E-655F-6402CF410EF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2DEC1E-92BB-37B4-B16E-3AE2C8534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59C6CA-7B36-3E47-9D71-CB09D1EB68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1E89D-DB86-2BCA-3178-7F40AE289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D138474-47F7-6788-FE98-6779B6AC806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 using a variety of methods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2A6BB9-A3BC-6AF1-20F9-4258D1C5C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3D2FEE-ED6B-E6A7-43AD-76BA0AB0A6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9B7B4-D83D-AD4F-180D-C409C6B3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B40C205-2560-8D3D-3688-5D66DD5B99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E3F45-FE25-952B-BDAF-0BA63087F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FE2CC7-A73E-5C13-689B-E1FF0E7645D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70940D-0A6F-CF20-E385-3223C52F9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28D5E4-F780-D84E-6C48-67245AB946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BED95C-96C8-D786-F0F2-BAE7B335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3C11058-FF1E-D3FF-3DCF-3AADE68E662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FC5451-798E-5DDD-3DF4-9AF22DE2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226C42-49FB-3373-BDAD-1F33B5F2158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8499B-8D97-4125-79E7-B1BA1DC3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E26D8F-CC6D-514F-ACC6-2C29BC3A3D6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6AE35E-C6A4-8458-34F7-2362DCD51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ACD1FF-8D5B-169E-B1E8-81D3B0B53C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9DCBC-3C79-BAB8-8E05-E656A353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E4B57A-DC62-1393-97F8-50B18A301B9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Research goal: Evaluate salmon survey methods for precision and directional bias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0429ED-B8CC-9854-6459-6BEDB77DF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04A674-9C34-12E2-6F52-CE3D5B83955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3C42-0907-44E5-07FE-29212C5C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0098A7-03D4-41FC-A22B-540DE497E9E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29C3318-986F-BD84-0B8F-C48767711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B14478-1253-BEC8-321F-D9BA7D33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A22B17-9425-5105-8332-0E1AFA6D70D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CAD3D1-A912-4B08-ABBE-F50E704A39D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97A6F3A-37DC-5836-4AC6-14D0550151B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D3FB0AA-A77F-48FC-6E89-3A6AE8834F6D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268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2A2E7E-1F96-D7B7-8AFA-A83BDDE25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630719-FA08-9792-A859-F0CF167A826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892AB-78E0-A2EE-C56C-F67B8F03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5E08BE-6EBD-0C18-F806-91CC4FAC8F0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2B624-3FF3-570D-E342-4D5414277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B3B01A-0D50-271B-59CB-B0D847DAE12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5D4034-345F-CED1-134B-EAF4726C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A44FD1-2BAF-713D-5BBB-6D46DA406F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7355048-7985-F5CF-933B-6AF844EA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5C6F66-F872-5ED8-A8EB-09A55B64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9C6280C-5004-1046-656E-83B85BD62A4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92A6C9-6AAD-6A71-AF89-2AF5BF5CB99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CFBF47C-AAD2-6451-777F-F59B66D6DA9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abundance estimates</a:t>
            </a:r>
          </a:p>
        </p:txBody>
      </p:sp>
      <p:pic>
        <p:nvPicPr>
          <p:cNvPr id="10" name="Picture 9" descr="The diagram shows a declining trend in Oregon salmon populations, specifically Chinook, Coho, and Steelhead, from 1980 to 2020.&#10;&#10;AI-generated content may be incorrect.">
            <a:extLst>
              <a:ext uri="{FF2B5EF4-FFF2-40B4-BE49-F238E27FC236}">
                <a16:creationId xmlns:a16="http://schemas.microsoft.com/office/drawing/2014/main" id="{5F115CC6-2852-CA79-428C-8B9AB5719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07" y="1136579"/>
            <a:ext cx="7352902" cy="385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628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85503-D62C-D411-115E-DEB8D6A53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14EA49-37AA-54B7-8A52-6E097AFC55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86B2480-7E5A-0854-A4E2-E04F81A8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48A201-567D-6AB2-7647-2E6B308E5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AA48769-6952-6E49-365E-EF732C8BF30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F8037-1B2B-5EB4-4D82-EB0F872F3F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1526852-566B-92FE-487B-C38D1F6650B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E5069-7FC2-E75F-DD7F-6F1F9FD50F51}"/>
              </a:ext>
            </a:extLst>
          </p:cNvPr>
          <p:cNvSpPr/>
          <p:nvPr/>
        </p:nvSpPr>
        <p:spPr>
          <a:xfrm>
            <a:off x="1039900" y="1557563"/>
            <a:ext cx="6246054" cy="2186326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ED234CCC-6FE7-9E53-C92E-EAD4AF2622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84" t="10374" r="11557" b="47352"/>
          <a:stretch>
            <a:fillRect/>
          </a:stretch>
        </p:blipFill>
        <p:spPr>
          <a:xfrm>
            <a:off x="1039899" y="1557563"/>
            <a:ext cx="3123027" cy="2059716"/>
          </a:xfrm>
          <a:prstGeom prst="rect">
            <a:avLst/>
          </a:prstGeom>
        </p:spPr>
      </p:pic>
      <p:pic>
        <p:nvPicPr>
          <p:cNvPr id="8" name="Picture 7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76944918-0FFA-629E-DD3C-5166B4F5D5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75" t="52090" r="10665" b="3037"/>
          <a:stretch>
            <a:fillRect/>
          </a:stretch>
        </p:blipFill>
        <p:spPr>
          <a:xfrm>
            <a:off x="4162926" y="1557563"/>
            <a:ext cx="3123027" cy="218632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8510A2-7B68-7048-BCDC-6879F22EFEBF}"/>
              </a:ext>
            </a:extLst>
          </p:cNvPr>
          <p:cNvSpPr/>
          <p:nvPr/>
        </p:nvSpPr>
        <p:spPr>
          <a:xfrm>
            <a:off x="4572000" y="1557418"/>
            <a:ext cx="12573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2967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189A80-47AE-A424-EB6B-ADE056FA4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BCAA42-2B74-EDE9-72AD-08D26678FC8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4" y="1189921"/>
            <a:ext cx="5956365" cy="38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1D9AC4E-FEB7-D116-3BAD-174221E6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B01FA-6069-5EFF-998A-891E74556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80ABC2-8AF6-47B7-97B4-9A63ECE645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62C2F0-F819-C542-8AEF-7F108084C9B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090F10-6D81-6774-61EA-D6DC82AEC30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970C7-4389-D5DB-0F67-4916FAE45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3" y="1189921"/>
            <a:ext cx="5956365" cy="38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208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1AA1B-B580-82C1-1F60-1FBD027BA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DA99D8-33C5-B7CB-67B1-CD33A8B1CF0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8ACD3-0326-22C1-723B-FF4E0D3B4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F1077A-44DD-70CD-2D15-E49CB06BEE1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FEEB4-FFA7-26F8-A69C-5D5A7A8A0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6A7889C-9FB1-98CF-9CDA-62F083A01E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F22BDA-B4F9-4406-16D4-8CC2019B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5F25AB3-0F63-1A27-BDDC-D9C2D5AC8C3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0AC7-7AFE-A866-17C6-7B648AE56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3C2754-AC1A-6B16-E43E-F071E3DBC5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735B55-0C7C-4AFA-0C7E-CFF0763D7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483554-0211-11D9-0004-34FA8B44FF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rgbClr val="0400FF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  <a:r>
              <a:rPr lang="en-US" sz="1800" dirty="0">
                <a:solidFill>
                  <a:srgbClr val="00FF04"/>
                </a:solidFill>
              </a:rPr>
              <a:t>Trend (bias)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F2BFF-5202-21FC-890C-140D5CE0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1E7A16-08F4-BCD4-6ECA-F4546BD81BF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  <a:r>
              <a:rPr lang="en-US" sz="1800" dirty="0">
                <a:solidFill>
                  <a:srgbClr val="00FF04"/>
                </a:solidFill>
              </a:rPr>
              <a:t>Trend (bias)</a:t>
            </a:r>
            <a:r>
              <a:rPr lang="en-US" sz="1800" dirty="0">
                <a:solidFill>
                  <a:srgbClr val="FF0000"/>
                </a:solidFill>
              </a:rPr>
              <a:t>	     </a:t>
            </a:r>
            <a:r>
              <a:rPr lang="en-US" sz="1800" dirty="0">
                <a:solidFill>
                  <a:srgbClr val="FBFF00"/>
                </a:solidFill>
              </a:rPr>
              <a:t>Separate errors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8358E9-72FC-8DAC-8DFB-8D50FE24E580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79B028-7BE9-F6CD-3997-56FDE72A7302}"/>
              </a:ext>
            </a:extLst>
          </p:cNvPr>
          <p:cNvSpPr/>
          <p:nvPr/>
        </p:nvSpPr>
        <p:spPr>
          <a:xfrm>
            <a:off x="3640015" y="2595557"/>
            <a:ext cx="430823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3CD2C8-2E2C-CA75-AC1B-5B583BB7980E}"/>
              </a:ext>
            </a:extLst>
          </p:cNvPr>
          <p:cNvSpPr/>
          <p:nvPr/>
        </p:nvSpPr>
        <p:spPr>
          <a:xfrm>
            <a:off x="3549264" y="3124110"/>
            <a:ext cx="398251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7BC4C-7039-FC8C-DFC3-2D06F7E25F54}"/>
              </a:ext>
            </a:extLst>
          </p:cNvPr>
          <p:cNvSpPr/>
          <p:nvPr/>
        </p:nvSpPr>
        <p:spPr>
          <a:xfrm>
            <a:off x="5111891" y="3072643"/>
            <a:ext cx="2241345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4239D2-1174-AEB0-1D73-5675E6A8F420}"/>
              </a:ext>
            </a:extLst>
          </p:cNvPr>
          <p:cNvSpPr/>
          <p:nvPr/>
        </p:nvSpPr>
        <p:spPr>
          <a:xfrm>
            <a:off x="5266361" y="2532117"/>
            <a:ext cx="2241345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2665A4-9082-B515-24D4-F1342DD55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8514368-F8EE-2378-7828-C5A7FBD42E5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What am I concerned with?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x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= 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Bx</a:t>
            </a:r>
            <a:r>
              <a:rPr lang="en-US" sz="2600" b="1" baseline="-25000" dirty="0">
                <a:solidFill>
                  <a:schemeClr val="tx1">
                    <a:lumMod val="65000"/>
                  </a:schemeClr>
                </a:solidFill>
              </a:rPr>
              <a:t>t−1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u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w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w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65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Q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+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65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r>
              <a:rPr lang="en-US" sz="2600" dirty="0">
                <a:solidFill>
                  <a:schemeClr val="bg1"/>
                </a:solidFill>
              </a:rPr>
              <a:t>I am interested in </a:t>
            </a:r>
            <a:r>
              <a:rPr lang="en-US" sz="2600" dirty="0">
                <a:solidFill>
                  <a:srgbClr val="00FF04"/>
                </a:solidFill>
              </a:rPr>
              <a:t>observation bias </a:t>
            </a:r>
            <a:r>
              <a:rPr lang="en-US" sz="2600" dirty="0">
                <a:solidFill>
                  <a:schemeClr val="bg1"/>
                </a:solidFill>
              </a:rPr>
              <a:t>(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) and </a:t>
            </a:r>
            <a:r>
              <a:rPr lang="en-US" sz="2600" dirty="0">
                <a:solidFill>
                  <a:srgbClr val="FBFF00"/>
                </a:solidFill>
              </a:rPr>
              <a:t>observation variance </a:t>
            </a:r>
            <a:r>
              <a:rPr lang="en-US" sz="2600" dirty="0">
                <a:solidFill>
                  <a:schemeClr val="bg1"/>
                </a:solidFill>
              </a:rPr>
              <a:t>(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64623-B623-7DDD-A10A-07E9F2582CE3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712F23-8BEA-C51E-FEC9-E87B1EA73819}"/>
              </a:ext>
            </a:extLst>
          </p:cNvPr>
          <p:cNvSpPr/>
          <p:nvPr/>
        </p:nvSpPr>
        <p:spPr>
          <a:xfrm>
            <a:off x="6793626" y="3057280"/>
            <a:ext cx="398251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47E424-2F51-7849-5E8D-AE48FBE73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5D2F3E-8357-C41C-56B6-BD4680E3D5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(precision)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E8402-99A7-0990-6E9F-8F90A6D0A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EDCCFF-6769-A4A5-90F3-BE12258D25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CDDB65-747D-9839-6F51-ACA7A6C08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353537" cy="44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C9004BB-79EF-4E9A-BE7A-98E022ED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3E73FA-68ED-33AF-CA70-3F1863D8A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EDB0FB-9762-6CAF-D2E3-C72BEA3CF1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96982A-A273-B107-1412-5141CF20906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3E0D29-EB1A-A64A-43E5-6267940588C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 descr="The diagram represents a geographical map indicating various latitudes, longitudes, and corresponding population density for two ecological systems: Lower Columbia ESU and Upper Willamette ESU.&#10;&#10;AI-generated content may be incorrect.">
            <a:extLst>
              <a:ext uri="{FF2B5EF4-FFF2-40B4-BE49-F238E27FC236}">
                <a16:creationId xmlns:a16="http://schemas.microsoft.com/office/drawing/2014/main" id="{6FE8EA93-BB56-DD17-2EE0-EB93EE738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8964"/>
            <a:ext cx="8501554" cy="4485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7082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739FC8-67B4-0B4A-47DD-1C53E121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084B227-75E3-E788-36FD-1B2FFEACDE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B47280-5EFB-9ADB-67F5-B90FE0334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434049" cy="447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6DC0B76D-40BF-B625-A598-02B69DEB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B36889-99FE-1BE5-7401-E541D291B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F0BF482-02F0-3578-E1EC-0B24E46D62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8001B1-3BE8-EE47-D9A6-1A17AEE4B3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40EDDE7-D5C0-D431-1078-9398BEC2B75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2" name="Picture 11" descr="The image displays a map comparing the distribution and variance of coho salmon populations in the Lower Columbia River ESU and Oregon Coast ESU, with a focus on geographical coordinates ranging from 44ￂﾰN to 46ￂﾰN latitude and 121.5ￂﾰW to 124.5ￂﾰW longitude.&#10;&#10;AI-generated content may be incorrect.">
            <a:extLst>
              <a:ext uri="{FF2B5EF4-FFF2-40B4-BE49-F238E27FC236}">
                <a16:creationId xmlns:a16="http://schemas.microsoft.com/office/drawing/2014/main" id="{3B85D42F-546C-59B1-DF84-28A7F57B1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431143" cy="441589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31B2BE-BB54-2515-11CD-341A52FA18DF}"/>
              </a:ext>
            </a:extLst>
          </p:cNvPr>
          <p:cNvSpPr/>
          <p:nvPr/>
        </p:nvSpPr>
        <p:spPr>
          <a:xfrm>
            <a:off x="2926080" y="2369489"/>
            <a:ext cx="1192696" cy="11688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4507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D2BC9-316E-9929-ADB2-CD6CC6131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3A516F-E85B-2D62-A8C7-14BB7506736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0FCF4-7BDE-52AF-BBFC-0F2A2C973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343"/>
            <a:ext cx="8508569" cy="448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AF38835-8CBF-427C-3C2B-8DB9AA876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A7BB36-D27E-D298-F6B8-F216C7B2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9C235-0D45-A9F5-801F-E5A66592992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4DA71-C586-D4BF-3A3B-B4AA68B144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B3FDA62-08A4-4207-302B-F9BA0B0573A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is a map showing a geographic area with various shaded regions, each labeled with a latitude and longitude coordinate, suggesting a thematic representation such as population density or some other variable.&#10;&#10;AI-generated content may be incorrect.">
            <a:extLst>
              <a:ext uri="{FF2B5EF4-FFF2-40B4-BE49-F238E27FC236}">
                <a16:creationId xmlns:a16="http://schemas.microsoft.com/office/drawing/2014/main" id="{CC1CA9A2-80A7-A3F4-2D13-18ADFE2B0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5207"/>
            <a:ext cx="8483736" cy="443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744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B1242D-8A7E-9B4A-D962-64ECE1C8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D6B506-8472-1402-2C43-9A6E036BB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5637F06-C59E-18ED-AA16-549C281C469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10F29A-C63B-1D05-EB6F-AE487BD1F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42E14F-0AA5-FDF6-8806-F3B2C6FA5E30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(bias)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7B48789-DDCB-73FA-BC5D-DAFD034F40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0811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89CB-80AC-7229-71EE-EC25B31B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A25492-F5E5-7404-AD8F-A4A6077D1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CA2AA-C50F-E6BF-7231-A0A8E7CD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377091" cy="444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63C08B-CB08-7435-96FE-1DB46BED8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90A70C6-2118-227D-FE44-F72154CD9C3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18E65-301A-A71A-E0FD-C6F41FC9E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7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1AA96-135A-B9D4-57E8-5DB8B303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B02533-AEB8-1BDF-7DAF-3487043DF12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3F7B5D-5EEA-5CF4-38D9-EBA7F5032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25156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0A4AA8B-23C4-D99B-AFAE-3E86D52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6837-A5C3-08EA-1094-86191A007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209EBCD-8F8B-C36C-B07A-631F427C8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C79A75-8066-89DF-810B-FDDC310190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FC3B302-BAF5-EE72-81A4-CE7C14FD507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isplays a map with a color gradient representing the average bias in steelhead fish surveys across different latitudinal and longitudinal coordinates from 1980 to 2024, measured against a 'Dam Counts' method.&#10;&#10;AI-generated content may be incorrect.">
            <a:extLst>
              <a:ext uri="{FF2B5EF4-FFF2-40B4-BE49-F238E27FC236}">
                <a16:creationId xmlns:a16="http://schemas.microsoft.com/office/drawing/2014/main" id="{0AC434D0-DA18-84E8-DBDC-5F34644E4C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9152"/>
            <a:ext cx="8446576" cy="443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4610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28F977-2FD2-B61E-F276-B01214A99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D77A29-B723-7BCA-77A0-EDB2A3012A5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D605EA-F665-62E5-9DFC-233F390F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0766F2-CE77-55C7-D9EB-C85152769EF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53A4D-9B25-30A2-73A0-3C9DA2F64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958D34-ED1E-8293-478B-399195B275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89CAD-A35C-499A-6700-FB5DEAD35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1A8EF9-A9B2-580C-9ED1-BFBB7BDA614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Decisions such as ESA listing and restoration funding are dependent on accurate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9AAAFE-1B31-5433-8ECC-DEC0E867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C116A-C873-AB93-8BC2-9ACA0A765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161B21-EF6B-74DE-E91D-7C5E9253D7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53A32F-7CA7-A456-905F-194CC539CF6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FBAE647-DFB4-D73A-DBCB-608EA34659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605F9A5-D5EB-5660-DA6C-8237345EACD6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Neighboring population and ESUs can be surveyed using significantly different suites of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1552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FE8C6F-6775-40D8-C032-081144773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C8F204-4FBC-7507-8B71-36C871613E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Neighboring population and ESUs can be surveyed using significantly different suites of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Potential for misinterpreting salmonid abundance at ESU level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6646A6B-7586-778C-5FFF-74C442103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DB87B5-CBDA-1B3C-288D-226BB9430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7B2587-38AA-3309-1A1F-C0C0209CA1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435E08-E26B-4670-7961-47BA26A9119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A6FFDB0-FF27-1C8B-45F8-A6C570481A1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B39A534-EA8B-C5DC-B32E-053C4C389A3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methods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362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9881AB-8747-4367-23D9-A92DFA6A2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21EC35-4A7E-611A-8093-D67632B501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methods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AEB6A2-52F5-EA79-9EF0-C0852F4F3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D71E28-2202-8057-96F9-C1758097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4D3EF65-183C-744B-C8C1-F8AE2F9AE5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551D9-0304-4162-3687-EA36DCB2DD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82DEE0F-B74E-89E1-0226-7F9EDE5C7062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Next Steps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74EDD96-1133-C4F2-C100-402D4B002C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Identify common watershed characteristics driving trends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97194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41988257-316B-9425-8A19-8CD089CF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AFFBA3-4DC2-712F-B0FF-B6C0169BE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FAF5B8-C89D-C62D-DF13-61C31A87AA8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A17058-C492-2D2B-6653-9E6EDA72E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445E419-9BA8-0BAF-7466-1A0D78ED0BB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Next Steps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74C4857-8388-E5A0-CF18-75DA10B6D372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Identify common watershed characteristics driving trends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Compare bias and variance of combined methods to component parts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17840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04EC2F-6E03-1FAC-AC44-3A1E70625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E342F4-1BE7-B100-DDBE-A4A2102C1F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8830</TotalTime>
  <Words>1540</Words>
  <Application>Microsoft Office PowerPoint</Application>
  <PresentationFormat>On-screen Show (16:9)</PresentationFormat>
  <Paragraphs>297</Paragraphs>
  <Slides>76</Slides>
  <Notes>76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0" baseType="lpstr">
      <vt:lpstr>Arial</vt:lpstr>
      <vt:lpstr>Century Schoolbook</vt:lpstr>
      <vt:lpstr>Wingdings 2</vt:lpstr>
      <vt:lpstr>View</vt:lpstr>
      <vt:lpstr>Understanding inherent precision and bias in Pacific salmon abundance survey methods  </vt:lpstr>
      <vt:lpstr>Understanding inherent precision and bias in Pacific salmon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Understanding inherent precision and bias in Pacific salmon abundance survey methods 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McGreal</cp:lastModifiedBy>
  <cp:revision>61</cp:revision>
  <dcterms:modified xsi:type="dcterms:W3CDTF">2026-10-13T19:56:19Z</dcterms:modified>
</cp:coreProperties>
</file>