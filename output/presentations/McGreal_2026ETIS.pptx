
<file path=[Content_Types].xml><?xml version="1.0" encoding="utf-8"?>
<Types xmlns="http://schemas.openxmlformats.org/package/2006/content-types">
  <Default Extension="jfif" ContentType="image/jpeg"/>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omments/modernComment_148_81A864E1.xml" ContentType="application/vnd.ms-powerpoint.comments+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comments/modernComment_219_5E04AFD1.xml" ContentType="application/vnd.ms-powerpoint.comments+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112"/>
  </p:notesMasterIdLst>
  <p:sldIdLst>
    <p:sldId id="296" r:id="rId2"/>
    <p:sldId id="403" r:id="rId3"/>
    <p:sldId id="368" r:id="rId4"/>
    <p:sldId id="529" r:id="rId5"/>
    <p:sldId id="528" r:id="rId6"/>
    <p:sldId id="341" r:id="rId7"/>
    <p:sldId id="405" r:id="rId8"/>
    <p:sldId id="404" r:id="rId9"/>
    <p:sldId id="428" r:id="rId10"/>
    <p:sldId id="429" r:id="rId11"/>
    <p:sldId id="430" r:id="rId12"/>
    <p:sldId id="342" r:id="rId13"/>
    <p:sldId id="431" r:id="rId14"/>
    <p:sldId id="416" r:id="rId15"/>
    <p:sldId id="420" r:id="rId16"/>
    <p:sldId id="299" r:id="rId17"/>
    <p:sldId id="419" r:id="rId18"/>
    <p:sldId id="418" r:id="rId19"/>
    <p:sldId id="421" r:id="rId20"/>
    <p:sldId id="441" r:id="rId21"/>
    <p:sldId id="343" r:id="rId22"/>
    <p:sldId id="432" r:id="rId23"/>
    <p:sldId id="433" r:id="rId24"/>
    <p:sldId id="435" r:id="rId25"/>
    <p:sldId id="436" r:id="rId26"/>
    <p:sldId id="317" r:id="rId27"/>
    <p:sldId id="318" r:id="rId28"/>
    <p:sldId id="319" r:id="rId29"/>
    <p:sldId id="320" r:id="rId30"/>
    <p:sldId id="321" r:id="rId31"/>
    <p:sldId id="499" r:id="rId32"/>
    <p:sldId id="322" r:id="rId33"/>
    <p:sldId id="442" r:id="rId34"/>
    <p:sldId id="324" r:id="rId35"/>
    <p:sldId id="530" r:id="rId36"/>
    <p:sldId id="344" r:id="rId37"/>
    <p:sldId id="325" r:id="rId38"/>
    <p:sldId id="440" r:id="rId39"/>
    <p:sldId id="498" r:id="rId40"/>
    <p:sldId id="438" r:id="rId41"/>
    <p:sldId id="439" r:id="rId42"/>
    <p:sldId id="437" r:id="rId43"/>
    <p:sldId id="326" r:id="rId44"/>
    <p:sldId id="457" r:id="rId45"/>
    <p:sldId id="328" r:id="rId46"/>
    <p:sldId id="329" r:id="rId47"/>
    <p:sldId id="331" r:id="rId48"/>
    <p:sldId id="531" r:id="rId49"/>
    <p:sldId id="345" r:id="rId50"/>
    <p:sldId id="338" r:id="rId51"/>
    <p:sldId id="370" r:id="rId52"/>
    <p:sldId id="371" r:id="rId53"/>
    <p:sldId id="392" r:id="rId54"/>
    <p:sldId id="399" r:id="rId55"/>
    <p:sldId id="400" r:id="rId56"/>
    <p:sldId id="374" r:id="rId57"/>
    <p:sldId id="532" r:id="rId58"/>
    <p:sldId id="346" r:id="rId59"/>
    <p:sldId id="510" r:id="rId60"/>
    <p:sldId id="445" r:id="rId61"/>
    <p:sldId id="459" r:id="rId62"/>
    <p:sldId id="500" r:id="rId63"/>
    <p:sldId id="511" r:id="rId64"/>
    <p:sldId id="483" r:id="rId65"/>
    <p:sldId id="484" r:id="rId66"/>
    <p:sldId id="501" r:id="rId67"/>
    <p:sldId id="512" r:id="rId68"/>
    <p:sldId id="486" r:id="rId69"/>
    <p:sldId id="487" r:id="rId70"/>
    <p:sldId id="502" r:id="rId71"/>
    <p:sldId id="534" r:id="rId72"/>
    <p:sldId id="506" r:id="rId73"/>
    <p:sldId id="507" r:id="rId74"/>
    <p:sldId id="513" r:id="rId75"/>
    <p:sldId id="527" r:id="rId76"/>
    <p:sldId id="526" r:id="rId77"/>
    <p:sldId id="525" r:id="rId78"/>
    <p:sldId id="508" r:id="rId79"/>
    <p:sldId id="514" r:id="rId80"/>
    <p:sldId id="524" r:id="rId81"/>
    <p:sldId id="523" r:id="rId82"/>
    <p:sldId id="503" r:id="rId83"/>
    <p:sldId id="515" r:id="rId84"/>
    <p:sldId id="522" r:id="rId85"/>
    <p:sldId id="521" r:id="rId86"/>
    <p:sldId id="520" r:id="rId87"/>
    <p:sldId id="509" r:id="rId88"/>
    <p:sldId id="516" r:id="rId89"/>
    <p:sldId id="519" r:id="rId90"/>
    <p:sldId id="518" r:id="rId91"/>
    <p:sldId id="517" r:id="rId92"/>
    <p:sldId id="533" r:id="rId93"/>
    <p:sldId id="357" r:id="rId94"/>
    <p:sldId id="359" r:id="rId95"/>
    <p:sldId id="367" r:id="rId96"/>
    <p:sldId id="492" r:id="rId97"/>
    <p:sldId id="463" r:id="rId98"/>
    <p:sldId id="536" r:id="rId99"/>
    <p:sldId id="535" r:id="rId100"/>
    <p:sldId id="496" r:id="rId101"/>
    <p:sldId id="538" r:id="rId102"/>
    <p:sldId id="537" r:id="rId103"/>
    <p:sldId id="539" r:id="rId104"/>
    <p:sldId id="541" r:id="rId105"/>
    <p:sldId id="540" r:id="rId106"/>
    <p:sldId id="497" r:id="rId107"/>
    <p:sldId id="340" r:id="rId108"/>
    <p:sldId id="542" r:id="rId109"/>
    <p:sldId id="543" r:id="rId110"/>
    <p:sldId id="544" r:id="rId111"/>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DB0BED2-DCF0-D752-F2C4-F17733FEE147}" name="Brian E McGreal" initials="BM" userId="S::bmcgreal@uw.edu::500ccbb3-e957-4a38-850c-c0c2fd4a68d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BFF00"/>
    <a:srgbClr val="00FF04"/>
    <a:srgbClr val="FF8400"/>
    <a:srgbClr val="04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7956" autoAdjust="0"/>
  </p:normalViewPr>
  <p:slideViewPr>
    <p:cSldViewPr snapToGrid="0">
      <p:cViewPr>
        <p:scale>
          <a:sx n="120" d="100"/>
          <a:sy n="120" d="100"/>
        </p:scale>
        <p:origin x="486" y="390"/>
      </p:cViewPr>
      <p:guideLst>
        <p:guide orient="horz" pos="1620"/>
        <p:guide pos="288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microsoft.com/office/2018/10/relationships/authors" Target="author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notesMaster" Target="notesMasters/notesMaster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slide" Target="slides/slide101.xml"/><Relationship Id="rId110" Type="http://schemas.openxmlformats.org/officeDocument/2006/relationships/slide" Target="slides/slide109.xml"/><Relationship Id="rId115"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comments/modernComment_148_81A864E1.xml><?xml version="1.0" encoding="utf-8"?>
<p188:cmLst xmlns:a="http://schemas.openxmlformats.org/drawingml/2006/main" xmlns:r="http://schemas.openxmlformats.org/officeDocument/2006/relationships" xmlns:p188="http://schemas.microsoft.com/office/powerpoint/2018/8/main">
  <p188:cm id="{D039B60D-DE02-4468-A4A2-92B70966D270}" authorId="{4DB0BED2-DCF0-D752-F2C4-F17733FEE147}" created="2025-11-05T17:08:25.048">
    <pc:sldMkLst xmlns:pc="http://schemas.microsoft.com/office/powerpoint/2013/main/command">
      <pc:docMk/>
      <pc:sldMk cId="2175296737" sldId="328"/>
    </pc:sldMkLst>
    <p188:txBody>
      <a:bodyPr/>
      <a:lstStyle/>
      <a:p>
        <a:r>
          <a:rPr lang="en-US"/>
          <a:t>Something more here? Highlight groups? I tried this before..</a:t>
        </a:r>
      </a:p>
    </p188:txBody>
  </p188:cm>
</p188:cmLst>
</file>

<file path=ppt/comments/modernComment_219_5E04AFD1.xml><?xml version="1.0" encoding="utf-8"?>
<p188:cmLst xmlns:a="http://schemas.openxmlformats.org/drawingml/2006/main" xmlns:r="http://schemas.openxmlformats.org/officeDocument/2006/relationships" xmlns:p188="http://schemas.microsoft.com/office/powerpoint/2018/8/main">
  <p188:cm id="{45987102-0C7C-4A31-A305-79B1C1F27BB5}" authorId="{4DB0BED2-DCF0-D752-F2C4-F17733FEE147}" created="2026-10-22T06:23:34.484">
    <pc:sldMkLst xmlns:pc="http://schemas.microsoft.com/office/powerpoint/2013/main/command">
      <pc:docMk/>
      <pc:sldMk cId="1577365457" sldId="537"/>
    </pc:sldMkLst>
    <p188:txBody>
      <a:bodyPr/>
      <a:lstStyle/>
      <a:p>
        <a:r>
          <a:rPr lang="en-US"/>
          <a:t>Something more here?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8CCD7DE-C3B7-6F17-99EA-83BB9CF341C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ACC87EC-3880-11A3-FC32-4D2121F22FA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94F5491-41AF-7432-7E0D-BAFCDB400A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610324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A2FED314-83EE-6F29-072A-8756C090E019}"/>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57CE917-32B9-4B53-B755-229E3589F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EBE36E4-DB09-27A5-DBBC-6E3DE2C6302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175278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F1A75AF-F139-8498-6DFE-6FE5D19ED51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4D843EF1-A2D2-50FC-F375-08328B0571B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95C222B-E222-AC81-0C57-D1F54DB5AF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2312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5BB8511-BF53-7C74-F729-A17F32B24A5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E259ABE-F2C3-ADE9-1822-0E9686128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5F0D9305-D759-F213-CC92-6FA83E1638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244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E464E55-DCC3-42C4-BB51-64DD871722DB}"/>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B603A1B-ECCB-78EC-057D-41AECA8DFE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425D9BE-05A1-6A29-5801-73748F12F3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087215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76E2080-1789-5574-1F8D-BCF51B95EB8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6DFCF12-80C2-D1D8-5541-3C4C7C95E6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5A22C6DD-1D90-1412-0179-0CD5EDA718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921823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0B3B300F-CF1F-540F-70A8-29212E91C11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4DB5BD4-1C8D-137E-854D-08D03DBF77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EF69597-D941-7CDE-83A4-D171B4F25C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098711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73901E86-20DF-19FB-4EBD-746E87A652E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E7CBFED-44C1-A120-AE38-AF6EEDEA94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C9833E5-2D86-8C19-171E-D32DAABC5A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379738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5939050-1BC0-B5B6-474A-8EFA1E0D49D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9301E135-F32E-6137-FD05-5B8B3A5CFC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14B9591A-6FFC-188C-E43E-4731864A8C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Ecologically crucial species</a:t>
            </a:r>
          </a:p>
          <a:p>
            <a:pPr marL="158750" indent="0">
              <a:spcBef>
                <a:spcPts val="0"/>
              </a:spcBef>
              <a:spcAft>
                <a:spcPts val="0"/>
              </a:spcAft>
              <a:buNone/>
            </a:pPr>
            <a:r>
              <a:rPr lang="en-US" sz="1400" dirty="0">
                <a:solidFill>
                  <a:schemeClr val="bg1"/>
                </a:solidFill>
              </a:rPr>
              <a:t>	</a:t>
            </a:r>
            <a:r>
              <a:rPr lang="en-US" sz="1100" dirty="0">
                <a:solidFill>
                  <a:schemeClr val="bg1"/>
                </a:solidFill>
              </a:rPr>
              <a:t>Marine nutrients found in trees in central Idaho</a:t>
            </a:r>
          </a:p>
          <a:p>
            <a:pPr marL="158750" indent="0">
              <a:spcBef>
                <a:spcPts val="0"/>
              </a:spcBef>
              <a:spcAft>
                <a:spcPts val="0"/>
              </a:spcAft>
              <a:buNone/>
            </a:pPr>
            <a:r>
              <a:rPr lang="en-US" sz="1600" dirty="0">
                <a:solidFill>
                  <a:schemeClr val="bg1"/>
                </a:solidFill>
              </a:rPr>
              <a:t>Cultural significance</a:t>
            </a:r>
          </a:p>
          <a:p>
            <a:pPr marL="158750" indent="0">
              <a:spcBef>
                <a:spcPts val="0"/>
              </a:spcBef>
              <a:spcAft>
                <a:spcPts val="0"/>
              </a:spcAft>
              <a:buNone/>
            </a:pPr>
            <a:r>
              <a:rPr lang="en-US" sz="1100" dirty="0">
                <a:solidFill>
                  <a:schemeClr val="bg1"/>
                </a:solidFill>
              </a:rPr>
              <a:t>	Central to Indigenous ways of life and cultural identity</a:t>
            </a:r>
          </a:p>
          <a:p>
            <a:pPr marL="158750" indent="0">
              <a:spcBef>
                <a:spcPts val="0"/>
              </a:spcBef>
              <a:spcAft>
                <a:spcPts val="0"/>
              </a:spcAft>
              <a:buNone/>
            </a:pPr>
            <a:r>
              <a:rPr lang="en-US" sz="1600" dirty="0">
                <a:solidFill>
                  <a:schemeClr val="bg1"/>
                </a:solidFill>
              </a:rPr>
              <a:t>Commercial significance</a:t>
            </a:r>
          </a:p>
          <a:p>
            <a:pPr marL="158750" indent="0">
              <a:spcBef>
                <a:spcPts val="0"/>
              </a:spcBef>
              <a:spcAft>
                <a:spcPts val="0"/>
              </a:spcAft>
              <a:buNone/>
            </a:pPr>
            <a:r>
              <a:rPr lang="en-US" sz="1600" dirty="0">
                <a:solidFill>
                  <a:schemeClr val="bg1"/>
                </a:solidFill>
              </a:rPr>
              <a:t>	</a:t>
            </a:r>
            <a:r>
              <a:rPr lang="en-US" sz="1200" dirty="0">
                <a:solidFill>
                  <a:schemeClr val="bg1"/>
                </a:solidFill>
              </a:rPr>
              <a:t>$7.2 million in OR in 2024 (landed value)</a:t>
            </a:r>
          </a:p>
          <a:p>
            <a:pPr marL="158750" indent="0">
              <a:spcBef>
                <a:spcPts val="0"/>
              </a:spcBef>
              <a:spcAft>
                <a:spcPts val="0"/>
              </a:spcAft>
              <a:buNone/>
            </a:pPr>
            <a:r>
              <a:rPr lang="en-US" sz="1200" dirty="0">
                <a:solidFill>
                  <a:schemeClr val="bg1"/>
                </a:solidFill>
              </a:rPr>
              <a:t>	Not including sport fishing</a:t>
            </a:r>
          </a:p>
        </p:txBody>
      </p:sp>
    </p:spTree>
    <p:extLst>
      <p:ext uri="{BB962C8B-B14F-4D97-AF65-F5344CB8AC3E}">
        <p14:creationId xmlns:p14="http://schemas.microsoft.com/office/powerpoint/2010/main" val="16202900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6CDCFCA-EA30-E25B-AA5E-09683AF1114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97E7704E-E41F-82C4-01F9-CE23159E2FE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A313050-6B70-4186-5B6E-47B2317490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Cultural significance - Kwantlen</a:t>
            </a:r>
          </a:p>
          <a:p>
            <a:pPr marL="158750" indent="0">
              <a:spcBef>
                <a:spcPts val="0"/>
              </a:spcBef>
              <a:spcAft>
                <a:spcPts val="0"/>
              </a:spcAft>
              <a:buNone/>
            </a:pPr>
            <a:r>
              <a:rPr lang="en-US" sz="1100" dirty="0">
                <a:solidFill>
                  <a:schemeClr val="bg1"/>
                </a:solidFill>
              </a:rPr>
              <a:t>	Central to Indigenous ways of life and cultural identity</a:t>
            </a:r>
          </a:p>
          <a:p>
            <a:pPr marL="158750" indent="0">
              <a:spcBef>
                <a:spcPts val="0"/>
              </a:spcBef>
              <a:spcAft>
                <a:spcPts val="0"/>
              </a:spcAft>
              <a:buNone/>
            </a:pPr>
            <a:r>
              <a:rPr lang="en-US" sz="1600" dirty="0">
                <a:solidFill>
                  <a:schemeClr val="bg1"/>
                </a:solidFill>
              </a:rPr>
              <a:t>Commercial significance</a:t>
            </a:r>
          </a:p>
          <a:p>
            <a:pPr marL="158750" indent="0">
              <a:spcBef>
                <a:spcPts val="0"/>
              </a:spcBef>
              <a:spcAft>
                <a:spcPts val="0"/>
              </a:spcAft>
              <a:buNone/>
            </a:pPr>
            <a:r>
              <a:rPr lang="en-US" sz="1600" dirty="0">
                <a:solidFill>
                  <a:schemeClr val="bg1"/>
                </a:solidFill>
              </a:rPr>
              <a:t>	</a:t>
            </a:r>
            <a:r>
              <a:rPr lang="en-US" sz="1200" dirty="0">
                <a:solidFill>
                  <a:schemeClr val="bg1"/>
                </a:solidFill>
              </a:rPr>
              <a:t>$7.2 million in OR in 2024 (landed value)</a:t>
            </a:r>
          </a:p>
          <a:p>
            <a:pPr marL="158750" indent="0">
              <a:spcBef>
                <a:spcPts val="0"/>
              </a:spcBef>
              <a:spcAft>
                <a:spcPts val="0"/>
              </a:spcAft>
              <a:buNone/>
            </a:pPr>
            <a:r>
              <a:rPr lang="en-US" sz="1200" dirty="0">
                <a:solidFill>
                  <a:schemeClr val="bg1"/>
                </a:solidFill>
              </a:rPr>
              <a:t>	Not including sport fishing</a:t>
            </a:r>
          </a:p>
        </p:txBody>
      </p:sp>
    </p:spTree>
    <p:extLst>
      <p:ext uri="{BB962C8B-B14F-4D97-AF65-F5344CB8AC3E}">
        <p14:creationId xmlns:p14="http://schemas.microsoft.com/office/powerpoint/2010/main" val="208819743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AF8FFA2-A465-034F-BAE8-52A9703D71A5}"/>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6B05F0B-D6F0-9FA4-2F9A-70000FDF73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B84D75E-9D6B-3C74-7E31-BE6888B478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Commercial significance</a:t>
            </a:r>
          </a:p>
          <a:p>
            <a:pPr marL="158750" indent="0">
              <a:spcBef>
                <a:spcPts val="0"/>
              </a:spcBef>
              <a:spcAft>
                <a:spcPts val="0"/>
              </a:spcAft>
              <a:buNone/>
            </a:pPr>
            <a:r>
              <a:rPr lang="en-US" sz="1600" dirty="0">
                <a:solidFill>
                  <a:schemeClr val="bg1"/>
                </a:solidFill>
              </a:rPr>
              <a:t>	</a:t>
            </a:r>
            <a:r>
              <a:rPr lang="en-US" sz="1200" dirty="0">
                <a:solidFill>
                  <a:schemeClr val="bg1"/>
                </a:solidFill>
              </a:rPr>
              <a:t>$7.2 million in OR in 2024 (landed value)</a:t>
            </a:r>
          </a:p>
          <a:p>
            <a:pPr marL="158750" indent="0">
              <a:spcBef>
                <a:spcPts val="0"/>
              </a:spcBef>
              <a:spcAft>
                <a:spcPts val="0"/>
              </a:spcAft>
              <a:buNone/>
            </a:pPr>
            <a:r>
              <a:rPr lang="en-US" sz="1200" dirty="0">
                <a:solidFill>
                  <a:schemeClr val="bg1"/>
                </a:solidFill>
              </a:rPr>
              <a:t>	Not including sport fishing</a:t>
            </a:r>
          </a:p>
        </p:txBody>
      </p:sp>
    </p:spTree>
    <p:extLst>
      <p:ext uri="{BB962C8B-B14F-4D97-AF65-F5344CB8AC3E}">
        <p14:creationId xmlns:p14="http://schemas.microsoft.com/office/powerpoint/2010/main" val="28640872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63C994C-5491-AE10-F5E1-D23552AF3C0F}"/>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99392B8-6915-2AC7-283B-5869E6C4BB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326FC01-C283-BC7D-B1C9-5922A899BC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384265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AD5D8E4-4B7A-E517-8FF8-3D24B5C6A56F}"/>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E80002AC-7E1A-98A3-487C-1D62280033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60715729-6FF8-7BFF-15B1-C741FED897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630943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3075C57-39FF-C940-EA28-40B3C277374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09E6D257-8631-03DE-591E-66996D6B52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728053B-7D22-4E04-9E29-4CED23B237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Not great in the lower 48</a:t>
            </a:r>
          </a:p>
          <a:p>
            <a:pPr marL="158750" indent="0">
              <a:spcBef>
                <a:spcPts val="0"/>
              </a:spcBef>
              <a:spcAft>
                <a:spcPts val="0"/>
              </a:spcAft>
              <a:buNone/>
            </a:pPr>
            <a:r>
              <a:rPr lang="en-US" sz="1400" dirty="0">
                <a:solidFill>
                  <a:schemeClr val="bg1"/>
                </a:solidFill>
              </a:rPr>
              <a:t>	</a:t>
            </a:r>
            <a:r>
              <a:rPr lang="en-US" sz="1100" dirty="0">
                <a:solidFill>
                  <a:schemeClr val="bg1"/>
                </a:solidFill>
              </a:rPr>
              <a:t>28 population groups of salmon/trout listed as endangered or threatened under ESA</a:t>
            </a:r>
          </a:p>
          <a:p>
            <a:pPr marL="158750" indent="0">
              <a:spcBef>
                <a:spcPts val="0"/>
              </a:spcBef>
              <a:spcAft>
                <a:spcPts val="0"/>
              </a:spcAft>
              <a:buNone/>
            </a:pPr>
            <a:r>
              <a:rPr lang="en-US" sz="1100" dirty="0">
                <a:solidFill>
                  <a:schemeClr val="bg1"/>
                </a:solidFill>
              </a:rPr>
              <a:t>	13 of these in Columbia Basin</a:t>
            </a:r>
          </a:p>
          <a:p>
            <a:pPr marL="158750" indent="0">
              <a:spcBef>
                <a:spcPts val="0"/>
              </a:spcBef>
              <a:spcAft>
                <a:spcPts val="0"/>
              </a:spcAft>
              <a:buNone/>
            </a:pPr>
            <a:r>
              <a:rPr lang="en-US" sz="1600" dirty="0">
                <a:solidFill>
                  <a:schemeClr val="bg1"/>
                </a:solidFill>
              </a:rPr>
              <a:t>Despite restoration efforts</a:t>
            </a:r>
          </a:p>
          <a:p>
            <a:pPr marL="158750" indent="0">
              <a:spcBef>
                <a:spcPts val="0"/>
              </a:spcBef>
              <a:spcAft>
                <a:spcPts val="0"/>
              </a:spcAft>
              <a:buNone/>
            </a:pPr>
            <a:r>
              <a:rPr lang="en-US" sz="1100" dirty="0">
                <a:solidFill>
                  <a:schemeClr val="bg1"/>
                </a:solidFill>
              </a:rPr>
              <a:t>	$ 9 billion spent in Columbia Basin since 1990s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4892719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6BC5438-3362-C007-85C6-8AB543DD92A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9E82869-C94B-729A-2E9B-3EA4585102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C2FACF3-6BF9-9D7B-9E2E-1E9778B422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Not great in the lower 48</a:t>
            </a:r>
          </a:p>
          <a:p>
            <a:pPr marL="158750" indent="0">
              <a:spcBef>
                <a:spcPts val="0"/>
              </a:spcBef>
              <a:spcAft>
                <a:spcPts val="0"/>
              </a:spcAft>
              <a:buNone/>
            </a:pPr>
            <a:r>
              <a:rPr lang="en-US" sz="1400" dirty="0">
                <a:solidFill>
                  <a:schemeClr val="bg1"/>
                </a:solidFill>
              </a:rPr>
              <a:t>	</a:t>
            </a:r>
            <a:r>
              <a:rPr lang="en-US" sz="1100" dirty="0">
                <a:solidFill>
                  <a:schemeClr val="bg1"/>
                </a:solidFill>
              </a:rPr>
              <a:t>28 population groups of salmon/trout listed as endangered or threatened under ESA</a:t>
            </a:r>
          </a:p>
          <a:p>
            <a:pPr marL="158750" indent="0">
              <a:spcBef>
                <a:spcPts val="0"/>
              </a:spcBef>
              <a:spcAft>
                <a:spcPts val="0"/>
              </a:spcAft>
              <a:buNone/>
            </a:pPr>
            <a:r>
              <a:rPr lang="en-US" sz="1100" dirty="0">
                <a:solidFill>
                  <a:schemeClr val="bg1"/>
                </a:solidFill>
              </a:rPr>
              <a:t>	13 of these in Columbia Basin</a:t>
            </a:r>
          </a:p>
          <a:p>
            <a:pPr marL="158750" indent="0">
              <a:spcBef>
                <a:spcPts val="0"/>
              </a:spcBef>
              <a:spcAft>
                <a:spcPts val="0"/>
              </a:spcAft>
              <a:buNone/>
            </a:pPr>
            <a:r>
              <a:rPr lang="en-US" sz="1600" dirty="0">
                <a:solidFill>
                  <a:schemeClr val="bg1"/>
                </a:solidFill>
              </a:rPr>
              <a:t>Despite restoration efforts</a:t>
            </a:r>
          </a:p>
          <a:p>
            <a:pPr marL="158750" indent="0">
              <a:spcBef>
                <a:spcPts val="0"/>
              </a:spcBef>
              <a:spcAft>
                <a:spcPts val="0"/>
              </a:spcAft>
              <a:buNone/>
            </a:pPr>
            <a:r>
              <a:rPr lang="en-US" sz="1100" dirty="0">
                <a:solidFill>
                  <a:schemeClr val="bg1"/>
                </a:solidFill>
              </a:rPr>
              <a:t>	$ 9 billion spent in Columbia Basin since 1990s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1775618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EF44126-9054-C47B-5598-521A7B5C809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03E981E-4902-5638-4047-4AABB6BBEB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A99AD769-CE8D-F7EE-7F3B-58134DF5FD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9804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15023A5-2CE4-81C4-1726-4AADA5BECFC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2CEE777-6C95-9A63-44A0-3D2217D212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72DE8C1-AC03-6CD7-8D97-C2959F46BB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Not great in the lower 48</a:t>
            </a:r>
          </a:p>
          <a:p>
            <a:pPr marL="158750" indent="0">
              <a:spcBef>
                <a:spcPts val="0"/>
              </a:spcBef>
              <a:spcAft>
                <a:spcPts val="0"/>
              </a:spcAft>
              <a:buNone/>
            </a:pPr>
            <a:r>
              <a:rPr lang="en-US" sz="1400" dirty="0">
                <a:solidFill>
                  <a:schemeClr val="bg1"/>
                </a:solidFill>
              </a:rPr>
              <a:t>	</a:t>
            </a:r>
            <a:r>
              <a:rPr lang="en-US" sz="1100" dirty="0">
                <a:solidFill>
                  <a:schemeClr val="bg1"/>
                </a:solidFill>
              </a:rPr>
              <a:t>28 population groups of salmon/trout listed as endangered or threatened under ESA</a:t>
            </a:r>
          </a:p>
          <a:p>
            <a:pPr marL="158750" indent="0">
              <a:spcBef>
                <a:spcPts val="0"/>
              </a:spcBef>
              <a:spcAft>
                <a:spcPts val="0"/>
              </a:spcAft>
              <a:buNone/>
            </a:pPr>
            <a:r>
              <a:rPr lang="en-US" sz="1100" dirty="0">
                <a:solidFill>
                  <a:schemeClr val="bg1"/>
                </a:solidFill>
              </a:rPr>
              <a:t>	13 of these in Columbia Basin</a:t>
            </a:r>
          </a:p>
          <a:p>
            <a:pPr marL="158750" indent="0">
              <a:spcBef>
                <a:spcPts val="0"/>
              </a:spcBef>
              <a:spcAft>
                <a:spcPts val="0"/>
              </a:spcAft>
              <a:buNone/>
            </a:pPr>
            <a:r>
              <a:rPr lang="en-US" sz="1600" dirty="0">
                <a:solidFill>
                  <a:schemeClr val="bg1"/>
                </a:solidFill>
              </a:rPr>
              <a:t>Despite restoration efforts</a:t>
            </a:r>
          </a:p>
          <a:p>
            <a:pPr marL="158750" indent="0">
              <a:spcBef>
                <a:spcPts val="0"/>
              </a:spcBef>
              <a:spcAft>
                <a:spcPts val="0"/>
              </a:spcAft>
              <a:buNone/>
            </a:pPr>
            <a:r>
              <a:rPr lang="en-US" sz="1100" dirty="0">
                <a:solidFill>
                  <a:schemeClr val="bg1"/>
                </a:solidFill>
              </a:rPr>
              <a:t>	$ 9 billion spent in Columbia Basin since 1990s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7430991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28AB6B7-9392-186C-3A65-B41E7D82D29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E4512CBD-F761-82DC-FB3F-9103730AC5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5EB536C1-D1D3-4E9E-698A-9C83B0E63F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Not great in the lower 48</a:t>
            </a:r>
          </a:p>
          <a:p>
            <a:pPr marL="158750" indent="0">
              <a:spcBef>
                <a:spcPts val="0"/>
              </a:spcBef>
              <a:spcAft>
                <a:spcPts val="0"/>
              </a:spcAft>
              <a:buNone/>
            </a:pPr>
            <a:r>
              <a:rPr lang="en-US" sz="1400" dirty="0">
                <a:solidFill>
                  <a:schemeClr val="bg1"/>
                </a:solidFill>
              </a:rPr>
              <a:t>	</a:t>
            </a:r>
            <a:r>
              <a:rPr lang="en-US" sz="1100" dirty="0">
                <a:solidFill>
                  <a:schemeClr val="bg1"/>
                </a:solidFill>
              </a:rPr>
              <a:t>28 population groups of salmon/trout listed as endangered or threatened under ESA</a:t>
            </a:r>
          </a:p>
          <a:p>
            <a:pPr marL="158750" indent="0">
              <a:spcBef>
                <a:spcPts val="0"/>
              </a:spcBef>
              <a:spcAft>
                <a:spcPts val="0"/>
              </a:spcAft>
              <a:buNone/>
            </a:pPr>
            <a:r>
              <a:rPr lang="en-US" sz="1100" dirty="0">
                <a:solidFill>
                  <a:schemeClr val="bg1"/>
                </a:solidFill>
              </a:rPr>
              <a:t>	13 of these in Columbia Basin</a:t>
            </a:r>
          </a:p>
          <a:p>
            <a:pPr marL="158750" indent="0">
              <a:spcBef>
                <a:spcPts val="0"/>
              </a:spcBef>
              <a:spcAft>
                <a:spcPts val="0"/>
              </a:spcAft>
              <a:buNone/>
            </a:pPr>
            <a:r>
              <a:rPr lang="en-US" sz="1600" dirty="0">
                <a:solidFill>
                  <a:schemeClr val="bg1"/>
                </a:solidFill>
              </a:rPr>
              <a:t>Despite restoration efforts</a:t>
            </a:r>
          </a:p>
          <a:p>
            <a:pPr marL="158750" indent="0">
              <a:spcBef>
                <a:spcPts val="0"/>
              </a:spcBef>
              <a:spcAft>
                <a:spcPts val="0"/>
              </a:spcAft>
              <a:buNone/>
            </a:pPr>
            <a:r>
              <a:rPr lang="en-US" sz="1100" dirty="0">
                <a:solidFill>
                  <a:schemeClr val="bg1"/>
                </a:solidFill>
              </a:rPr>
              <a:t>	$ 9 billion spent in Columbia Basin since 1990s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7349613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1C5F918-356D-8506-C99E-A5974AC4DBF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40AED09-9F5A-FAEF-48BA-27076F7C7E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DBD3109A-90EC-7E7F-C761-74CC2F429D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Not great in the lower 48</a:t>
            </a:r>
          </a:p>
          <a:p>
            <a:pPr marL="158750" indent="0">
              <a:spcBef>
                <a:spcPts val="0"/>
              </a:spcBef>
              <a:spcAft>
                <a:spcPts val="0"/>
              </a:spcAft>
              <a:buNone/>
            </a:pPr>
            <a:r>
              <a:rPr lang="en-US" sz="1400" dirty="0">
                <a:solidFill>
                  <a:schemeClr val="bg1"/>
                </a:solidFill>
              </a:rPr>
              <a:t>	</a:t>
            </a:r>
            <a:r>
              <a:rPr lang="en-US" sz="1100" dirty="0">
                <a:solidFill>
                  <a:schemeClr val="bg1"/>
                </a:solidFill>
              </a:rPr>
              <a:t>28 population groups of salmon/trout listed as endangered or threatened under ESA</a:t>
            </a:r>
          </a:p>
          <a:p>
            <a:pPr marL="158750" indent="0">
              <a:spcBef>
                <a:spcPts val="0"/>
              </a:spcBef>
              <a:spcAft>
                <a:spcPts val="0"/>
              </a:spcAft>
              <a:buNone/>
            </a:pPr>
            <a:r>
              <a:rPr lang="en-US" sz="1100" dirty="0">
                <a:solidFill>
                  <a:schemeClr val="bg1"/>
                </a:solidFill>
              </a:rPr>
              <a:t>	13 of these in Columbia Basin</a:t>
            </a:r>
          </a:p>
          <a:p>
            <a:pPr marL="158750" indent="0">
              <a:spcBef>
                <a:spcPts val="0"/>
              </a:spcBef>
              <a:spcAft>
                <a:spcPts val="0"/>
              </a:spcAft>
              <a:buNone/>
            </a:pPr>
            <a:r>
              <a:rPr lang="en-US" sz="1600" dirty="0">
                <a:solidFill>
                  <a:schemeClr val="bg1"/>
                </a:solidFill>
              </a:rPr>
              <a:t>Despite restoration efforts</a:t>
            </a:r>
          </a:p>
          <a:p>
            <a:pPr marL="158750" indent="0">
              <a:spcBef>
                <a:spcPts val="0"/>
              </a:spcBef>
              <a:spcAft>
                <a:spcPts val="0"/>
              </a:spcAft>
              <a:buNone/>
            </a:pPr>
            <a:r>
              <a:rPr lang="en-US" sz="1100" dirty="0">
                <a:solidFill>
                  <a:schemeClr val="bg1"/>
                </a:solidFill>
              </a:rPr>
              <a:t>	$ 9 billion spent in Columbia Basin since 1990s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1172276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3CAC5A7-21E0-D291-17E6-7D8CDEFB48B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4BD477E-2E99-D31E-A7EC-376B1DA104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06064A5-6A71-F9B4-6038-83AC789038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spcBef>
                <a:spcPts val="0"/>
              </a:spcBef>
              <a:spcAft>
                <a:spcPts val="0"/>
              </a:spcAft>
              <a:buNone/>
            </a:pPr>
            <a:r>
              <a:rPr lang="en-US" sz="1600" dirty="0">
                <a:solidFill>
                  <a:schemeClr val="bg1"/>
                </a:solidFill>
              </a:rPr>
              <a:t>Not great in the lower 48</a:t>
            </a:r>
          </a:p>
          <a:p>
            <a:pPr marL="158750" indent="0">
              <a:spcBef>
                <a:spcPts val="0"/>
              </a:spcBef>
              <a:spcAft>
                <a:spcPts val="0"/>
              </a:spcAft>
              <a:buNone/>
            </a:pPr>
            <a:r>
              <a:rPr lang="en-US" sz="1400" dirty="0">
                <a:solidFill>
                  <a:schemeClr val="bg1"/>
                </a:solidFill>
              </a:rPr>
              <a:t>	</a:t>
            </a:r>
            <a:r>
              <a:rPr lang="en-US" sz="1100" dirty="0">
                <a:solidFill>
                  <a:schemeClr val="bg1"/>
                </a:solidFill>
              </a:rPr>
              <a:t>28 population groups of salmon/trout listed as endangered or threatened under ESA</a:t>
            </a:r>
          </a:p>
          <a:p>
            <a:pPr marL="158750" indent="0">
              <a:spcBef>
                <a:spcPts val="0"/>
              </a:spcBef>
              <a:spcAft>
                <a:spcPts val="0"/>
              </a:spcAft>
              <a:buNone/>
            </a:pPr>
            <a:r>
              <a:rPr lang="en-US" sz="1100" dirty="0">
                <a:solidFill>
                  <a:schemeClr val="bg1"/>
                </a:solidFill>
              </a:rPr>
              <a:t>	13 of these in Columbia Basin</a:t>
            </a:r>
          </a:p>
          <a:p>
            <a:pPr marL="158750" indent="0">
              <a:spcBef>
                <a:spcPts val="0"/>
              </a:spcBef>
              <a:spcAft>
                <a:spcPts val="0"/>
              </a:spcAft>
              <a:buNone/>
            </a:pPr>
            <a:r>
              <a:rPr lang="en-US" sz="1600" dirty="0">
                <a:solidFill>
                  <a:schemeClr val="bg1"/>
                </a:solidFill>
              </a:rPr>
              <a:t>Despite restoration efforts</a:t>
            </a:r>
          </a:p>
          <a:p>
            <a:pPr marL="158750" indent="0">
              <a:spcBef>
                <a:spcPts val="0"/>
              </a:spcBef>
              <a:spcAft>
                <a:spcPts val="0"/>
              </a:spcAft>
              <a:buNone/>
            </a:pPr>
            <a:r>
              <a:rPr lang="en-US" sz="1100" dirty="0">
                <a:solidFill>
                  <a:schemeClr val="bg1"/>
                </a:solidFill>
              </a:rPr>
              <a:t>	$ 9 billion spent in Columbia Basin since 1990s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692043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6144E4C-CB20-9570-F494-DB45E6661C6F}"/>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9D594524-C411-4779-FFDF-886C25ED833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9233A0B-4670-7ABF-8BE9-F4E728943C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71924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62DD149-744B-77DE-BA25-2CE5B69E43EB}"/>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46C6B4B0-22AE-570B-8948-EB048BD13D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A91A1DD8-77BC-9D5C-62D4-FD6BFFA192A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749503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AD29C935-FACA-D4B3-3395-4B8C3407E779}"/>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A757821-D1DF-D291-F823-ADEEFC60C91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A55DA9D-0A0F-C805-CF81-2004934803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533631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B07D456-3845-6903-5395-05AF7E5AE4A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58AAE1F-A69B-2F7C-60AE-8EE45A5321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6078338-125C-AE4D-52B6-2277D603FE9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385914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41891AA7-3E44-40B2-BAFA-110513DC8D25}"/>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E50CAD9B-13CA-F254-9E88-5B1C207CA7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61DC6CDD-AB92-382D-E44E-ED970BAB6D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165595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A3B8742-C937-D9A5-8B8D-E156269CC31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5951750-3012-F9DD-6562-E853CB0EFE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16667E2-4608-A904-FE29-6CA3993A62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Net survey</a:t>
            </a:r>
            <a:endParaRPr dirty="0"/>
          </a:p>
        </p:txBody>
      </p:sp>
    </p:spTree>
    <p:extLst>
      <p:ext uri="{BB962C8B-B14F-4D97-AF65-F5344CB8AC3E}">
        <p14:creationId xmlns:p14="http://schemas.microsoft.com/office/powerpoint/2010/main" val="1263896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85EB0527-8601-007E-202D-922BFF8466FF}"/>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566D7BD-9080-D044-9384-A99DF47887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A91FC5E-8B55-5FA9-C24C-D58024109A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Snorkel survey</a:t>
            </a:r>
            <a:endParaRPr dirty="0"/>
          </a:p>
        </p:txBody>
      </p:sp>
    </p:spTree>
    <p:extLst>
      <p:ext uri="{BB962C8B-B14F-4D97-AF65-F5344CB8AC3E}">
        <p14:creationId xmlns:p14="http://schemas.microsoft.com/office/powerpoint/2010/main" val="13026933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4C0BA6DA-19BD-783D-8508-B65456E3129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3444537-506E-E8B5-C184-E3C63231CF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61DA722-26EC-B6AF-541C-C1E16B1C78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Weir</a:t>
            </a:r>
            <a:endParaRPr dirty="0"/>
          </a:p>
        </p:txBody>
      </p:sp>
    </p:spTree>
    <p:extLst>
      <p:ext uri="{BB962C8B-B14F-4D97-AF65-F5344CB8AC3E}">
        <p14:creationId xmlns:p14="http://schemas.microsoft.com/office/powerpoint/2010/main" val="320476009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A1C56159-5097-D46E-3B0D-904C3C58AE1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7865057F-CA6B-04F2-9B8B-B60ACD1819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4CD18A4-F9BE-49E4-E962-A9B01ABA6E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PIT tag (passive integrated transponder)</a:t>
            </a:r>
            <a:endParaRPr dirty="0"/>
          </a:p>
        </p:txBody>
      </p:sp>
    </p:spTree>
    <p:extLst>
      <p:ext uri="{BB962C8B-B14F-4D97-AF65-F5344CB8AC3E}">
        <p14:creationId xmlns:p14="http://schemas.microsoft.com/office/powerpoint/2010/main" val="26737790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28465D1-12E8-94EA-290A-961C47BCD53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1F10493-E052-DDCD-719A-7A935E53006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6AB4113-EF72-BE86-36AF-088D5E809F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Aerial Survey (AK)</a:t>
            </a:r>
            <a:endParaRPr dirty="0"/>
          </a:p>
        </p:txBody>
      </p:sp>
    </p:spTree>
    <p:extLst>
      <p:ext uri="{BB962C8B-B14F-4D97-AF65-F5344CB8AC3E}">
        <p14:creationId xmlns:p14="http://schemas.microsoft.com/office/powerpoint/2010/main" val="42784651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115E6C1-3970-88B0-BF03-04E7D795C25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45805BB-02DB-7F6E-E7B6-F9497118FE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3EEBDB5-935E-8FD7-20B3-4B34C7DF1F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Weir</a:t>
            </a:r>
            <a:endParaRPr dirty="0"/>
          </a:p>
        </p:txBody>
      </p:sp>
    </p:spTree>
    <p:extLst>
      <p:ext uri="{BB962C8B-B14F-4D97-AF65-F5344CB8AC3E}">
        <p14:creationId xmlns:p14="http://schemas.microsoft.com/office/powerpoint/2010/main" val="17670601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0695230-A505-3CB7-1455-67AE8895DA3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DAF8EE9-C34A-EA7C-9D9C-6FE67DE1E1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F1A5ECD-DEB9-3B19-20FE-477CFB84D4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605971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EF53767-BCCD-ABCC-C299-7F7079DAA56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697809E4-D524-14F4-5D48-28863542FA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4AD88DC-F431-E27A-3EEB-144CFCED5D8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9754583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5605FD3-7BB1-61FC-D539-A25F6AF427A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ED1FFFDE-CC5F-98F9-911A-D6CA03F8FF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39F5D43-B6FA-80CD-9320-72D717CB184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88831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43609022-3BB8-0ACA-1A18-7D657CB1E6B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AB2EBC9-95F4-E1B7-7E49-CB591BA1EB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A84DC4E-BE4B-489A-7144-39B762E4B7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6418369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552606B-31C7-AB6E-8FFA-6C234E9AFA0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6B39904-0BE4-77A1-F5BB-9C6505DD68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B873211-5F5E-7B98-46D3-D730D463B2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418654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764DEB9-DB0A-15AE-72FC-BF7D6172343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FDF683C-D6F4-253E-7C34-01629DD639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A88C5BD2-5C13-5E5B-2665-108664798C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72752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1FFB1BA-C6F9-4981-9DC7-E5336ABE98D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650F96CD-A25B-17C3-0C1A-F40B3EC8D3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9DB330B-0A1A-2E31-1734-B26CF1C32A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952408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0AF78738-9C4F-45B6-CF81-3748BA204F7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99EB347C-8EB2-AC94-6442-BFA55E45CB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D9C9E1F8-4CCF-275C-32C6-8F2364BDFB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401645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6AF4A55-22EF-54A6-5F89-B4ABCDD3F3AB}"/>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5A4FC02-A6D7-2305-E9CB-0FECD0FFBB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0125824-7AE8-82AC-20B4-6A27C70C21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98802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8A49C98-0370-5D0D-1BDC-AABF7606DD1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4C03D06-216D-7281-4363-31DF0D2FD9D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E09A1DF-016E-3BFA-2979-3850A23AB3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253085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11D36AD-196A-56EF-129A-7901A56B2F8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C57D2CCD-5AD3-40C7-ED8D-8FF86DA9EC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39F8407C-5D69-A517-D3C2-057805DB2E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525537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B9A3016-7B55-A3B6-36B4-949825BEE87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88E1C96-129C-3537-E5F5-9336CE1102B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5CB41531-833B-2A24-D6B1-6B41AE7899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554897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6315E26-8D27-3BC3-1FFD-9764BEA547C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7DB9CADE-7E9B-0171-B107-86A7208A75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71B6ABE-365B-EFC2-5D32-ED26B19750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3548705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7D34925A-1344-B903-4822-6DD1C7B8DF1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4FBCF362-B8BF-B84E-7095-611571C5EF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C90946D-39F7-EFC6-7506-44E4076699C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14345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4B5DB378-0FAF-D8AE-AC11-EDF08D37EBD7}"/>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E0BC6314-1305-C354-02CB-08A66B293C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E298B56-260E-8C16-02A0-40723C6A0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56607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15B59BD-6A57-A5AD-6949-3AC008F0A52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1339DE5-AC60-4E5E-3AAE-489F44A0D8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F75AF54-D896-798D-C35A-D9B35CA9E75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7686482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85A91E32-2BAE-928F-5951-38F4BFDE8D1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007A4E83-1A2A-3ED0-47B7-215C949588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7BD8A00-7324-427F-81B6-679FA7AC16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9465433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2282F08-D775-C5AF-E2A3-6C510A91F05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8AA17AF-144E-E6C7-3EF6-6F64671BE5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A9E82442-40CE-9DCE-CCEB-7663F2A564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4935579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BF39697-137E-434C-1BC8-0CEAE7F1065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08ADA34-CE02-78FB-A88E-1BB71E4541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D24A1211-14FE-4D76-1578-BCAAFBF857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174312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5ECF603-8047-A527-18AB-2AF271348B9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4303DC34-E3D6-8681-1663-7A01F1BBF1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3DA8CC08-7347-AE15-3C91-1B77AFCD75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819347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97E240B-9F1A-591B-00CF-5451FCC0970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E7A754FB-F5EF-BAA3-118F-5A92A9066B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5CB543D-3077-B38E-B1B1-9859513A97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6815398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EF3ADA8-E61B-0D19-5C36-DD815AD1A4AB}"/>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EA3C9A8-3217-F572-65E0-9377206C754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B821767-1500-8181-EA1A-93BB74639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4331735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76A1933D-B43B-08C9-E212-EC7B7876840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1C41621-C38A-B71A-FEF8-E93D1FFEEF6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DFB3374-DA47-5FC4-60AE-2438A43252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11286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C914829-E1AB-5E78-CBA6-4C66EFACB55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A0C6809-4F50-4B9E-05AD-0BF25F84E34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BEB6E96-CE88-B7B6-08B2-23407B112E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719580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426E35F-6C07-EC28-B0FA-938A50107CE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4F0E9C3-798F-43CF-16CD-7C6B02A6B6D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F644694-61D2-D7DC-25D2-9969D0E357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615981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4C4B52B-F1BB-AB40-7454-7BCAC0957EC5}"/>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73B2546-A228-D461-1030-62168EC9FA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96681B5-4A43-A616-37E7-2BE91B2130F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1366554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7A17B3B-0131-DB89-F76D-D1D2382CD46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C035507C-8C98-6D1F-A78D-7F351D08C9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D117626B-E107-109F-8C5B-4633ABACA3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1370536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ACD656BC-7DC6-750F-C49D-55D3843FAF4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CA09C19-D43B-3000-4219-5E8CBA290F4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0DD01BE-E5FC-4BCC-D26C-3AEA2F10D5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442657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8D135A4-3764-9F29-0654-6DF5DD43814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04BF0EB4-7579-B8E2-7015-E1640471D8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1D832B07-04FC-67C9-E551-9E6CC0F831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6147404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F6F788E-73F4-2B9B-4F2A-96A7D19D68C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D880702-9EFA-3532-746D-477D5A6BCD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AAB9A27-0737-8BE9-7FAF-3B19CDC1C9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417538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8C14EFB-396C-8893-A274-F30D82A47D5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618ED5D9-803A-32CB-2F2C-78ED39FCDB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9AAEBD7-920D-7A2D-3403-2E686BEC6C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6105584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98BB850-9FCF-C873-5A05-666A2D35ED95}"/>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19B5AE0-16E2-846D-2FDD-458417B413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04CFDE4-6F1E-CB8D-83E0-FC47DDE07D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5887738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C97B9D1-7690-0DA3-9C9F-981A89C49AD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A35520F-C038-853B-E108-136C279903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B691D7A-7F53-BAD9-EC26-A47EEC1EFB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257271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90E5EC0-D159-9CEA-56CF-4F973FD8D05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6E74671-7813-1B06-0B09-15D2679CAA7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FFD34B0-DB66-FD05-9E53-370E0677F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0817633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E61F8F3-89C6-7263-E9A7-37C09F52111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C7B38A0B-7FC9-1076-CEA3-6392252075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CD2ED88-9BA7-57F0-7533-5928DD7678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3377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CE1D6B07-7952-8C48-FEDE-8DDAE61D67C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061EC33-6B10-1E6E-D185-56C9E168AC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DBEA1B2A-BF94-91AB-F901-817D3B08D4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908189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47609AF-9201-A804-9D31-4CC27E0CB24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FE22FD9-C7D4-5535-B600-7586AA5EDF3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86C37DA-A58B-5299-85E6-FDC914FF158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1705873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31E796E-72A1-97FA-D00F-6BB8998AB4A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2458589-94BC-C330-E7E7-B1543C6DA9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B8C60CC-221D-F1E8-693F-94DC1B01978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956521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F025F02-4922-0AA8-3EC3-A89BC506BAE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935A4F4-D306-BFE8-6CEF-8D2D08BE63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573E1B3-F698-D2C1-62FC-87EEC1D0B99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0576151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C6C2D2D-AFF8-3F09-68FA-080F2AB86259}"/>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255D6D2-6EEE-186D-6A53-5DB5F185CA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D0304367-C911-2AE8-D132-2B791936AF6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931609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79C5E88-32EA-AA70-97CB-795CEB0F4D7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036FD23-8CC8-A3DE-73C9-1DFCEBC2D2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D6C1AC9-5EC4-EC0B-D1A6-431AF24D34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4326033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A47BFBF-8AB2-9C98-E1BB-2F9DD81BFBC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742A7269-E4BE-D596-DC28-2940917436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812A505-BDCA-495E-3CC9-2345811AE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268920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DDBAA0A3-192B-E437-6306-690FA594F3D4}"/>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956C4286-68D6-9C8D-F7A0-25154B107A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015684A-9FD5-703B-9A24-390671A2F34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022031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A24D51D-652B-F5FD-894F-5BF3D2E79BE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2ACD4FD-2937-C51C-E60B-4401B02FEC6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37A79A5-35A5-7C8C-F999-6C48D4FEF6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780050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3702DBC-55D5-71C5-2DBF-DA11530DB09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9ADE1DB-1E8C-605F-C708-A091BB42A4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B741508-8303-E887-78D6-BF39E0B2F3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7828677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DADE312-C6C8-E95A-15F2-D76712AD079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3A664F4-34E0-3AAC-D883-274A06025F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E6447AF-8F4E-EF31-5DD1-21D2AC593D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965312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96C007F-0187-5EB4-A49B-7896AC6C457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7134B21C-2FDE-E36D-1AEB-47386D821D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A3ECFCE1-C913-B65D-105C-89A8C6A8D9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850813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84D6B0CC-E477-4B9B-1E33-B468BAB47B2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A1F56B4-4672-8E5A-2E20-614513D309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CB2F116-36AD-BF28-077E-D3126668EDC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0925103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63A81E4-4882-BAA0-065D-BBE8ECA3C6D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F566C63-80EE-971C-38A3-E396FA5254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DF82817-E411-1885-EC3D-DDFDD850CE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3170191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32D7268-B6E2-E355-766E-1E811ED6343F}"/>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7DD385DD-5B63-A606-3BF0-60D031102B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AE7D9988-8375-575E-5A93-756F55A5F2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4248402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DF33524B-EC5C-4E76-4404-CDE2BA36393E}"/>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9ED54B8-3078-F0C9-A265-4B3C15D55AD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695546F-BA12-671C-D9AF-5272A0F622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747882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D8FD357-4C80-F5D3-D9A0-8F67FA15EE8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DC1DEF1-8D68-46EA-4988-B320080F61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149F52D4-C2BB-5590-5A71-EF5B7BB816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3554577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F8FF15F-CECC-23BD-49F0-6A3C7FF0A64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68AF9CC1-61DA-DDE9-923B-1E7C34488A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5653234-EA12-6D92-276D-40BF95A13B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1064503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967F7DE-7399-0BA5-08D5-65AD473FE59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A16545BB-9BAD-2567-818D-27940AA60E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1F6C1F96-25A7-6CB1-0779-7D32BACC1A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5693228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4AE512BE-5323-66B5-9E37-E02325DD8230}"/>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025A8580-9EEF-5068-8C92-C55EA64517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9095FE0-D0F6-86DF-B739-EFAF613E26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1950776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ABC3F162-1BCA-FD5E-DBC2-E670792F7D5B}"/>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B9444EC-2100-8137-BF9A-256B6FE29F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6E25EDE-3892-7D38-008C-D4D90A487A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021471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460C857A-971F-209B-7D18-DEEC83CCA707}"/>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0576B0EF-C75A-1194-26E8-B4F794EF97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F391B8C-E290-E745-2894-1C3910F6F41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573287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7AD46E7F-A50C-301B-E406-F54742786C59}"/>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95D237A-45D1-9802-2A32-06A22020D3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9F17B11F-76B4-2643-8118-DB31EB4D2F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774787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AF020F11-4BD1-7561-D1C0-6EBA0AFB75F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0893C440-83AF-6355-0D7A-41C9FC083CA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31DD5B2-C0B1-F2AD-7AD9-3187D403F4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764016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854E8CE1-CEAA-CB82-6D4A-7E32CC0BD947}"/>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48918521-8681-0A90-8722-DA41859464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8B570FD9-15BA-FEBE-7C47-DB798CD799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08110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59057AA-AE9E-1AF6-67AD-9C996CB77D9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717E8C5-4247-BCB7-BAE9-D918013F74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7B43A088-B0CE-743C-B916-472A81DA1E3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5581212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8D121CA-6D64-C580-CDB4-D5E231342415}"/>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44C7F2BF-2384-D068-9D30-D3DF48E029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6F9B661C-6095-EF84-5DC1-B24A3960FC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1570435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81A8A34-441F-B342-383C-77F914B48D27}"/>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A236942-3027-1070-0C12-EAA14E211B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479E6BF-4529-FCA0-9734-01B3372BB6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1503377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6685D3D-E1E7-5D4B-CAF0-AF7C68F8EEB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7B8791CE-EA7E-65C9-DAC8-7A6F9C31AA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4188E232-ADF9-957E-9D45-345D72E4A7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514828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823B705E-2123-AFB5-F660-1E1EE7E6BE3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565C65AC-5AF1-6E96-7F54-43C123D606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7B756E0-8A14-8950-7D52-56C61DB952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0417701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6730D06F-7846-1533-2F10-D20B1917AE3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62C0321A-53C5-4AFF-CD72-645FA03A0BC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8273209-57E7-E1AB-08EE-1506B450A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1377340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B35047B2-2938-86A2-5205-7B5F9914F76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BFFD0562-45FA-7901-DA72-1320222FEA5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C40276D-9B61-1AEB-A3C1-1BC4456882C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741945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24F1EFAD-640F-2BAE-F5AA-FE863081FC38}"/>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CAF2C0FA-C05C-BA66-4607-A314E2DFB18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11172FDC-88C1-2E45-94FE-D348083B27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1147311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B64E2DD-BB95-CDC3-CA73-12FA2A95D71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0493BFB-786A-3D7E-1667-320279D774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333B9389-5599-EEB1-F5FD-81E93CD571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6955482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AD15ED4-9CB3-C41D-B590-028F2413E5F1}"/>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634C2CA4-7902-19E4-C231-73C56CD3BFC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F17EE5D-2582-0888-0323-847804694D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80690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D8AE81EF-640B-E03D-CF80-B711EC5A85F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D41AC3C-17D8-E2FB-49E6-7A52318F2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2E7609AA-969E-54DE-FCF4-88BC5EF2547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07069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726FBE6C-092F-A5D3-ABC9-E8ECF6369DE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C56C1775-3731-E41E-0E8B-D8A97C0DE5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8ECB3B3-6662-D752-12CC-3FBD778D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6221472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5DF6F9F-6A47-8023-8E8C-7DAB8A43570F}"/>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F7FC3398-0D03-408C-C59E-76A8B8CF06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911EB38-53E0-39A0-F83F-584B948C1A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86430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3A5D65A8-FB19-1FC0-0D91-413D2BF4815C}"/>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9A193E81-46C1-3DAB-2127-742EE3482D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5578AB37-84A9-E53B-A103-12C84C635D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0771093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0C62C34A-C6F5-C0E0-35C0-243CAB556ACA}"/>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785B69C-5B01-05E4-2C02-C590FC1BDCC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B093B91F-D9AB-09CC-0255-AB7AB80CD29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52658175"/>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932787D3-14C8-1045-DDF9-D7F2F5ABBCA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2461D365-F4D1-EE7E-D5A5-5204D0A464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4772939-3FC5-70AB-6950-E120AD92A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594863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FFF5A94A-D1D3-829D-337E-73C6697ED092}"/>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32E8D434-28F4-56A6-5818-D6E32899E4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0FA91481-0FC4-E0EC-144C-797529F306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7720696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1CDEBA3E-A147-5DE6-027C-465AC0451DD6}"/>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162DD48E-6C1F-FDE5-37FF-2268361A6ED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FE438F45-571B-889E-4558-1E7FDC57DEA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7869114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55A22F49-D541-D552-0585-19C2D6D0160D}"/>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D9A966E6-FCB4-D953-205A-92D4B54BA9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EC3AC927-B957-B464-36B6-D66C68C11C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273227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46404" y="569214"/>
            <a:ext cx="7063740" cy="3031236"/>
          </a:xfrm>
        </p:spPr>
        <p:txBody>
          <a:bodyPr anchor="b">
            <a:normAutofit/>
          </a:bodyPr>
          <a:lstStyle>
            <a:lvl1pPr algn="l">
              <a:lnSpc>
                <a:spcPct val="85000"/>
              </a:lnSpc>
              <a:defRPr sz="54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946404" y="3600450"/>
            <a:ext cx="7063740" cy="1268730"/>
          </a:xfrm>
        </p:spPr>
        <p:txBody>
          <a:bodyPr>
            <a:normAutofit/>
          </a:bodyPr>
          <a:lstStyle>
            <a:lvl1pPr marL="0" indent="0" algn="l">
              <a:buNone/>
              <a:defRPr sz="1650" baseline="0">
                <a:solidFill>
                  <a:schemeClr val="tx1">
                    <a:lumMod val="75000"/>
                  </a:schemeClr>
                </a:solidFill>
              </a:defRPr>
            </a:lvl1pPr>
            <a:lvl2pPr marL="342900" indent="0" algn="ctr">
              <a:buNone/>
              <a:defRPr sz="1650"/>
            </a:lvl2pPr>
            <a:lvl3pPr marL="685800" indent="0" algn="ctr">
              <a:buNone/>
              <a:defRPr sz="165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9E016143-E03C-4CFD-AFDC-14E5BDEA754C}" type="datetimeFigureOut">
              <a:rPr lang="en-US" dirty="0"/>
              <a:t>10/21/2026</a:t>
            </a:fld>
            <a:endParaRPr lang="en-US" dirty="0"/>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pPr marL="0" lvl="0" indent="0" algn="r" rtl="0">
              <a:spcBef>
                <a:spcPts val="0"/>
              </a:spcBef>
              <a:spcAft>
                <a:spcPts val="0"/>
              </a:spcAft>
              <a:buNone/>
            </a:pPr>
            <a:fld id="{00000000-1234-1234-1234-123412341234}" type="slidenum">
              <a:rPr lang="en" smtClean="0"/>
              <a:t>‹#›</a:t>
            </a:fld>
            <a:endParaRPr lang="en"/>
          </a:p>
        </p:txBody>
      </p:sp>
      <p:sp>
        <p:nvSpPr>
          <p:cNvPr id="7" name="Rectangle 6"/>
          <p:cNvSpPr/>
          <p:nvPr/>
        </p:nvSpPr>
        <p:spPr>
          <a:xfrm>
            <a:off x="0" y="0"/>
            <a:ext cx="3429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970607747"/>
      </p:ext>
    </p:extLst>
  </p:cSld>
  <p:clrMapOvr>
    <a:overrideClrMapping bg1="dk1" tx1="lt1" bg2="dk2" tx2="lt2" accent1="accent1" accent2="accent2" accent3="accent3" accent4="accent4" accent5="accent5" accent6="accent6" hlink="hlink" folHlink="folHlink"/>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C94063-DF36-4330-A365-08DA1FA5B7D6}" type="datetimeFigureOut">
              <a:rPr lang="en-US" dirty="0"/>
              <a:t>10/21/2026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778739990"/>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46404" y="569214"/>
            <a:ext cx="7063740" cy="3031236"/>
          </a:xfrm>
        </p:spPr>
        <p:txBody>
          <a:bodyPr anchor="b">
            <a:normAutofit/>
          </a:bodyPr>
          <a:lstStyle>
            <a:lvl1pPr>
              <a:lnSpc>
                <a:spcPct val="85000"/>
              </a:lnSpc>
              <a:defRPr sz="5400" b="0"/>
            </a:lvl1pPr>
          </a:lstStyle>
          <a:p>
            <a:r>
              <a:rPr lang="en-US"/>
              <a:t>Click to edit Master title style</a:t>
            </a:r>
            <a:endParaRPr lang="en-US" dirty="0"/>
          </a:p>
        </p:txBody>
      </p:sp>
      <p:sp>
        <p:nvSpPr>
          <p:cNvPr id="3" name="Text Placeholder 2"/>
          <p:cNvSpPr>
            <a:spLocks noGrp="1"/>
          </p:cNvSpPr>
          <p:nvPr>
            <p:ph type="body" idx="1"/>
          </p:nvPr>
        </p:nvSpPr>
        <p:spPr>
          <a:xfrm>
            <a:off x="946404" y="3600450"/>
            <a:ext cx="7063740" cy="1268730"/>
          </a:xfrm>
        </p:spPr>
        <p:txBody>
          <a:bodyPr anchor="t">
            <a:normAutofit/>
          </a:bodyPr>
          <a:lstStyle>
            <a:lvl1pPr marL="0" indent="0">
              <a:buNone/>
              <a:defRPr sz="1650">
                <a:solidFill>
                  <a:schemeClr val="tx1">
                    <a:lumMod val="65000"/>
                    <a:lumOff val="3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08A7C6C-0F39-4D70-8E8D-FE5B9C95FA73}" type="datetimeFigureOut">
              <a:rPr lang="en-US" dirty="0"/>
              <a:t>10/21/2026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
        <p:nvSpPr>
          <p:cNvPr id="7" name="Rectangle 6"/>
          <p:cNvSpPr/>
          <p:nvPr/>
        </p:nvSpPr>
        <p:spPr>
          <a:xfrm>
            <a:off x="0" y="0"/>
            <a:ext cx="3429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195330417"/>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46404" y="1371600"/>
            <a:ext cx="3360420" cy="3263503"/>
          </a:xfrm>
        </p:spPr>
        <p:txBody>
          <a:bodyPr/>
          <a:lstStyle>
            <a:lvl1pPr>
              <a:defRPr sz="1350"/>
            </a:lvl1pPr>
            <a:lvl2pPr>
              <a:defRPr sz="1200"/>
            </a:lvl2pPr>
            <a:lvl3pPr>
              <a:defRPr sz="10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594860" y="1371600"/>
            <a:ext cx="3360420" cy="3263503"/>
          </a:xfrm>
        </p:spPr>
        <p:txBody>
          <a:bodyPr/>
          <a:lstStyle>
            <a:lvl1pPr>
              <a:defRPr sz="1350"/>
            </a:lvl1pPr>
            <a:lvl2pPr>
              <a:defRPr sz="1200"/>
            </a:lvl2pPr>
            <a:lvl3pPr>
              <a:defRPr sz="10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FCFA4AC-08CC-42CE-BD01-C191750A04EC}" type="datetimeFigureOut">
              <a:rPr lang="en-US" dirty="0"/>
              <a:t>10/21/2026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647273987"/>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946404" y="1285241"/>
            <a:ext cx="3360420" cy="548640"/>
          </a:xfrm>
        </p:spPr>
        <p:txBody>
          <a:bodyPr anchor="b">
            <a:normAutofit/>
          </a:bodyPr>
          <a:lstStyle>
            <a:lvl1pPr marL="0" indent="0">
              <a:spcBef>
                <a:spcPts val="0"/>
              </a:spcBef>
              <a:buNone/>
              <a:defRPr sz="1500" b="0">
                <a:solidFill>
                  <a:schemeClr val="tx2"/>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946404" y="1880662"/>
            <a:ext cx="3360420" cy="2748488"/>
          </a:xfrm>
        </p:spPr>
        <p:txBody>
          <a:bodyPr/>
          <a:lstStyle>
            <a:lvl1pPr>
              <a:defRPr sz="1350"/>
            </a:lvl1pPr>
            <a:lvl2pPr>
              <a:defRPr sz="1200"/>
            </a:lvl2pPr>
            <a:lvl3pPr>
              <a:defRPr sz="10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594860" y="1285241"/>
            <a:ext cx="3360420" cy="548640"/>
          </a:xfrm>
        </p:spPr>
        <p:txBody>
          <a:bodyPr anchor="b">
            <a:normAutofit/>
          </a:bodyPr>
          <a:lstStyle>
            <a:lvl1pPr marL="0" indent="0">
              <a:lnSpc>
                <a:spcPct val="95000"/>
              </a:lnSpc>
              <a:spcBef>
                <a:spcPts val="0"/>
              </a:spcBef>
              <a:buNone/>
              <a:defRPr lang="en-US" sz="1500" b="0" kern="1200" dirty="0">
                <a:solidFill>
                  <a:schemeClr val="tx2"/>
                </a:solidFill>
                <a:latin typeface="+mn-lt"/>
                <a:ea typeface="+mn-ea"/>
                <a:cs typeface="+mn-cs"/>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marL="0" lvl="0" indent="0" algn="l" defTabSz="685800" rtl="0" eaLnBrk="1" latinLnBrk="0" hangingPunct="1">
              <a:lnSpc>
                <a:spcPct val="90000"/>
              </a:lnSpc>
              <a:spcBef>
                <a:spcPts val="1500"/>
              </a:spcBef>
              <a:buFontTx/>
              <a:buNone/>
            </a:pPr>
            <a:r>
              <a:rPr lang="en-US"/>
              <a:t>Click to edit Master text styles</a:t>
            </a:r>
          </a:p>
        </p:txBody>
      </p:sp>
      <p:sp>
        <p:nvSpPr>
          <p:cNvPr id="6" name="Content Placeholder 5"/>
          <p:cNvSpPr>
            <a:spLocks noGrp="1"/>
          </p:cNvSpPr>
          <p:nvPr>
            <p:ph sz="quarter" idx="4"/>
          </p:nvPr>
        </p:nvSpPr>
        <p:spPr>
          <a:xfrm>
            <a:off x="4594860" y="1880662"/>
            <a:ext cx="3360420" cy="2748488"/>
          </a:xfrm>
        </p:spPr>
        <p:txBody>
          <a:bodyPr/>
          <a:lstStyle>
            <a:lvl1pPr>
              <a:defRPr sz="1350"/>
            </a:lvl1pPr>
            <a:lvl2pPr>
              <a:defRPr sz="1200"/>
            </a:lvl2pPr>
            <a:lvl3pPr>
              <a:defRPr sz="105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BA7A723-92A7-435B-B681-F25B092FEFEB}" type="datetimeFigureOut">
              <a:rPr lang="en-US" dirty="0"/>
              <a:t>10/21/2026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620682559"/>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F170639-886C-4FCF-9EAB-ABB5DA3F3F4A}" type="datetimeFigureOut">
              <a:rPr lang="en-US" dirty="0"/>
              <a:t>10/21/2026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3614850677"/>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230651-31F4-45D2-98AE-A2108F41BC07}" type="datetimeFigureOut">
              <a:rPr lang="en-US" dirty="0"/>
              <a:t>10/21/2026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646112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936" y="342900"/>
            <a:ext cx="2400300" cy="1200148"/>
          </a:xfrm>
        </p:spPr>
        <p:txBody>
          <a:bodyPr anchor="b">
            <a:normAutofit/>
          </a:bodyPr>
          <a:lstStyle>
            <a:lvl1pPr>
              <a:defRPr sz="2400" b="0" baseline="0"/>
            </a:lvl1pPr>
          </a:lstStyle>
          <a:p>
            <a:r>
              <a:rPr lang="en-US"/>
              <a:t>Click to edit Master title style</a:t>
            </a:r>
            <a:endParaRPr lang="en-US" dirty="0"/>
          </a:p>
        </p:txBody>
      </p:sp>
      <p:sp>
        <p:nvSpPr>
          <p:cNvPr id="3" name="Content Placeholder 2"/>
          <p:cNvSpPr>
            <a:spLocks noGrp="1"/>
          </p:cNvSpPr>
          <p:nvPr>
            <p:ph idx="1"/>
          </p:nvPr>
        </p:nvSpPr>
        <p:spPr>
          <a:xfrm>
            <a:off x="3378200" y="514350"/>
            <a:ext cx="4559300" cy="4114800"/>
          </a:xfrm>
        </p:spPr>
        <p:txBody>
          <a:bodyPr/>
          <a:lstStyle>
            <a:lvl1pPr>
              <a:defRPr sz="1500"/>
            </a:lvl1pPr>
            <a:lvl2pPr>
              <a:defRPr sz="1350"/>
            </a:lvl2pPr>
            <a:lvl3pPr>
              <a:defRPr sz="120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30936" y="1574801"/>
            <a:ext cx="2400300" cy="2857501"/>
          </a:xfrm>
        </p:spPr>
        <p:txBody>
          <a:bodyPr>
            <a:normAutofit/>
          </a:bodyPr>
          <a:lstStyle>
            <a:lvl1pPr marL="0" indent="0">
              <a:lnSpc>
                <a:spcPct val="114000"/>
              </a:lnSpc>
              <a:spcBef>
                <a:spcPts val="600"/>
              </a:spcBef>
              <a:buNone/>
              <a:defRPr sz="975"/>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6F53789A-C914-4DB1-8815-80B5EC7335C5}" type="datetimeFigureOut">
              <a:rPr lang="en-US" dirty="0"/>
              <a:t>10/21/2026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7699557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3829050"/>
            <a:ext cx="8469630" cy="131445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5800" y="3943350"/>
            <a:ext cx="7486650" cy="685800"/>
          </a:xfrm>
        </p:spPr>
        <p:txBody>
          <a:bodyPr anchor="b">
            <a:normAutofit/>
          </a:bodyPr>
          <a:lstStyle>
            <a:lvl1pPr>
              <a:defRPr sz="21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8469630" cy="3846692"/>
          </a:xfrm>
          <a:solidFill>
            <a:schemeClr val="accent1"/>
          </a:solidFill>
        </p:spPr>
        <p:txBody>
          <a:bodyPr anchor="t"/>
          <a:lstStyle>
            <a:lvl1pPr marL="0" indent="0">
              <a:buNone/>
              <a:defRPr sz="2400">
                <a:solidFill>
                  <a:schemeClr val="bg1"/>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800" y="4581442"/>
            <a:ext cx="7486650" cy="447758"/>
          </a:xfrm>
        </p:spPr>
        <p:txBody>
          <a:bodyPr>
            <a:normAutofit/>
          </a:bodyPr>
          <a:lstStyle>
            <a:lvl1pPr marL="0" indent="0">
              <a:lnSpc>
                <a:spcPct val="100000"/>
              </a:lnSpc>
              <a:spcBef>
                <a:spcPts val="600"/>
              </a:spcBef>
              <a:buNone/>
              <a:defRPr sz="975">
                <a:solidFill>
                  <a:schemeClr val="bg1">
                    <a:lumMod val="8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5E6440AA-91A0-436F-8FDB-C0F939DCAE21}" type="datetimeFigureOut">
              <a:rPr lang="en-US" dirty="0"/>
              <a:t>10/21/2026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7046633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033E54A-A8CA-48C1-9504-691B58049D29}" type="datetimeFigureOut">
              <a:rPr lang="en-US" dirty="0"/>
              <a:t>10/21/2026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4097384803"/>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486525" y="285750"/>
            <a:ext cx="1857375" cy="442317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571500" y="285750"/>
            <a:ext cx="5800725" cy="442317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5F6C806-BBF7-471C-9527-881CE2266695}" type="datetimeFigureOut">
              <a:rPr lang="en-US" dirty="0"/>
              <a:t>10/21/2026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2179633828"/>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8469630" y="0"/>
            <a:ext cx="685800" cy="51435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946404" y="274320"/>
            <a:ext cx="7269480" cy="99417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946404" y="1371600"/>
            <a:ext cx="6446520" cy="326350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8098157" y="748903"/>
            <a:ext cx="1428749" cy="273844"/>
          </a:xfrm>
          <a:prstGeom prst="rect">
            <a:avLst/>
          </a:prstGeom>
        </p:spPr>
        <p:txBody>
          <a:bodyPr vert="horz" lIns="91440" tIns="45720" rIns="91440" bIns="45720" rtlCol="0" anchor="ctr"/>
          <a:lstStyle>
            <a:lvl1pPr algn="r">
              <a:defRPr sz="788" b="0">
                <a:solidFill>
                  <a:schemeClr val="tx2">
                    <a:lumMod val="20000"/>
                    <a:lumOff val="80000"/>
                  </a:schemeClr>
                </a:solidFill>
              </a:defRPr>
            </a:lvl1pPr>
          </a:lstStyle>
          <a:p>
            <a:fld id="{0E59FD0C-5451-4CA0-86AF-E70AE3279989}" type="datetimeFigureOut">
              <a:rPr lang="en-US" dirty="0"/>
              <a:t>10/21/2026</a:t>
            </a:fld>
            <a:endParaRPr lang="en-US" dirty="0"/>
          </a:p>
        </p:txBody>
      </p:sp>
      <p:sp>
        <p:nvSpPr>
          <p:cNvPr id="5" name="Footer Placeholder 4"/>
          <p:cNvSpPr>
            <a:spLocks noGrp="1"/>
          </p:cNvSpPr>
          <p:nvPr>
            <p:ph type="ftr" sz="quarter" idx="3"/>
          </p:nvPr>
        </p:nvSpPr>
        <p:spPr>
          <a:xfrm rot="16200000">
            <a:off x="7469506" y="3034903"/>
            <a:ext cx="2686050" cy="273844"/>
          </a:xfrm>
          <a:prstGeom prst="rect">
            <a:avLst/>
          </a:prstGeom>
        </p:spPr>
        <p:txBody>
          <a:bodyPr vert="horz" lIns="91440" tIns="45720" rIns="91440" bIns="45720" rtlCol="0" anchor="ctr"/>
          <a:lstStyle>
            <a:lvl1pPr algn="l">
              <a:defRPr sz="788">
                <a:solidFill>
                  <a:schemeClr val="tx2">
                    <a:lumMod val="20000"/>
                    <a:lumOff val="80000"/>
                  </a:schemeClr>
                </a:solidFill>
              </a:defRPr>
            </a:lvl1pPr>
          </a:lstStyle>
          <a:p>
            <a:endParaRPr lang="en-US" dirty="0"/>
          </a:p>
        </p:txBody>
      </p:sp>
      <p:sp>
        <p:nvSpPr>
          <p:cNvPr id="6" name="Slide Number Placeholder 5"/>
          <p:cNvSpPr>
            <a:spLocks noGrp="1"/>
          </p:cNvSpPr>
          <p:nvPr>
            <p:ph type="sldNum" sz="quarter" idx="4"/>
          </p:nvPr>
        </p:nvSpPr>
        <p:spPr>
          <a:xfrm>
            <a:off x="8469630" y="4629150"/>
            <a:ext cx="685800" cy="445294"/>
          </a:xfrm>
          <a:prstGeom prst="rect">
            <a:avLst/>
          </a:prstGeom>
        </p:spPr>
        <p:txBody>
          <a:bodyPr vert="horz" lIns="45720" tIns="45720" rIns="45720" bIns="45720" rtlCol="0" anchor="ctr">
            <a:normAutofit/>
          </a:bodyPr>
          <a:lstStyle>
            <a:lvl1pPr algn="ctr">
              <a:defRPr sz="2700">
                <a:solidFill>
                  <a:schemeClr val="tx2">
                    <a:lumMod val="60000"/>
                    <a:lumOff val="40000"/>
                  </a:schemeClr>
                </a:solidFill>
              </a:defRPr>
            </a:lvl1pPr>
          </a:lstStyle>
          <a:p>
            <a:pPr marL="0" lvl="0" indent="0" algn="r" rtl="0">
              <a:spcBef>
                <a:spcPts val="0"/>
              </a:spcBef>
              <a:spcAft>
                <a:spcPts val="0"/>
              </a:spcAft>
              <a:buNone/>
            </a:pPr>
            <a:fld id="{00000000-1234-1234-1234-123412341234}" type="slidenum">
              <a:rPr lang="en" smtClean="0"/>
              <a:t>‹#›</a:t>
            </a:fld>
            <a:endParaRPr lang="en"/>
          </a:p>
        </p:txBody>
      </p:sp>
    </p:spTree>
    <p:extLst>
      <p:ext uri="{BB962C8B-B14F-4D97-AF65-F5344CB8AC3E}">
        <p14:creationId xmlns:p14="http://schemas.microsoft.com/office/powerpoint/2010/main" val="18343651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685800" rtl="0" eaLnBrk="1" latinLnBrk="0" hangingPunct="1">
        <a:lnSpc>
          <a:spcPct val="90000"/>
        </a:lnSpc>
        <a:spcBef>
          <a:spcPct val="0"/>
        </a:spcBef>
        <a:buNone/>
        <a:defRPr sz="3300" kern="1200" spc="-38" baseline="0">
          <a:solidFill>
            <a:schemeClr val="tx1"/>
          </a:solidFill>
          <a:latin typeface="+mj-lt"/>
          <a:ea typeface="+mj-ea"/>
          <a:cs typeface="+mj-cs"/>
        </a:defRPr>
      </a:lvl1pPr>
    </p:titleStyle>
    <p:bodyStyle>
      <a:lvl1pPr marL="137160" indent="-137160" algn="l" defTabSz="685800" rtl="0" eaLnBrk="1" latinLnBrk="0" hangingPunct="1">
        <a:lnSpc>
          <a:spcPct val="95000"/>
        </a:lnSpc>
        <a:spcBef>
          <a:spcPts val="1050"/>
        </a:spcBef>
        <a:spcAft>
          <a:spcPts val="150"/>
        </a:spcAft>
        <a:buClr>
          <a:schemeClr val="accent1"/>
        </a:buClr>
        <a:buSzPct val="80000"/>
        <a:buFont typeface="Arial" pitchFamily="34" charset="0"/>
        <a:buChar char="•"/>
        <a:defRPr sz="1350" kern="1200" spc="8" baseline="0">
          <a:solidFill>
            <a:schemeClr val="tx1"/>
          </a:solidFill>
          <a:latin typeface="+mn-lt"/>
          <a:ea typeface="+mn-ea"/>
          <a:cs typeface="+mn-cs"/>
        </a:defRPr>
      </a:lvl1pPr>
      <a:lvl2pPr marL="342900" indent="-137160" algn="l" defTabSz="685800" rtl="0" eaLnBrk="1" latinLnBrk="0" hangingPunct="1">
        <a:lnSpc>
          <a:spcPct val="90000"/>
        </a:lnSpc>
        <a:spcBef>
          <a:spcPts val="225"/>
        </a:spcBef>
        <a:spcAft>
          <a:spcPts val="225"/>
        </a:spcAft>
        <a:buClr>
          <a:schemeClr val="accent1"/>
        </a:buClr>
        <a:buFont typeface="Wingdings 2" pitchFamily="18" charset="2"/>
        <a:buChar char=""/>
        <a:defRPr sz="1200" kern="1200">
          <a:solidFill>
            <a:schemeClr val="tx1">
              <a:lumMod val="85000"/>
              <a:lumOff val="15000"/>
            </a:schemeClr>
          </a:solidFill>
          <a:latin typeface="+mn-lt"/>
          <a:ea typeface="+mn-ea"/>
          <a:cs typeface="+mn-cs"/>
        </a:defRPr>
      </a:lvl2pPr>
      <a:lvl3pPr marL="548640" indent="-13716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3pPr>
      <a:lvl4pPr marL="754380" indent="-13716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4pPr>
      <a:lvl5pPr marL="960120" indent="-13716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5pPr>
      <a:lvl6pPr marL="1200000" indent="-17145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6pPr>
      <a:lvl7pPr marL="1425000" indent="-17145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7pPr>
      <a:lvl8pPr marL="1650000" indent="-17145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8pPr>
      <a:lvl9pPr marL="1875000" indent="-171450" algn="l" defTabSz="685800" rtl="0" eaLnBrk="1" latinLnBrk="0" hangingPunct="1">
        <a:lnSpc>
          <a:spcPct val="90000"/>
        </a:lnSpc>
        <a:spcBef>
          <a:spcPts val="225"/>
        </a:spcBef>
        <a:spcAft>
          <a:spcPts val="225"/>
        </a:spcAft>
        <a:buClr>
          <a:schemeClr val="accent1"/>
        </a:buClr>
        <a:buFont typeface="Wingdings 2" pitchFamily="18" charset="2"/>
        <a:buChar char=""/>
        <a:defRPr sz="10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g"/><Relationship Id="rId7"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jfif"/><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jpg"/></Relationships>
</file>

<file path=ppt/slides/_rels/slide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1.jpg"/><Relationship Id="rId4" Type="http://schemas.openxmlformats.org/officeDocument/2006/relationships/image" Target="../media/image10.jpg"/></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2.jpg"/><Relationship Id="rId5" Type="http://schemas.openxmlformats.org/officeDocument/2006/relationships/image" Target="../media/image11.jpg"/><Relationship Id="rId4" Type="http://schemas.openxmlformats.org/officeDocument/2006/relationships/image" Target="../media/image10.jpg"/></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14.jpg"/></Relationships>
</file>

<file path=ppt/slides/_rels/slide2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5.jpg"/></Relationships>
</file>

<file path=ppt/slides/_rels/slide2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16.jpg"/></Relationships>
</file>

<file path=ppt/slides/_rels/slide2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18.jpg"/><Relationship Id="rId4" Type="http://schemas.openxmlformats.org/officeDocument/2006/relationships/image" Target="../media/image17.jpg"/></Relationships>
</file>

<file path=ppt/slides/_rels/slide3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19.jpg"/></Relationships>
</file>

<file path=ppt/slides/_rels/slide3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20.jpg"/></Relationships>
</file>

<file path=ppt/slides/_rels/slide32.xml.rels><?xml version="1.0" encoding="UTF-8" standalone="yes"?>
<Relationships xmlns="http://schemas.openxmlformats.org/package/2006/relationships"><Relationship Id="rId8" Type="http://schemas.openxmlformats.org/officeDocument/2006/relationships/image" Target="../media/image18.jpg"/><Relationship Id="rId3" Type="http://schemas.openxmlformats.org/officeDocument/2006/relationships/image" Target="../media/image1.jpg"/><Relationship Id="rId7" Type="http://schemas.openxmlformats.org/officeDocument/2006/relationships/image" Target="../media/image14.jp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jpg"/><Relationship Id="rId5" Type="http://schemas.openxmlformats.org/officeDocument/2006/relationships/image" Target="../media/image16.jpg"/><Relationship Id="rId10" Type="http://schemas.openxmlformats.org/officeDocument/2006/relationships/image" Target="../media/image20.jpg"/><Relationship Id="rId4" Type="http://schemas.openxmlformats.org/officeDocument/2006/relationships/image" Target="../media/image19.jpg"/><Relationship Id="rId9" Type="http://schemas.openxmlformats.org/officeDocument/2006/relationships/image" Target="../media/image17.jpg"/></Relationships>
</file>

<file path=ppt/slides/_rels/slide3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4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45.xml.rels><?xml version="1.0" encoding="UTF-8" standalone="yes"?>
<Relationships xmlns="http://schemas.openxmlformats.org/package/2006/relationships"><Relationship Id="rId3" Type="http://schemas.microsoft.com/office/2018/10/relationships/comments" Target="../comments/modernComment_148_81A864E1.xml"/><Relationship Id="rId2" Type="http://schemas.openxmlformats.org/officeDocument/2006/relationships/notesSlide" Target="../notesSlides/notesSlide45.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1.jpg"/></Relationships>
</file>

<file path=ppt/slides/_rels/slide4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4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4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6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6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2.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6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4.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6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5.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6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6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8.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6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7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0.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7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3.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5.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6.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7.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7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8.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7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9.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8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0.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8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8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2.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8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3.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8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8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8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6.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8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7.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8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8.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8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9.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9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0.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9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1.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9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microsoft.com/office/2018/10/relationships/comments" Target="../comments/modernComment_219_5E04AFD1.xml"/><Relationship Id="rId2" Type="http://schemas.openxmlformats.org/officeDocument/2006/relationships/notesSlide" Target="../notesSlides/notesSlide102.xml"/><Relationship Id="rId1" Type="http://schemas.openxmlformats.org/officeDocument/2006/relationships/slideLayout" Target="../slideLayouts/slideLayout1.xml"/><Relationship Id="rId4" Type="http://schemas.openxmlformats.org/officeDocument/2006/relationships/image" Target="../media/image1.jpg"/></Relationships>
</file>

<file path=ppt/slides/_rels/slide10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g"/><Relationship Id="rId7" Type="http://schemas.openxmlformats.org/officeDocument/2006/relationships/image" Target="../media/image5.jpeg"/><Relationship Id="rId2" Type="http://schemas.openxmlformats.org/officeDocument/2006/relationships/notesSlide" Target="../notesSlides/notesSlide106.xml"/><Relationship Id="rId1" Type="http://schemas.openxmlformats.org/officeDocument/2006/relationships/slideLayout" Target="../slideLayouts/slideLayout1.xml"/><Relationship Id="rId6" Type="http://schemas.openxmlformats.org/officeDocument/2006/relationships/image" Target="../media/image4.jfif"/><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10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7.xml"/><Relationship Id="rId1" Type="http://schemas.openxmlformats.org/officeDocument/2006/relationships/slideLayout" Target="../slideLayouts/slideLayout1.xml"/><Relationship Id="rId5" Type="http://schemas.openxmlformats.org/officeDocument/2006/relationships/image" Target="../media/image42.png"/><Relationship Id="rId4" Type="http://schemas.openxmlformats.org/officeDocument/2006/relationships/image" Target="../media/image41.png"/></Relationships>
</file>

<file path=ppt/slides/_rels/slide10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10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9.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1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A2D7C91-B872-AC1F-6685-68A0F05059D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5693684-4F5E-C0D6-90B3-906863F7C50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2E34490-A770-2089-1BD5-38B2B277FA6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3115B9D-FF37-A9B1-71B2-5C34AB8274C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8B4C9B47-AC18-D027-2DD8-22588A535F05}"/>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
        <p:nvSpPr>
          <p:cNvPr id="2" name="Google Shape;54;p13">
            <a:extLst>
              <a:ext uri="{FF2B5EF4-FFF2-40B4-BE49-F238E27FC236}">
                <a16:creationId xmlns:a16="http://schemas.microsoft.com/office/drawing/2014/main" id="{EBB289D2-2CAA-5E86-7A2A-45A5B0177071}"/>
              </a:ext>
            </a:extLst>
          </p:cNvPr>
          <p:cNvSpPr txBox="1">
            <a:spLocks noGrp="1"/>
          </p:cNvSpPr>
          <p:nvPr>
            <p:ph type="ctrTitle"/>
          </p:nvPr>
        </p:nvSpPr>
        <p:spPr>
          <a:xfrm>
            <a:off x="79131" y="3355077"/>
            <a:ext cx="5688623" cy="2052600"/>
          </a:xfrm>
          <a:prstGeom prst="rect">
            <a:avLst/>
          </a:prstGeom>
        </p:spPr>
        <p:txBody>
          <a:bodyPr spcFirstLastPara="1" wrap="square" lIns="91425" tIns="91425" rIns="91425" bIns="91425" anchor="b" anchorCtr="0">
            <a:normAutofit fontScale="90000"/>
          </a:bodyPr>
          <a:lstStyle/>
          <a:p>
            <a:pPr marL="0" lvl="0" indent="0" rtl="0">
              <a:spcBef>
                <a:spcPts val="0"/>
              </a:spcBef>
              <a:spcAft>
                <a:spcPts val="0"/>
              </a:spcAft>
              <a:buNone/>
            </a:pPr>
            <a:r>
              <a:rPr lang="en" sz="4700" dirty="0">
                <a:solidFill>
                  <a:schemeClr val="bg1"/>
                </a:solidFill>
              </a:rPr>
              <a:t>Investigating precision and bias of commonly used salmonid abundance survey methods</a:t>
            </a:r>
            <a:br>
              <a:rPr lang="en" dirty="0">
                <a:solidFill>
                  <a:schemeClr val="bg1"/>
                </a:solidFill>
              </a:rPr>
            </a:br>
            <a:br>
              <a:rPr lang="en" sz="2700" dirty="0">
                <a:solidFill>
                  <a:schemeClr val="bg1"/>
                </a:solidFill>
              </a:rPr>
            </a:br>
            <a:endParaRPr sz="2700" dirty="0">
              <a:solidFill>
                <a:schemeClr val="bg1"/>
              </a:solidFill>
            </a:endParaRPr>
          </a:p>
        </p:txBody>
      </p:sp>
    </p:spTree>
    <p:extLst>
      <p:ext uri="{BB962C8B-B14F-4D97-AF65-F5344CB8AC3E}">
        <p14:creationId xmlns:p14="http://schemas.microsoft.com/office/powerpoint/2010/main" val="531694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0E155D5-0A52-3FD4-321F-74BE3393B9B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BC1ADF1-E84F-8FD6-63E0-69709A0DF625}"/>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A453BA76-B119-E364-F9B8-8956813769E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E75BBBC-F98A-73E1-B8E6-04C2D75A2CB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DCA3DBDE-8BE6-1D60-C835-78DC1FEC08CB}"/>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
        <p:nvSpPr>
          <p:cNvPr id="2" name="Google Shape;54;p13">
            <a:extLst>
              <a:ext uri="{FF2B5EF4-FFF2-40B4-BE49-F238E27FC236}">
                <a16:creationId xmlns:a16="http://schemas.microsoft.com/office/drawing/2014/main" id="{ED02A42C-F66D-EF4C-9113-32E655EE138F}"/>
              </a:ext>
            </a:extLst>
          </p:cNvPr>
          <p:cNvSpPr txBox="1">
            <a:spLocks noGrp="1"/>
          </p:cNvSpPr>
          <p:nvPr>
            <p:ph type="ctrTitle"/>
          </p:nvPr>
        </p:nvSpPr>
        <p:spPr>
          <a:xfrm>
            <a:off x="0" y="529897"/>
            <a:ext cx="8325853" cy="2052600"/>
          </a:xfrm>
          <a:prstGeom prst="rect">
            <a:avLst/>
          </a:prstGeom>
        </p:spPr>
        <p:txBody>
          <a:bodyPr spcFirstLastPara="1" wrap="square" lIns="91425" tIns="91425" rIns="91425" bIns="91425" anchor="b" anchorCtr="0">
            <a:noAutofit/>
          </a:bodyPr>
          <a:lstStyle/>
          <a:p>
            <a:pPr lvl="0">
              <a:spcBef>
                <a:spcPts val="0"/>
              </a:spcBef>
            </a:pPr>
            <a:r>
              <a:rPr lang="en" sz="3600" dirty="0">
                <a:solidFill>
                  <a:schemeClr val="bg1"/>
                </a:solidFill>
              </a:rPr>
              <a:t>Investigating precision and bias of commonly used salmonid abundance survey methods</a:t>
            </a:r>
            <a:br>
              <a:rPr lang="en" sz="3600" dirty="0">
                <a:solidFill>
                  <a:schemeClr val="bg1"/>
                </a:solidFill>
              </a:rPr>
            </a:br>
            <a:br>
              <a:rPr lang="en" sz="3600" dirty="0">
                <a:solidFill>
                  <a:schemeClr val="bg1"/>
                </a:solidFill>
              </a:rPr>
            </a:br>
            <a:endParaRPr sz="3600" dirty="0">
              <a:solidFill>
                <a:schemeClr val="bg1"/>
              </a:solidFill>
            </a:endParaRPr>
          </a:p>
        </p:txBody>
      </p:sp>
      <p:sp>
        <p:nvSpPr>
          <p:cNvPr id="13" name="Rectangle 12">
            <a:extLst>
              <a:ext uri="{FF2B5EF4-FFF2-40B4-BE49-F238E27FC236}">
                <a16:creationId xmlns:a16="http://schemas.microsoft.com/office/drawing/2014/main" id="{66E796C9-BB3B-4C45-C12A-55B2F9DD4164}"/>
              </a:ext>
            </a:extLst>
          </p:cNvPr>
          <p:cNvSpPr/>
          <p:nvPr/>
        </p:nvSpPr>
        <p:spPr>
          <a:xfrm>
            <a:off x="311700" y="1899684"/>
            <a:ext cx="7769043" cy="216027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oogle Shape;238;p39">
            <a:extLst>
              <a:ext uri="{FF2B5EF4-FFF2-40B4-BE49-F238E27FC236}">
                <a16:creationId xmlns:a16="http://schemas.microsoft.com/office/drawing/2014/main" id="{0ED0D8DC-DCA6-37F2-04F0-5B096B866867}"/>
              </a:ext>
            </a:extLst>
          </p:cNvPr>
          <p:cNvPicPr preferRelativeResize="0"/>
          <p:nvPr/>
        </p:nvPicPr>
        <p:blipFill>
          <a:blip r:embed="rId4">
            <a:alphaModFix/>
          </a:blip>
          <a:stretch>
            <a:fillRect/>
          </a:stretch>
        </p:blipFill>
        <p:spPr>
          <a:xfrm>
            <a:off x="3562765" y="1966500"/>
            <a:ext cx="2664673" cy="1221749"/>
          </a:xfrm>
          <a:prstGeom prst="rect">
            <a:avLst/>
          </a:prstGeom>
          <a:noFill/>
          <a:ln>
            <a:noFill/>
          </a:ln>
        </p:spPr>
      </p:pic>
      <p:pic>
        <p:nvPicPr>
          <p:cNvPr id="10" name="Google Shape;239;p39">
            <a:extLst>
              <a:ext uri="{FF2B5EF4-FFF2-40B4-BE49-F238E27FC236}">
                <a16:creationId xmlns:a16="http://schemas.microsoft.com/office/drawing/2014/main" id="{BF74C0A2-C3DF-8599-2CB0-84BAC9DCEE25}"/>
              </a:ext>
            </a:extLst>
          </p:cNvPr>
          <p:cNvPicPr preferRelativeResize="0"/>
          <p:nvPr/>
        </p:nvPicPr>
        <p:blipFill>
          <a:blip r:embed="rId5">
            <a:alphaModFix/>
          </a:blip>
          <a:stretch>
            <a:fillRect/>
          </a:stretch>
        </p:blipFill>
        <p:spPr>
          <a:xfrm>
            <a:off x="435649" y="3438700"/>
            <a:ext cx="3801300" cy="552325"/>
          </a:xfrm>
          <a:prstGeom prst="rect">
            <a:avLst/>
          </a:prstGeom>
          <a:noFill/>
          <a:ln>
            <a:noFill/>
          </a:ln>
        </p:spPr>
      </p:pic>
      <p:pic>
        <p:nvPicPr>
          <p:cNvPr id="11" name="Picture 10">
            <a:extLst>
              <a:ext uri="{FF2B5EF4-FFF2-40B4-BE49-F238E27FC236}">
                <a16:creationId xmlns:a16="http://schemas.microsoft.com/office/drawing/2014/main" id="{C3AE43B1-46C1-7B77-7F81-4075DF413F07}"/>
              </a:ext>
            </a:extLst>
          </p:cNvPr>
          <p:cNvPicPr>
            <a:picLocks noChangeAspect="1"/>
          </p:cNvPicPr>
          <p:nvPr/>
        </p:nvPicPr>
        <p:blipFill>
          <a:blip r:embed="rId6"/>
          <a:stretch>
            <a:fillRect/>
          </a:stretch>
        </p:blipFill>
        <p:spPr>
          <a:xfrm>
            <a:off x="6180093" y="3375123"/>
            <a:ext cx="1861648" cy="604799"/>
          </a:xfrm>
          <a:prstGeom prst="rect">
            <a:avLst/>
          </a:prstGeom>
        </p:spPr>
      </p:pic>
      <p:pic>
        <p:nvPicPr>
          <p:cNvPr id="1028" name="Picture 4">
            <a:extLst>
              <a:ext uri="{FF2B5EF4-FFF2-40B4-BE49-F238E27FC236}">
                <a16:creationId xmlns:a16="http://schemas.microsoft.com/office/drawing/2014/main" id="{672F50A0-5C1D-6C54-9B05-A54B052D2A6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2861" y="1980671"/>
            <a:ext cx="995825" cy="1272770"/>
          </a:xfrm>
          <a:prstGeom prst="rect">
            <a:avLst/>
          </a:prstGeom>
          <a:noFill/>
          <a:extLst>
            <a:ext uri="{909E8E84-426E-40DD-AFC4-6F175D3DCCD1}">
              <a14:hiddenFill xmlns:a14="http://schemas.microsoft.com/office/drawing/2010/main">
                <a:solidFill>
                  <a:srgbClr val="FFFFFF"/>
                </a:solidFill>
              </a14:hiddenFill>
            </a:ext>
          </a:extLst>
        </p:spPr>
      </p:pic>
      <p:sp>
        <p:nvSpPr>
          <p:cNvPr id="14" name="Google Shape;237;p39">
            <a:extLst>
              <a:ext uri="{FF2B5EF4-FFF2-40B4-BE49-F238E27FC236}">
                <a16:creationId xmlns:a16="http://schemas.microsoft.com/office/drawing/2014/main" id="{F87C0CCB-BAF6-7873-BF1A-0F26725289EA}"/>
              </a:ext>
            </a:extLst>
          </p:cNvPr>
          <p:cNvSpPr txBox="1">
            <a:spLocks noGrp="1"/>
          </p:cNvSpPr>
          <p:nvPr>
            <p:ph type="subTitle" idx="1"/>
          </p:nvPr>
        </p:nvSpPr>
        <p:spPr>
          <a:xfrm>
            <a:off x="151200" y="4581785"/>
            <a:ext cx="8325853" cy="630000"/>
          </a:xfrm>
          <a:prstGeom prst="rect">
            <a:avLst/>
          </a:prstGeom>
        </p:spPr>
        <p:txBody>
          <a:bodyPr spcFirstLastPara="1" wrap="square" lIns="91425" tIns="91425" rIns="91425" bIns="91425" anchor="t" anchorCtr="0">
            <a:normAutofit fontScale="92500"/>
          </a:bodyPr>
          <a:lstStyle/>
          <a:p>
            <a:pPr marL="0" lvl="0" indent="0" algn="l" rtl="0">
              <a:spcBef>
                <a:spcPts val="0"/>
              </a:spcBef>
              <a:spcAft>
                <a:spcPts val="0"/>
              </a:spcAft>
              <a:buNone/>
            </a:pPr>
            <a:r>
              <a:rPr lang="en" sz="2400" dirty="0">
                <a:solidFill>
                  <a:schemeClr val="dk1"/>
                </a:solidFill>
              </a:rPr>
              <a:t>Brian McGreal						bmcgreal@uw.edu</a:t>
            </a:r>
            <a:endParaRPr sz="2400" dirty="0">
              <a:solidFill>
                <a:schemeClr val="dk1"/>
              </a:solidFill>
            </a:endParaRPr>
          </a:p>
        </p:txBody>
      </p:sp>
      <p:pic>
        <p:nvPicPr>
          <p:cNvPr id="18" name="Picture 17">
            <a:extLst>
              <a:ext uri="{FF2B5EF4-FFF2-40B4-BE49-F238E27FC236}">
                <a16:creationId xmlns:a16="http://schemas.microsoft.com/office/drawing/2014/main" id="{C32A83CC-5AC1-88C6-DC7D-740945BC1099}"/>
              </a:ext>
            </a:extLst>
          </p:cNvPr>
          <p:cNvPicPr>
            <a:picLocks noChangeAspect="1"/>
          </p:cNvPicPr>
          <p:nvPr/>
        </p:nvPicPr>
        <p:blipFill>
          <a:blip r:embed="rId8"/>
          <a:stretch>
            <a:fillRect/>
          </a:stretch>
        </p:blipFill>
        <p:spPr>
          <a:xfrm>
            <a:off x="919080" y="1993582"/>
            <a:ext cx="1324074" cy="1272769"/>
          </a:xfrm>
          <a:prstGeom prst="rect">
            <a:avLst/>
          </a:prstGeom>
        </p:spPr>
      </p:pic>
      <p:pic>
        <p:nvPicPr>
          <p:cNvPr id="16" name="Picture 15" descr="The image depicts the US Geological Survey (USGS) logo, symbolizing their commitment to science for a changing world.&#10;&#10;AI-generated content may be incorrect.">
            <a:extLst>
              <a:ext uri="{FF2B5EF4-FFF2-40B4-BE49-F238E27FC236}">
                <a16:creationId xmlns:a16="http://schemas.microsoft.com/office/drawing/2014/main" id="{F1478362-9E63-DD30-4961-5A8EF74B29A7}"/>
              </a:ext>
            </a:extLst>
          </p:cNvPr>
          <p:cNvPicPr>
            <a:picLocks noChangeAspect="1"/>
          </p:cNvPicPr>
          <p:nvPr/>
        </p:nvPicPr>
        <p:blipFill>
          <a:blip r:embed="rId9"/>
          <a:stretch>
            <a:fillRect/>
          </a:stretch>
        </p:blipFill>
        <p:spPr>
          <a:xfrm>
            <a:off x="4402612" y="3380998"/>
            <a:ext cx="1629426" cy="598924"/>
          </a:xfrm>
          <a:prstGeom prst="rect">
            <a:avLst/>
          </a:prstGeom>
        </p:spPr>
      </p:pic>
      <p:pic>
        <p:nvPicPr>
          <p:cNvPr id="17" name="Picture 16" descr="The image depicts the Oregon State University emblem, featuring a bear and the university's acronym, surrounded by the year 1868.&#10;&#10;AI-generated content may be incorrect.">
            <a:extLst>
              <a:ext uri="{FF2B5EF4-FFF2-40B4-BE49-F238E27FC236}">
                <a16:creationId xmlns:a16="http://schemas.microsoft.com/office/drawing/2014/main" id="{080FD3C7-4CC4-9BEA-5A9B-10F1526620EC}"/>
              </a:ext>
            </a:extLst>
          </p:cNvPr>
          <p:cNvPicPr>
            <a:picLocks noChangeAspect="1"/>
          </p:cNvPicPr>
          <p:nvPr/>
        </p:nvPicPr>
        <p:blipFill>
          <a:blip r:embed="rId10"/>
          <a:stretch>
            <a:fillRect/>
          </a:stretch>
        </p:blipFill>
        <p:spPr>
          <a:xfrm>
            <a:off x="6374910" y="1980672"/>
            <a:ext cx="1211897" cy="1272769"/>
          </a:xfrm>
          <a:prstGeom prst="rect">
            <a:avLst/>
          </a:prstGeom>
        </p:spPr>
      </p:pic>
    </p:spTree>
    <p:extLst>
      <p:ext uri="{BB962C8B-B14F-4D97-AF65-F5344CB8AC3E}">
        <p14:creationId xmlns:p14="http://schemas.microsoft.com/office/powerpoint/2010/main" val="26098897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5D77DDE-B6C7-9F94-A052-7054239E897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5DC1A87-F769-B04F-3CD1-AE81C47B2B45}"/>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7018A5B-AF99-A522-2BE9-909CB2544BC2}"/>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A15A7EB-CD7F-3A41-D20D-271A5D24DF45}"/>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0C0B9039-7D10-B440-526F-42EA64F35BA0}"/>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bg1"/>
                </a:solidFill>
              </a:rPr>
              <a:t>Background</a:t>
            </a:r>
          </a:p>
          <a:p>
            <a:pPr marL="742950" indent="-742950">
              <a:spcBef>
                <a:spcPts val="0"/>
              </a:spcBef>
              <a:buAutoNum type="arabicParenR"/>
            </a:pPr>
            <a:r>
              <a:rPr lang="en-US" sz="4200" dirty="0">
                <a:solidFill>
                  <a:schemeClr val="bg1"/>
                </a:solidFill>
              </a:rPr>
              <a:t>Data</a:t>
            </a:r>
          </a:p>
          <a:p>
            <a:pPr marL="742950" indent="-742950">
              <a:spcBef>
                <a:spcPts val="0"/>
              </a:spcBef>
              <a:buAutoNum type="arabicParenR"/>
            </a:pPr>
            <a:r>
              <a:rPr lang="en-US" sz="4200" dirty="0">
                <a:solidFill>
                  <a:schemeClr val="bg1"/>
                </a:solidFill>
              </a:rPr>
              <a:t>Analysis</a:t>
            </a:r>
          </a:p>
          <a:p>
            <a:pPr marL="742950" indent="-742950">
              <a:spcBef>
                <a:spcPts val="0"/>
              </a:spcBef>
              <a:buAutoNum type="arabicParenR"/>
            </a:pPr>
            <a:r>
              <a:rPr lang="en-US" sz="4200" dirty="0">
                <a:solidFill>
                  <a:schemeClr val="bg1"/>
                </a:solidFill>
              </a:rPr>
              <a:t>Results</a:t>
            </a:r>
          </a:p>
          <a:p>
            <a:pPr marL="742950" indent="-742950">
              <a:spcBef>
                <a:spcPts val="0"/>
              </a:spcBef>
              <a:buAutoNum type="arabicParenR"/>
            </a:pPr>
            <a:r>
              <a:rPr lang="en-US" sz="4200" dirty="0">
                <a:solidFill>
                  <a:schemeClr val="bg1"/>
                </a:solidFill>
              </a:rPr>
              <a:t>Case Studies</a:t>
            </a:r>
          </a:p>
          <a:p>
            <a:pPr marL="742950" indent="-742950">
              <a:spcBef>
                <a:spcPts val="0"/>
              </a:spcBef>
              <a:buAutoNum type="arabicParenR"/>
            </a:pPr>
            <a:r>
              <a:rPr lang="en-US" sz="4200" dirty="0">
                <a:solidFill>
                  <a:schemeClr val="bg1"/>
                </a:solidFill>
              </a:rPr>
              <a:t>Discussion</a:t>
            </a:r>
          </a:p>
        </p:txBody>
      </p:sp>
      <p:sp>
        <p:nvSpPr>
          <p:cNvPr id="8" name="Google Shape;93;p19">
            <a:extLst>
              <a:ext uri="{FF2B5EF4-FFF2-40B4-BE49-F238E27FC236}">
                <a16:creationId xmlns:a16="http://schemas.microsoft.com/office/drawing/2014/main" id="{96ADEEEA-E410-8199-E474-6984F9CCAF03}"/>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0936467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F37F664-A1B6-538E-F81D-45B87E6764F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6A30A37-15B4-7FE3-CAD5-CDBA72998700}"/>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254203A-267C-0720-6BDA-8D97D27D91B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F910FAC-9585-4461-B9CC-0A91BB8A798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46173F91-3C66-7894-356D-A9350988AF45}"/>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bg1"/>
                </a:solidFill>
              </a:rPr>
              <a:t>Background</a:t>
            </a:r>
          </a:p>
          <a:p>
            <a:pPr marL="742950" indent="-742950">
              <a:spcBef>
                <a:spcPts val="0"/>
              </a:spcBef>
              <a:buAutoNum type="arabicParenR"/>
            </a:pPr>
            <a:r>
              <a:rPr lang="en-US" sz="4200" dirty="0">
                <a:solidFill>
                  <a:schemeClr val="tx1">
                    <a:lumMod val="50000"/>
                  </a:schemeClr>
                </a:solidFill>
              </a:rPr>
              <a:t>Data</a:t>
            </a:r>
          </a:p>
          <a:p>
            <a:pPr marL="742950" indent="-742950">
              <a:spcBef>
                <a:spcPts val="0"/>
              </a:spcBef>
              <a:buAutoNum type="arabicParenR"/>
            </a:pPr>
            <a:r>
              <a:rPr lang="en-US" sz="4200" dirty="0">
                <a:solidFill>
                  <a:schemeClr val="tx1">
                    <a:lumMod val="50000"/>
                  </a:schemeClr>
                </a:solidFill>
              </a:rPr>
              <a:t>Analysis</a:t>
            </a:r>
          </a:p>
          <a:p>
            <a:pPr marL="742950" indent="-742950">
              <a:spcBef>
                <a:spcPts val="0"/>
              </a:spcBef>
              <a:buAutoNum type="arabicParenR"/>
            </a:pPr>
            <a:r>
              <a:rPr lang="en-US" sz="4200" dirty="0">
                <a:solidFill>
                  <a:schemeClr val="tx1">
                    <a:lumMod val="50000"/>
                  </a:schemeClr>
                </a:solidFill>
              </a:rPr>
              <a:t>Results</a:t>
            </a:r>
          </a:p>
          <a:p>
            <a:pPr marL="742950" indent="-742950">
              <a:spcBef>
                <a:spcPts val="0"/>
              </a:spcBef>
              <a:buAutoNum type="arabicParenR"/>
            </a:pPr>
            <a:r>
              <a:rPr lang="en-US" sz="4200" dirty="0">
                <a:solidFill>
                  <a:schemeClr val="tx1">
                    <a:lumMod val="50000"/>
                  </a:schemeClr>
                </a:solidFill>
              </a:rPr>
              <a:t>Case Studies</a:t>
            </a:r>
          </a:p>
          <a:p>
            <a:pPr marL="742950" indent="-742950">
              <a:spcBef>
                <a:spcPts val="0"/>
              </a:spcBef>
              <a:buAutoNum type="arabicParenR"/>
            </a:pPr>
            <a:r>
              <a:rPr lang="en-US" sz="4200" dirty="0">
                <a:solidFill>
                  <a:schemeClr val="tx1">
                    <a:lumMod val="50000"/>
                  </a:schemeClr>
                </a:solidFill>
              </a:rPr>
              <a:t>Discussion</a:t>
            </a:r>
          </a:p>
        </p:txBody>
      </p:sp>
      <p:sp>
        <p:nvSpPr>
          <p:cNvPr id="8" name="Google Shape;93;p19">
            <a:extLst>
              <a:ext uri="{FF2B5EF4-FFF2-40B4-BE49-F238E27FC236}">
                <a16:creationId xmlns:a16="http://schemas.microsoft.com/office/drawing/2014/main" id="{3F975431-3F99-30AE-0CD4-6B6C639C854E}"/>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5255168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6EA7A056-1991-2066-9DFF-5961B15D91C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E546985-B3B2-EFE4-7FA7-4AD649B7CEB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D75C8A65-7653-D5A0-F51F-475C961791A0}"/>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43F6FA7-FFE5-ABEB-CEF8-9BCA868B2D0C}"/>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8A2F24D8-7622-3EB9-D7A6-7835F1A0EFF0}"/>
              </a:ext>
            </a:extLst>
          </p:cNvPr>
          <p:cNvSpPr txBox="1">
            <a:spLocks/>
          </p:cNvSpPr>
          <p:nvPr/>
        </p:nvSpPr>
        <p:spPr>
          <a:xfrm>
            <a:off x="-97373" y="1910560"/>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Background</a:t>
            </a:r>
          </a:p>
        </p:txBody>
      </p:sp>
      <p:sp>
        <p:nvSpPr>
          <p:cNvPr id="8" name="Google Shape;93;p19">
            <a:extLst>
              <a:ext uri="{FF2B5EF4-FFF2-40B4-BE49-F238E27FC236}">
                <a16:creationId xmlns:a16="http://schemas.microsoft.com/office/drawing/2014/main" id="{BE4096EF-6D9D-7A6D-794E-C044BA2B8022}"/>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573010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FD179C5-A645-9742-2820-06C8672E192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E50BE27-2016-B8D2-2FBD-8C34D39E2D5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82DF907-7CBA-20B4-96C1-DAAE2894B26F}"/>
              </a:ext>
            </a:extLst>
          </p:cNvPr>
          <p:cNvSpPr/>
          <p:nvPr/>
        </p:nvSpPr>
        <p:spPr>
          <a:xfrm>
            <a:off x="-364385" y="-157447"/>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D840F7E-FD94-4B4C-078C-F44B5C8F033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2E2DEFC9-6B7E-79EF-5BE6-B708A8BAD959}"/>
              </a:ext>
            </a:extLst>
          </p:cNvPr>
          <p:cNvSpPr txBox="1">
            <a:spLocks/>
          </p:cNvSpPr>
          <p:nvPr/>
        </p:nvSpPr>
        <p:spPr>
          <a:xfrm>
            <a:off x="1818021" y="2078026"/>
            <a:ext cx="4793794"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What are salmon?</a:t>
            </a:r>
          </a:p>
        </p:txBody>
      </p:sp>
      <p:sp>
        <p:nvSpPr>
          <p:cNvPr id="8" name="Google Shape;93;p19">
            <a:extLst>
              <a:ext uri="{FF2B5EF4-FFF2-40B4-BE49-F238E27FC236}">
                <a16:creationId xmlns:a16="http://schemas.microsoft.com/office/drawing/2014/main" id="{192CF1F8-36F4-3191-B350-E4ACBC7D723F}"/>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9379977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4E2CA9B-1E83-0BEC-6CE7-A43BAEE6FF2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2BDE3B7-C4DA-1DD7-CBD9-15EC2F2770B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5BCC56B4-E3D6-3C9C-BA6D-6CCFAF89220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29FAA03-D9C5-3437-3608-CCAE23444BF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0F36653C-FC4F-3831-A229-B8C9CFE0F24E}"/>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What are salmon?</a:t>
            </a:r>
          </a:p>
        </p:txBody>
      </p:sp>
      <p:sp>
        <p:nvSpPr>
          <p:cNvPr id="8" name="Google Shape;93;p19">
            <a:extLst>
              <a:ext uri="{FF2B5EF4-FFF2-40B4-BE49-F238E27FC236}">
                <a16:creationId xmlns:a16="http://schemas.microsoft.com/office/drawing/2014/main" id="{4600F444-5CB7-41C5-3FB0-283B3DA03CD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200" dirty="0">
                <a:solidFill>
                  <a:schemeClr val="bg1"/>
                </a:solidFill>
              </a:rPr>
              <a:t>	</a:t>
            </a:r>
            <a:endParaRPr lang="en-US" sz="1900" dirty="0">
              <a:solidFill>
                <a:schemeClr val="bg1"/>
              </a:solidFill>
            </a:endParaRPr>
          </a:p>
        </p:txBody>
      </p:sp>
      <p:pic>
        <p:nvPicPr>
          <p:cNvPr id="10" name="Picture 9">
            <a:extLst>
              <a:ext uri="{FF2B5EF4-FFF2-40B4-BE49-F238E27FC236}">
                <a16:creationId xmlns:a16="http://schemas.microsoft.com/office/drawing/2014/main" id="{770DC92D-D8A0-104C-4007-72F182376418}"/>
              </a:ext>
            </a:extLst>
          </p:cNvPr>
          <p:cNvPicPr>
            <a:picLocks noChangeAspect="1"/>
          </p:cNvPicPr>
          <p:nvPr/>
        </p:nvPicPr>
        <p:blipFill>
          <a:blip r:embed="rId4"/>
          <a:stretch>
            <a:fillRect/>
          </a:stretch>
        </p:blipFill>
        <p:spPr>
          <a:xfrm>
            <a:off x="823932" y="1152475"/>
            <a:ext cx="6677989" cy="3756369"/>
          </a:xfrm>
          <a:prstGeom prst="rect">
            <a:avLst/>
          </a:prstGeom>
        </p:spPr>
      </p:pic>
      <p:sp>
        <p:nvSpPr>
          <p:cNvPr id="11" name="TextBox 10">
            <a:extLst>
              <a:ext uri="{FF2B5EF4-FFF2-40B4-BE49-F238E27FC236}">
                <a16:creationId xmlns:a16="http://schemas.microsoft.com/office/drawing/2014/main" id="{C15A573E-D18A-CA8D-159E-D63F1CEA28F2}"/>
              </a:ext>
            </a:extLst>
          </p:cNvPr>
          <p:cNvSpPr txBox="1"/>
          <p:nvPr/>
        </p:nvSpPr>
        <p:spPr>
          <a:xfrm>
            <a:off x="6102057" y="489727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Animalia</a:t>
            </a:r>
          </a:p>
        </p:txBody>
      </p:sp>
    </p:spTree>
    <p:extLst>
      <p:ext uri="{BB962C8B-B14F-4D97-AF65-F5344CB8AC3E}">
        <p14:creationId xmlns:p14="http://schemas.microsoft.com/office/powerpoint/2010/main" val="39875237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7CF8BDA-8592-D04F-6FD3-B7656A122A2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8B23CCD-0D1B-B44A-0657-9FCD731385E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82EA130-52D3-61B3-95B1-CC65E17A711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B494873-7608-EB8E-7BDA-52B741B600E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00C4E8B-B3E1-C348-AF2F-A3BEA62A54D9}"/>
              </a:ext>
            </a:extLst>
          </p:cNvPr>
          <p:cNvSpPr txBox="1">
            <a:spLocks/>
          </p:cNvSpPr>
          <p:nvPr/>
        </p:nvSpPr>
        <p:spPr>
          <a:xfrm>
            <a:off x="754152" y="2078026"/>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Why salmon are important?</a:t>
            </a:r>
          </a:p>
        </p:txBody>
      </p:sp>
      <p:sp>
        <p:nvSpPr>
          <p:cNvPr id="8" name="Google Shape;93;p19">
            <a:extLst>
              <a:ext uri="{FF2B5EF4-FFF2-40B4-BE49-F238E27FC236}">
                <a16:creationId xmlns:a16="http://schemas.microsoft.com/office/drawing/2014/main" id="{815CA128-5CB0-4A25-E64B-4186C3F0075D}"/>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2573852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1E057C8-A6C9-5E54-F3BC-620D7FC95C6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FDC6DAB-3B42-A9BE-F854-9131DE600CE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4FF10F4-866C-882F-2BC6-9FEA78AFF69D}"/>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067A799-98FB-26A5-A7B5-950C31C431E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8F7B752-EF95-2408-C0E4-A718EBECAC3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Why salmon are important?</a:t>
            </a:r>
          </a:p>
        </p:txBody>
      </p:sp>
      <p:pic>
        <p:nvPicPr>
          <p:cNvPr id="4" name="Picture 3">
            <a:extLst>
              <a:ext uri="{FF2B5EF4-FFF2-40B4-BE49-F238E27FC236}">
                <a16:creationId xmlns:a16="http://schemas.microsoft.com/office/drawing/2014/main" id="{2B99203F-F2B8-7B1D-4B09-896BC00058C0}"/>
              </a:ext>
            </a:extLst>
          </p:cNvPr>
          <p:cNvPicPr>
            <a:picLocks noChangeAspect="1"/>
          </p:cNvPicPr>
          <p:nvPr/>
        </p:nvPicPr>
        <p:blipFill>
          <a:blip r:embed="rId4"/>
          <a:srcRect l="31994" r="20660"/>
          <a:stretch>
            <a:fillRect/>
          </a:stretch>
        </p:blipFill>
        <p:spPr>
          <a:xfrm>
            <a:off x="736600" y="1322386"/>
            <a:ext cx="2095500" cy="3319463"/>
          </a:xfrm>
          <a:prstGeom prst="rect">
            <a:avLst/>
          </a:prstGeom>
        </p:spPr>
      </p:pic>
      <p:sp>
        <p:nvSpPr>
          <p:cNvPr id="9" name="TextBox 8">
            <a:extLst>
              <a:ext uri="{FF2B5EF4-FFF2-40B4-BE49-F238E27FC236}">
                <a16:creationId xmlns:a16="http://schemas.microsoft.com/office/drawing/2014/main" id="{F7852F6C-02B5-E436-8248-819FCCBEC46D}"/>
              </a:ext>
            </a:extLst>
          </p:cNvPr>
          <p:cNvSpPr txBox="1"/>
          <p:nvPr/>
        </p:nvSpPr>
        <p:spPr>
          <a:xfrm>
            <a:off x="736600" y="464184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Jean Beaufort</a:t>
            </a:r>
          </a:p>
        </p:txBody>
      </p:sp>
    </p:spTree>
    <p:extLst>
      <p:ext uri="{BB962C8B-B14F-4D97-AF65-F5344CB8AC3E}">
        <p14:creationId xmlns:p14="http://schemas.microsoft.com/office/powerpoint/2010/main" val="29307657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4CDD967-B9A7-7244-5127-9A0CF54BD3C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CD5AAC8-E9FE-9291-FFCA-03B549DFCBD5}"/>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45C2A9D5-FE8E-4516-C41E-15EF6F350B90}"/>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D608C30-FE4A-5E5F-C5A6-FD1710463A4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89CE50E6-7F72-9B6A-2158-9824D3C1845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Why salmon are important?</a:t>
            </a:r>
          </a:p>
        </p:txBody>
      </p:sp>
      <p:pic>
        <p:nvPicPr>
          <p:cNvPr id="2" name="Picture 1">
            <a:extLst>
              <a:ext uri="{FF2B5EF4-FFF2-40B4-BE49-F238E27FC236}">
                <a16:creationId xmlns:a16="http://schemas.microsoft.com/office/drawing/2014/main" id="{9B09ADB9-7287-EDAE-5BFB-A697F0A582E1}"/>
              </a:ext>
            </a:extLst>
          </p:cNvPr>
          <p:cNvPicPr>
            <a:picLocks noChangeAspect="1"/>
          </p:cNvPicPr>
          <p:nvPr/>
        </p:nvPicPr>
        <p:blipFill>
          <a:blip r:embed="rId4"/>
          <a:srcRect l="31994" r="20660"/>
          <a:stretch>
            <a:fillRect/>
          </a:stretch>
        </p:blipFill>
        <p:spPr>
          <a:xfrm>
            <a:off x="736600" y="1322386"/>
            <a:ext cx="2095500" cy="3319463"/>
          </a:xfrm>
          <a:prstGeom prst="rect">
            <a:avLst/>
          </a:prstGeom>
        </p:spPr>
      </p:pic>
      <p:pic>
        <p:nvPicPr>
          <p:cNvPr id="9" name="Picture 8">
            <a:extLst>
              <a:ext uri="{FF2B5EF4-FFF2-40B4-BE49-F238E27FC236}">
                <a16:creationId xmlns:a16="http://schemas.microsoft.com/office/drawing/2014/main" id="{A31BCBA6-F331-C1EB-1339-6C2D7A1ED513}"/>
              </a:ext>
            </a:extLst>
          </p:cNvPr>
          <p:cNvPicPr>
            <a:picLocks noChangeAspect="1"/>
          </p:cNvPicPr>
          <p:nvPr/>
        </p:nvPicPr>
        <p:blipFill>
          <a:blip r:embed="rId5"/>
          <a:srcRect l="15133" r="37758"/>
          <a:stretch>
            <a:fillRect/>
          </a:stretch>
        </p:blipFill>
        <p:spPr>
          <a:xfrm>
            <a:off x="3128210" y="1320522"/>
            <a:ext cx="2095500" cy="3321327"/>
          </a:xfrm>
          <a:prstGeom prst="rect">
            <a:avLst/>
          </a:prstGeom>
        </p:spPr>
      </p:pic>
      <p:sp>
        <p:nvSpPr>
          <p:cNvPr id="10" name="TextBox 9">
            <a:extLst>
              <a:ext uri="{FF2B5EF4-FFF2-40B4-BE49-F238E27FC236}">
                <a16:creationId xmlns:a16="http://schemas.microsoft.com/office/drawing/2014/main" id="{664192EC-999F-8464-3EDE-8CA2F7DFA6F7}"/>
              </a:ext>
            </a:extLst>
          </p:cNvPr>
          <p:cNvSpPr txBox="1"/>
          <p:nvPr/>
        </p:nvSpPr>
        <p:spPr>
          <a:xfrm>
            <a:off x="3128210" y="464184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Robert Jago</a:t>
            </a:r>
          </a:p>
        </p:txBody>
      </p:sp>
    </p:spTree>
    <p:extLst>
      <p:ext uri="{BB962C8B-B14F-4D97-AF65-F5344CB8AC3E}">
        <p14:creationId xmlns:p14="http://schemas.microsoft.com/office/powerpoint/2010/main" val="118405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927027F-E349-1B31-8156-BD94688540A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C96EBCE-40A9-B51C-DCCF-B6E8A688AEA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2D6E9B6F-9A1C-4C88-672E-E96F1F51262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72B93A8-FF29-DA1C-D5AD-D39D8E982C3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8FD0C06F-44DC-A5D6-F343-D309A3D7B92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Why salmon are important?</a:t>
            </a:r>
          </a:p>
        </p:txBody>
      </p:sp>
      <p:pic>
        <p:nvPicPr>
          <p:cNvPr id="2" name="Picture 1">
            <a:extLst>
              <a:ext uri="{FF2B5EF4-FFF2-40B4-BE49-F238E27FC236}">
                <a16:creationId xmlns:a16="http://schemas.microsoft.com/office/drawing/2014/main" id="{9A19FD38-2112-AF21-C83D-ECBD5082FC74}"/>
              </a:ext>
            </a:extLst>
          </p:cNvPr>
          <p:cNvPicPr>
            <a:picLocks noChangeAspect="1"/>
          </p:cNvPicPr>
          <p:nvPr/>
        </p:nvPicPr>
        <p:blipFill>
          <a:blip r:embed="rId4"/>
          <a:srcRect l="31994" r="20660"/>
          <a:stretch>
            <a:fillRect/>
          </a:stretch>
        </p:blipFill>
        <p:spPr>
          <a:xfrm>
            <a:off x="736600" y="1322386"/>
            <a:ext cx="2095500" cy="3319463"/>
          </a:xfrm>
          <a:prstGeom prst="rect">
            <a:avLst/>
          </a:prstGeom>
        </p:spPr>
      </p:pic>
      <p:pic>
        <p:nvPicPr>
          <p:cNvPr id="4" name="Picture 3">
            <a:extLst>
              <a:ext uri="{FF2B5EF4-FFF2-40B4-BE49-F238E27FC236}">
                <a16:creationId xmlns:a16="http://schemas.microsoft.com/office/drawing/2014/main" id="{CE9A8769-B956-5458-341E-3DADED242763}"/>
              </a:ext>
            </a:extLst>
          </p:cNvPr>
          <p:cNvPicPr>
            <a:picLocks noChangeAspect="1"/>
          </p:cNvPicPr>
          <p:nvPr/>
        </p:nvPicPr>
        <p:blipFill>
          <a:blip r:embed="rId5"/>
          <a:srcRect l="15133" r="37758"/>
          <a:stretch>
            <a:fillRect/>
          </a:stretch>
        </p:blipFill>
        <p:spPr>
          <a:xfrm>
            <a:off x="3128210" y="1320522"/>
            <a:ext cx="2095500" cy="3321327"/>
          </a:xfrm>
          <a:prstGeom prst="rect">
            <a:avLst/>
          </a:prstGeom>
        </p:spPr>
      </p:pic>
      <p:pic>
        <p:nvPicPr>
          <p:cNvPr id="10" name="Picture 9">
            <a:extLst>
              <a:ext uri="{FF2B5EF4-FFF2-40B4-BE49-F238E27FC236}">
                <a16:creationId xmlns:a16="http://schemas.microsoft.com/office/drawing/2014/main" id="{A608035E-6018-BF88-CCD9-72D35E33762D}"/>
              </a:ext>
            </a:extLst>
          </p:cNvPr>
          <p:cNvPicPr>
            <a:picLocks noChangeAspect="1"/>
          </p:cNvPicPr>
          <p:nvPr/>
        </p:nvPicPr>
        <p:blipFill>
          <a:blip r:embed="rId6"/>
          <a:srcRect l="9583" r="53720"/>
          <a:stretch>
            <a:fillRect/>
          </a:stretch>
        </p:blipFill>
        <p:spPr>
          <a:xfrm>
            <a:off x="5519820" y="1320521"/>
            <a:ext cx="2095500" cy="3321327"/>
          </a:xfrm>
          <a:prstGeom prst="rect">
            <a:avLst/>
          </a:prstGeom>
        </p:spPr>
      </p:pic>
      <p:sp>
        <p:nvSpPr>
          <p:cNvPr id="11" name="TextBox 10">
            <a:extLst>
              <a:ext uri="{FF2B5EF4-FFF2-40B4-BE49-F238E27FC236}">
                <a16:creationId xmlns:a16="http://schemas.microsoft.com/office/drawing/2014/main" id="{D24B0674-1585-46A0-95AE-37384C5A1D0F}"/>
              </a:ext>
            </a:extLst>
          </p:cNvPr>
          <p:cNvSpPr txBox="1"/>
          <p:nvPr/>
        </p:nvSpPr>
        <p:spPr>
          <a:xfrm>
            <a:off x="5519820" y="4641848"/>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a:t>
            </a:r>
            <a:r>
              <a:rPr lang="en-US" sz="1000" dirty="0" err="1">
                <a:solidFill>
                  <a:schemeClr val="bg1">
                    <a:lumMod val="65000"/>
                    <a:lumOff val="35000"/>
                  </a:schemeClr>
                </a:solidFill>
              </a:rPr>
              <a:t>CoastAlaska</a:t>
            </a:r>
            <a:r>
              <a:rPr lang="en-US" sz="1000" dirty="0">
                <a:solidFill>
                  <a:schemeClr val="bg1">
                    <a:lumMod val="65000"/>
                    <a:lumOff val="35000"/>
                  </a:schemeClr>
                </a:solidFill>
              </a:rPr>
              <a:t> News</a:t>
            </a:r>
          </a:p>
        </p:txBody>
      </p:sp>
    </p:spTree>
    <p:extLst>
      <p:ext uri="{BB962C8B-B14F-4D97-AF65-F5344CB8AC3E}">
        <p14:creationId xmlns:p14="http://schemas.microsoft.com/office/powerpoint/2010/main" val="11082771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666D5F6-6B83-FE7F-23E0-A58742E5CF0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F741B87-7744-DA6B-BDB0-C91064C17570}"/>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3F39E5A-F4E3-1500-5A28-A2A609003C7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F3956D0-3A71-F869-16B3-E26BCDDC6A6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A40F0A5-0F48-E56D-E64A-1C3713069E0F}"/>
              </a:ext>
            </a:extLst>
          </p:cNvPr>
          <p:cNvSpPr txBox="1">
            <a:spLocks/>
          </p:cNvSpPr>
          <p:nvPr/>
        </p:nvSpPr>
        <p:spPr>
          <a:xfrm>
            <a:off x="754152" y="2078026"/>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F0593D35-A63F-3BA1-8738-08F6EAE13D23}"/>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35654346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2BAF18B-351B-6CB9-CE77-8430827B218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1713EA3-4E73-8331-3D5F-020796E6BD6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4B4ED670-BB75-3EF8-226A-488FC22630A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6CC26D1-946D-EDBD-0156-75CE409FE57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14E0689B-191E-EB57-C814-49ACF8D229EC}"/>
              </a:ext>
            </a:extLst>
          </p:cNvPr>
          <p:cNvSpPr txBox="1">
            <a:spLocks/>
          </p:cNvSpPr>
          <p:nvPr/>
        </p:nvSpPr>
        <p:spPr>
          <a:xfrm>
            <a:off x="754152" y="2078026"/>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Not great</a:t>
            </a:r>
          </a:p>
        </p:txBody>
      </p:sp>
      <p:sp>
        <p:nvSpPr>
          <p:cNvPr id="8" name="Google Shape;93;p19">
            <a:extLst>
              <a:ext uri="{FF2B5EF4-FFF2-40B4-BE49-F238E27FC236}">
                <a16:creationId xmlns:a16="http://schemas.microsoft.com/office/drawing/2014/main" id="{51813D84-3D9C-7E5D-3829-CBC8AC3DCD75}"/>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38341844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DB20C72-CF4E-0BA8-41A3-273CD8D2703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F29C71A-7ADC-72F2-5726-9614D8E6A0B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3CF7DD40-3B15-F8F4-B215-7ED9B4A45A3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3B21B7D-5071-4B9C-D5D6-96BFB8AA2B7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214EFB66-5E50-9EE2-D0DC-69C60604359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162ADB55-CE9E-435D-72F1-C08D74A017FA}"/>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great in the lower 48</a:t>
            </a:r>
          </a:p>
          <a:p>
            <a:pPr>
              <a:spcBef>
                <a:spcPts val="0"/>
              </a:spcBef>
              <a:spcAft>
                <a:spcPts val="0"/>
              </a:spcAft>
            </a:pPr>
            <a:r>
              <a:rPr lang="en-US" sz="22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33553407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74ABA57-5EBC-A11E-67A2-4E2670CF67B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128AC4A-DD8A-BAA1-016C-47F3BB7D11D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CB1DCF0-E655-721B-7A32-9DDC8A87E11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EDC9359-88C2-38BD-F682-AF27669E965F}"/>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612743D6-351C-F1AE-E7D4-2B53DF0F4ADA}"/>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F2D91632-0D34-A681-EBB8-9EA25C51574B}"/>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great in the lower 48</a:t>
            </a:r>
          </a:p>
          <a:p>
            <a:pPr>
              <a:spcBef>
                <a:spcPts val="0"/>
              </a:spcBef>
              <a:spcAft>
                <a:spcPts val="0"/>
              </a:spcAft>
            </a:pPr>
            <a:r>
              <a:rPr lang="en-US" sz="2200" dirty="0">
                <a:solidFill>
                  <a:schemeClr val="bg1"/>
                </a:solidFill>
              </a:rPr>
              <a:t>	</a:t>
            </a:r>
            <a:r>
              <a:rPr lang="en-US" sz="1800" dirty="0">
                <a:solidFill>
                  <a:schemeClr val="bg1"/>
                </a:solidFill>
              </a:rPr>
              <a:t>28 ESU/DPSs listed as endangered or 	threatened </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208724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9CC4BE1-7C47-B0F1-1B3F-F5924CB259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C754284-58D8-FF50-3F6E-7D1BF3C6DBD2}"/>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CE7654A-24B1-4AAE-1BAD-CAFF9FC1266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99E0EF6-A66F-50CF-EFD4-306DCDD09F59}"/>
              </a:ext>
            </a:extLst>
          </p:cNvPr>
          <p:cNvSpPr/>
          <p:nvPr/>
        </p:nvSpPr>
        <p:spPr>
          <a:xfrm>
            <a:off x="-91439" y="-106224"/>
            <a:ext cx="9235440"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6B290FBA-F905-FDD0-F73D-7011A9A35074}"/>
              </a:ext>
            </a:extLst>
          </p:cNvPr>
          <p:cNvPicPr>
            <a:picLocks noChangeAspect="1"/>
          </p:cNvPicPr>
          <p:nvPr/>
        </p:nvPicPr>
        <p:blipFill>
          <a:blip r:embed="rId4"/>
          <a:stretch>
            <a:fillRect/>
          </a:stretch>
        </p:blipFill>
        <p:spPr>
          <a:xfrm>
            <a:off x="1658975" y="0"/>
            <a:ext cx="5826050" cy="5143500"/>
          </a:xfrm>
          <a:prstGeom prst="rect">
            <a:avLst/>
          </a:prstGeom>
        </p:spPr>
      </p:pic>
      <p:sp>
        <p:nvSpPr>
          <p:cNvPr id="4" name="TextBox 3">
            <a:extLst>
              <a:ext uri="{FF2B5EF4-FFF2-40B4-BE49-F238E27FC236}">
                <a16:creationId xmlns:a16="http://schemas.microsoft.com/office/drawing/2014/main" id="{7899C85D-A989-AA16-4976-A1B6CB7F6C13}"/>
              </a:ext>
            </a:extLst>
          </p:cNvPr>
          <p:cNvSpPr txBox="1"/>
          <p:nvPr/>
        </p:nvSpPr>
        <p:spPr>
          <a:xfrm>
            <a:off x="5589825" y="4931838"/>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NOAA Fisheries</a:t>
            </a:r>
          </a:p>
        </p:txBody>
      </p:sp>
    </p:spTree>
    <p:extLst>
      <p:ext uri="{BB962C8B-B14F-4D97-AF65-F5344CB8AC3E}">
        <p14:creationId xmlns:p14="http://schemas.microsoft.com/office/powerpoint/2010/main" val="446311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2161133-FEB4-9328-BFCC-FBAE422B5CB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E672A73-FFFF-832A-D454-E29028606315}"/>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F6413E7-0351-007E-209C-8252F724243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D988BEE-CA13-924E-CF2A-6B95D62B197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E4F5C2A3-B4CB-FBC3-D1CD-9B1D66335283}"/>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25C86FCF-7134-5862-FCEC-C52E7ABF16C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great in the lower 48</a:t>
            </a:r>
          </a:p>
          <a:p>
            <a:pPr>
              <a:spcBef>
                <a:spcPts val="0"/>
              </a:spcBef>
              <a:spcAft>
                <a:spcPts val="0"/>
              </a:spcAft>
            </a:pPr>
            <a:r>
              <a:rPr lang="en-US" sz="2200" dirty="0">
                <a:solidFill>
                  <a:schemeClr val="bg1"/>
                </a:solidFill>
              </a:rPr>
              <a:t>	</a:t>
            </a:r>
            <a:r>
              <a:rPr lang="en-US" sz="1800" dirty="0">
                <a:solidFill>
                  <a:schemeClr val="bg1"/>
                </a:solidFill>
              </a:rPr>
              <a:t>28 ESU/DPSs listed as endangered or 	threatened </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13 in Columbia Basin</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5017552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E96831B-7333-B903-C3F7-379847C49DA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76DD6B3-350E-AB06-C206-4B579D7FDE3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2E13B227-0A3B-B58E-8117-4F685A44239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6D9B3C6-8D14-9641-8669-D17F899C223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1276D907-CFF2-CE45-82FA-2188759A23C9}"/>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63C27567-3A0A-DF47-30EF-8EA5CA803F5A}"/>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great in the lower 48</a:t>
            </a:r>
          </a:p>
          <a:p>
            <a:pPr>
              <a:spcBef>
                <a:spcPts val="0"/>
              </a:spcBef>
              <a:spcAft>
                <a:spcPts val="0"/>
              </a:spcAft>
            </a:pPr>
            <a:r>
              <a:rPr lang="en-US" sz="2200" dirty="0">
                <a:solidFill>
                  <a:schemeClr val="bg1"/>
                </a:solidFill>
              </a:rPr>
              <a:t>	</a:t>
            </a:r>
            <a:r>
              <a:rPr lang="en-US" sz="1800" dirty="0">
                <a:solidFill>
                  <a:schemeClr val="bg1"/>
                </a:solidFill>
              </a:rPr>
              <a:t>28 ESU/DPSs listed as endangered or 	threatened </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13 in Columbia Basin</a:t>
            </a:r>
          </a:p>
          <a:p>
            <a:pPr>
              <a:spcBef>
                <a:spcPts val="0"/>
              </a:spcBef>
              <a:spcAft>
                <a:spcPts val="0"/>
              </a:spcAft>
            </a:pPr>
            <a:endParaRPr lang="en-US" sz="1800" dirty="0">
              <a:solidFill>
                <a:schemeClr val="bg1"/>
              </a:solidFill>
            </a:endParaRPr>
          </a:p>
          <a:p>
            <a:pPr>
              <a:spcBef>
                <a:spcPts val="0"/>
              </a:spcBef>
              <a:spcAft>
                <a:spcPts val="0"/>
              </a:spcAft>
            </a:pPr>
            <a:r>
              <a:rPr lang="en-US" sz="2600" dirty="0">
                <a:solidFill>
                  <a:schemeClr val="bg1"/>
                </a:solidFill>
              </a:rPr>
              <a:t>Despite restoration efforts</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22055686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B3A55A7-64FF-9275-1CCB-172E1BFD810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D4E3B0A-8D55-764B-990D-F9A80BA124D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1CF7696-EE9C-5B83-C4B1-7AF235834F9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7652C3E-C52D-BBEF-371F-7483CB996D7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ED5E8AAB-F85F-9357-080E-F8A33BED0726}"/>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2C80C721-37DB-DE0C-B728-9393C5D458B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great in the lower 48</a:t>
            </a:r>
          </a:p>
          <a:p>
            <a:pPr>
              <a:spcBef>
                <a:spcPts val="0"/>
              </a:spcBef>
              <a:spcAft>
                <a:spcPts val="0"/>
              </a:spcAft>
            </a:pPr>
            <a:r>
              <a:rPr lang="en-US" sz="2200" dirty="0">
                <a:solidFill>
                  <a:schemeClr val="bg1"/>
                </a:solidFill>
              </a:rPr>
              <a:t>	</a:t>
            </a:r>
            <a:r>
              <a:rPr lang="en-US" sz="1800" dirty="0">
                <a:solidFill>
                  <a:schemeClr val="bg1"/>
                </a:solidFill>
              </a:rPr>
              <a:t>28 ESU/DPSs listed as endangered or 	threatened </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13 in Columbia Basin</a:t>
            </a:r>
          </a:p>
          <a:p>
            <a:pPr>
              <a:spcBef>
                <a:spcPts val="0"/>
              </a:spcBef>
              <a:spcAft>
                <a:spcPts val="0"/>
              </a:spcAft>
            </a:pPr>
            <a:endParaRPr lang="en-US" sz="1800" dirty="0">
              <a:solidFill>
                <a:schemeClr val="bg1"/>
              </a:solidFill>
            </a:endParaRPr>
          </a:p>
          <a:p>
            <a:pPr>
              <a:spcBef>
                <a:spcPts val="0"/>
              </a:spcBef>
              <a:spcAft>
                <a:spcPts val="0"/>
              </a:spcAft>
            </a:pPr>
            <a:r>
              <a:rPr lang="en-US" sz="2600" dirty="0">
                <a:solidFill>
                  <a:schemeClr val="bg1"/>
                </a:solidFill>
              </a:rPr>
              <a:t>Despite restoration efforts</a:t>
            </a:r>
          </a:p>
          <a:p>
            <a:pPr>
              <a:spcBef>
                <a:spcPts val="0"/>
              </a:spcBef>
              <a:spcAft>
                <a:spcPts val="0"/>
              </a:spcAft>
            </a:pPr>
            <a:r>
              <a:rPr lang="en-US" sz="1800" dirty="0">
                <a:solidFill>
                  <a:schemeClr val="bg1"/>
                </a:solidFill>
              </a:rPr>
              <a:t>	$ 9 billion spent in Columbia Basin 	since 1990s</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4173248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785AF92-952F-F46A-C1AB-D8838B2C603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388C337-657F-A2D6-4825-E297FCEF3DB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AFA649D-2F49-C0F0-4AB2-55A803D3EEB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96268FB-FEB0-A2BF-8E96-D5C8BC9C558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4F45ED82-DD93-B691-FD82-4228C7AD8929}"/>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are salmon doing?</a:t>
            </a:r>
          </a:p>
        </p:txBody>
      </p:sp>
      <p:sp>
        <p:nvSpPr>
          <p:cNvPr id="8" name="Google Shape;93;p19">
            <a:extLst>
              <a:ext uri="{FF2B5EF4-FFF2-40B4-BE49-F238E27FC236}">
                <a16:creationId xmlns:a16="http://schemas.microsoft.com/office/drawing/2014/main" id="{EC7839EB-F544-B44C-489F-237D006BE2C4}"/>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great in the lower 48</a:t>
            </a:r>
          </a:p>
          <a:p>
            <a:pPr>
              <a:spcBef>
                <a:spcPts val="0"/>
              </a:spcBef>
              <a:spcAft>
                <a:spcPts val="0"/>
              </a:spcAft>
            </a:pPr>
            <a:r>
              <a:rPr lang="en-US" sz="2200" dirty="0">
                <a:solidFill>
                  <a:schemeClr val="bg1"/>
                </a:solidFill>
              </a:rPr>
              <a:t>	</a:t>
            </a:r>
            <a:r>
              <a:rPr lang="en-US" sz="1800" dirty="0">
                <a:solidFill>
                  <a:schemeClr val="bg1"/>
                </a:solidFill>
              </a:rPr>
              <a:t>28 ESU/DPSs listed as endangered or 	threatened </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13 in Columbia Basin</a:t>
            </a:r>
          </a:p>
          <a:p>
            <a:pPr>
              <a:spcBef>
                <a:spcPts val="0"/>
              </a:spcBef>
              <a:spcAft>
                <a:spcPts val="0"/>
              </a:spcAft>
            </a:pPr>
            <a:endParaRPr lang="en-US" sz="1800" dirty="0">
              <a:solidFill>
                <a:schemeClr val="bg1"/>
              </a:solidFill>
            </a:endParaRPr>
          </a:p>
          <a:p>
            <a:pPr>
              <a:spcBef>
                <a:spcPts val="0"/>
              </a:spcBef>
              <a:spcAft>
                <a:spcPts val="0"/>
              </a:spcAft>
            </a:pPr>
            <a:r>
              <a:rPr lang="en-US" sz="2600" dirty="0">
                <a:solidFill>
                  <a:schemeClr val="bg1"/>
                </a:solidFill>
              </a:rPr>
              <a:t>Despite restoration efforts</a:t>
            </a:r>
          </a:p>
          <a:p>
            <a:pPr>
              <a:spcBef>
                <a:spcPts val="0"/>
              </a:spcBef>
              <a:spcAft>
                <a:spcPts val="0"/>
              </a:spcAft>
            </a:pPr>
            <a:r>
              <a:rPr lang="en-US" sz="1800" dirty="0">
                <a:solidFill>
                  <a:schemeClr val="bg1"/>
                </a:solidFill>
              </a:rPr>
              <a:t>	$ 9 billion spent in Columbia Basin 	since 1990s</a:t>
            </a:r>
          </a:p>
          <a:p>
            <a:pPr>
              <a:spcBef>
                <a:spcPts val="0"/>
              </a:spcBef>
              <a:spcAft>
                <a:spcPts val="0"/>
              </a:spcAft>
            </a:pPr>
            <a:r>
              <a:rPr lang="en-US" sz="1800" dirty="0">
                <a:solidFill>
                  <a:schemeClr val="bg1"/>
                </a:solidFill>
              </a:rPr>
              <a:t>		Ongoing</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5918744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C9854B5-3485-1635-C6A7-AFB06698D02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447F6C1-B46C-B982-CDD3-7DEAD6ABE7C8}"/>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E5D14ED-2464-64C6-BFDD-1762FEF2FEAD}"/>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08D39E2-C163-756B-3214-EDF482AAE7E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2912039D-A23F-B542-3C05-7E43F66226AE}"/>
              </a:ext>
            </a:extLst>
          </p:cNvPr>
          <p:cNvSpPr txBox="1">
            <a:spLocks/>
          </p:cNvSpPr>
          <p:nvPr/>
        </p:nvSpPr>
        <p:spPr>
          <a:xfrm>
            <a:off x="754152" y="2078026"/>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salmon aren’t doing great?</a:t>
            </a:r>
          </a:p>
        </p:txBody>
      </p:sp>
      <p:sp>
        <p:nvSpPr>
          <p:cNvPr id="8" name="Google Shape;93;p19">
            <a:extLst>
              <a:ext uri="{FF2B5EF4-FFF2-40B4-BE49-F238E27FC236}">
                <a16:creationId xmlns:a16="http://schemas.microsoft.com/office/drawing/2014/main" id="{76A17C81-8C8F-DEE1-C442-8836918681A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2718751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1D674D1-68EA-32CA-4083-BC2E424E000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F9FBFC4-491C-DB15-7A09-15D299E29155}"/>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4A2E718-0E76-BC66-026D-769C5D66E0D7}"/>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3C700AE-2BEA-A27F-ED67-14D3D12B75A5}"/>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B5D06E59-EB87-B90E-C618-D2F017FCEE92}"/>
              </a:ext>
            </a:extLst>
          </p:cNvPr>
          <p:cNvSpPr txBox="1">
            <a:spLocks/>
          </p:cNvSpPr>
          <p:nvPr/>
        </p:nvSpPr>
        <p:spPr>
          <a:xfrm>
            <a:off x="754152" y="2078026"/>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We count them!</a:t>
            </a:r>
          </a:p>
        </p:txBody>
      </p:sp>
      <p:sp>
        <p:nvSpPr>
          <p:cNvPr id="8" name="Google Shape;93;p19">
            <a:extLst>
              <a:ext uri="{FF2B5EF4-FFF2-40B4-BE49-F238E27FC236}">
                <a16:creationId xmlns:a16="http://schemas.microsoft.com/office/drawing/2014/main" id="{DFCC14CA-F7FE-D6CC-6F04-E6E625ED93C5}"/>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304293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AEC761D-1BD9-5334-423C-FBE50400563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B140D7E-C8D7-A24B-D94A-A1C9D3CFDD2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6826050-7569-4F4E-655F-6402CF410EF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CC2271C-AFA3-0371-3A68-821F5177526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0689D1CC-EBEF-66C0-42DA-AB3088C17C30}"/>
              </a:ext>
            </a:extLst>
          </p:cNvPr>
          <p:cNvSpPr txBox="1">
            <a:spLocks/>
          </p:cNvSpPr>
          <p:nvPr/>
        </p:nvSpPr>
        <p:spPr>
          <a:xfrm>
            <a:off x="754152" y="2078026"/>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We count them!</a:t>
            </a:r>
          </a:p>
          <a:p>
            <a:pPr>
              <a:spcBef>
                <a:spcPts val="0"/>
              </a:spcBef>
            </a:pPr>
            <a:r>
              <a:rPr lang="en-US" sz="4200" dirty="0">
                <a:solidFill>
                  <a:schemeClr val="bg1"/>
                </a:solidFill>
              </a:rPr>
              <a:t>	</a:t>
            </a:r>
            <a:r>
              <a:rPr lang="en-US" sz="2800" dirty="0">
                <a:solidFill>
                  <a:schemeClr val="bg1"/>
                </a:solidFill>
              </a:rPr>
              <a:t>Well, we count some of them…</a:t>
            </a:r>
            <a:endParaRPr lang="en-US" sz="4200" dirty="0">
              <a:solidFill>
                <a:schemeClr val="bg1"/>
              </a:solidFill>
            </a:endParaRPr>
          </a:p>
        </p:txBody>
      </p:sp>
      <p:sp>
        <p:nvSpPr>
          <p:cNvPr id="8" name="Google Shape;93;p19">
            <a:extLst>
              <a:ext uri="{FF2B5EF4-FFF2-40B4-BE49-F238E27FC236}">
                <a16:creationId xmlns:a16="http://schemas.microsoft.com/office/drawing/2014/main" id="{5E0F00E9-26D2-948D-00C1-AE3C0FA668A2}"/>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38153794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69F3FA7-90B0-D74F-3729-2A3BD6A8C4A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F2DEC1E-92BB-37B4-B16E-3AE2C853458F}"/>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AA59C6CA-7B36-3E47-9D71-CB09D1EB6811}"/>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AD111B9-3826-390B-3397-10125CA993DC}"/>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2F16A25-1D63-0723-13BE-89309908A727}"/>
              </a:ext>
            </a:extLst>
          </p:cNvPr>
          <p:cNvSpPr txBox="1">
            <a:spLocks/>
          </p:cNvSpPr>
          <p:nvPr/>
        </p:nvSpPr>
        <p:spPr>
          <a:xfrm>
            <a:off x="754152" y="2078026"/>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We count them!</a:t>
            </a:r>
          </a:p>
          <a:p>
            <a:pPr>
              <a:spcBef>
                <a:spcPts val="0"/>
              </a:spcBef>
            </a:pPr>
            <a:r>
              <a:rPr lang="en-US" sz="4200" dirty="0">
                <a:solidFill>
                  <a:schemeClr val="bg1"/>
                </a:solidFill>
              </a:rPr>
              <a:t>	</a:t>
            </a:r>
            <a:r>
              <a:rPr lang="en-US" sz="2800" dirty="0">
                <a:solidFill>
                  <a:schemeClr val="bg1"/>
                </a:solidFill>
              </a:rPr>
              <a:t>Well, we count some of them…</a:t>
            </a:r>
          </a:p>
          <a:p>
            <a:pPr>
              <a:spcBef>
                <a:spcPts val="0"/>
              </a:spcBef>
            </a:pPr>
            <a:r>
              <a:rPr lang="en-US" sz="2800" dirty="0">
                <a:solidFill>
                  <a:schemeClr val="bg1"/>
                </a:solidFill>
              </a:rPr>
              <a:t>	…and make educated guesses </a:t>
            </a:r>
          </a:p>
          <a:p>
            <a:pPr>
              <a:spcBef>
                <a:spcPts val="0"/>
              </a:spcBef>
            </a:pPr>
            <a:r>
              <a:rPr lang="en-US" sz="2800" dirty="0">
                <a:solidFill>
                  <a:schemeClr val="bg1"/>
                </a:solidFill>
              </a:rPr>
              <a:t>	about the rest…</a:t>
            </a:r>
            <a:endParaRPr lang="en-US" sz="4200" dirty="0">
              <a:solidFill>
                <a:schemeClr val="bg1"/>
              </a:solidFill>
            </a:endParaRPr>
          </a:p>
        </p:txBody>
      </p:sp>
      <p:sp>
        <p:nvSpPr>
          <p:cNvPr id="8" name="Google Shape;93;p19">
            <a:extLst>
              <a:ext uri="{FF2B5EF4-FFF2-40B4-BE49-F238E27FC236}">
                <a16:creationId xmlns:a16="http://schemas.microsoft.com/office/drawing/2014/main" id="{692C4BB0-73E8-5948-A458-A85CF40CDE8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5101165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B9A2E10F-D4A4-C620-3614-CF14502DB67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2D1E89D-DB86-2BCA-3178-7F40AE28939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DD138474-47F7-6788-FE98-6779B6AC806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3484D4F-E4D3-021E-1F54-9632A53BE6D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BE67E0E-D7C0-3973-94C3-BEFBD0F3DDC3}"/>
              </a:ext>
            </a:extLst>
          </p:cNvPr>
          <p:cNvSpPr txBox="1">
            <a:spLocks/>
          </p:cNvSpPr>
          <p:nvPr/>
        </p:nvSpPr>
        <p:spPr>
          <a:xfrm>
            <a:off x="754152" y="2078026"/>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We count them!</a:t>
            </a:r>
          </a:p>
          <a:p>
            <a:pPr>
              <a:spcBef>
                <a:spcPts val="0"/>
              </a:spcBef>
            </a:pPr>
            <a:r>
              <a:rPr lang="en-US" sz="4200" dirty="0">
                <a:solidFill>
                  <a:schemeClr val="bg1"/>
                </a:solidFill>
              </a:rPr>
              <a:t>	</a:t>
            </a:r>
            <a:r>
              <a:rPr lang="en-US" sz="2800" dirty="0">
                <a:solidFill>
                  <a:schemeClr val="bg1"/>
                </a:solidFill>
              </a:rPr>
              <a:t>Well, we count some of them…</a:t>
            </a:r>
          </a:p>
          <a:p>
            <a:pPr>
              <a:spcBef>
                <a:spcPts val="0"/>
              </a:spcBef>
            </a:pPr>
            <a:r>
              <a:rPr lang="en-US" sz="2800" dirty="0">
                <a:solidFill>
                  <a:schemeClr val="bg1"/>
                </a:solidFill>
              </a:rPr>
              <a:t>	…and make educated guesses </a:t>
            </a:r>
          </a:p>
          <a:p>
            <a:pPr>
              <a:spcBef>
                <a:spcPts val="0"/>
              </a:spcBef>
            </a:pPr>
            <a:r>
              <a:rPr lang="en-US" sz="2800" dirty="0">
                <a:solidFill>
                  <a:schemeClr val="bg1"/>
                </a:solidFill>
              </a:rPr>
              <a:t>	about the rest…</a:t>
            </a:r>
          </a:p>
          <a:p>
            <a:pPr>
              <a:spcBef>
                <a:spcPts val="0"/>
              </a:spcBef>
            </a:pPr>
            <a:r>
              <a:rPr lang="en-US" sz="2800" dirty="0">
                <a:solidFill>
                  <a:schemeClr val="bg1"/>
                </a:solidFill>
              </a:rPr>
              <a:t>	… using a variety of methods</a:t>
            </a:r>
            <a:endParaRPr lang="en-US" sz="4200" dirty="0">
              <a:solidFill>
                <a:schemeClr val="bg1"/>
              </a:solidFill>
            </a:endParaRPr>
          </a:p>
        </p:txBody>
      </p:sp>
      <p:sp>
        <p:nvSpPr>
          <p:cNvPr id="8" name="Google Shape;93;p19">
            <a:extLst>
              <a:ext uri="{FF2B5EF4-FFF2-40B4-BE49-F238E27FC236}">
                <a16:creationId xmlns:a16="http://schemas.microsoft.com/office/drawing/2014/main" id="{03C02814-A657-09BC-2938-8241CB02B0F1}"/>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2197685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20BEC43-A1F7-0A1A-FAED-34E2D23E41E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02A6BB9-A3BC-6AF1-20F9-4258D1C5CC2F}"/>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A93D2FEE-ED6B-E6A7-43AD-76BA0AB0A655}"/>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022C5D8-D7D1-2343-45BC-FDB1FCDBE60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D23BD5BE-51D7-878B-6BBD-07A527ABD5A5}"/>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pic>
        <p:nvPicPr>
          <p:cNvPr id="4" name="Picture 3">
            <a:extLst>
              <a:ext uri="{FF2B5EF4-FFF2-40B4-BE49-F238E27FC236}">
                <a16:creationId xmlns:a16="http://schemas.microsoft.com/office/drawing/2014/main" id="{B4C175CE-BA84-82BB-1C53-9E9C76E0D38F}"/>
              </a:ext>
            </a:extLst>
          </p:cNvPr>
          <p:cNvPicPr>
            <a:picLocks noChangeAspect="1"/>
          </p:cNvPicPr>
          <p:nvPr/>
        </p:nvPicPr>
        <p:blipFill>
          <a:blip r:embed="rId4"/>
          <a:stretch>
            <a:fillRect/>
          </a:stretch>
        </p:blipFill>
        <p:spPr>
          <a:xfrm>
            <a:off x="2011778" y="1739634"/>
            <a:ext cx="4677410" cy="3119796"/>
          </a:xfrm>
          <a:prstGeom prst="rect">
            <a:avLst/>
          </a:prstGeom>
        </p:spPr>
      </p:pic>
      <p:sp>
        <p:nvSpPr>
          <p:cNvPr id="2" name="TextBox 1">
            <a:extLst>
              <a:ext uri="{FF2B5EF4-FFF2-40B4-BE49-F238E27FC236}">
                <a16:creationId xmlns:a16="http://schemas.microsoft.com/office/drawing/2014/main" id="{0896B8FE-C255-8080-6D3C-D061F2444E3A}"/>
              </a:ext>
            </a:extLst>
          </p:cNvPr>
          <p:cNvSpPr txBox="1"/>
          <p:nvPr/>
        </p:nvSpPr>
        <p:spPr>
          <a:xfrm>
            <a:off x="5451232" y="489727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US Bureau of Land Management</a:t>
            </a:r>
          </a:p>
        </p:txBody>
      </p:sp>
    </p:spTree>
    <p:extLst>
      <p:ext uri="{BB962C8B-B14F-4D97-AF65-F5344CB8AC3E}">
        <p14:creationId xmlns:p14="http://schemas.microsoft.com/office/powerpoint/2010/main" val="31213759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581DCC8B-A42E-9135-31F0-6D9045556DA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1E9B7B4-D83D-AD4F-180D-C409C6B3709F}"/>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B40C205-2560-8D3D-3688-5D66DD5B991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B8549A6-83F9-8E1F-6683-F8041A4C5CF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436A5D2B-023C-070E-0C7A-576D40E0DBB1}"/>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pic>
        <p:nvPicPr>
          <p:cNvPr id="8" name="Picture 7">
            <a:extLst>
              <a:ext uri="{FF2B5EF4-FFF2-40B4-BE49-F238E27FC236}">
                <a16:creationId xmlns:a16="http://schemas.microsoft.com/office/drawing/2014/main" id="{68AF8165-9D3B-4F2C-BCA5-3ECB7FF38C3D}"/>
              </a:ext>
            </a:extLst>
          </p:cNvPr>
          <p:cNvPicPr>
            <a:picLocks noChangeAspect="1"/>
          </p:cNvPicPr>
          <p:nvPr/>
        </p:nvPicPr>
        <p:blipFill>
          <a:blip r:embed="rId4"/>
          <a:stretch>
            <a:fillRect/>
          </a:stretch>
        </p:blipFill>
        <p:spPr>
          <a:xfrm>
            <a:off x="2011778" y="1730498"/>
            <a:ext cx="4677410" cy="3128932"/>
          </a:xfrm>
          <a:prstGeom prst="rect">
            <a:avLst/>
          </a:prstGeom>
        </p:spPr>
      </p:pic>
      <p:sp>
        <p:nvSpPr>
          <p:cNvPr id="2" name="TextBox 1">
            <a:extLst>
              <a:ext uri="{FF2B5EF4-FFF2-40B4-BE49-F238E27FC236}">
                <a16:creationId xmlns:a16="http://schemas.microsoft.com/office/drawing/2014/main" id="{889DEE3B-1543-80DD-E1CD-F8D49642605A}"/>
              </a:ext>
            </a:extLst>
          </p:cNvPr>
          <p:cNvSpPr txBox="1"/>
          <p:nvPr/>
        </p:nvSpPr>
        <p:spPr>
          <a:xfrm>
            <a:off x="5662247" y="489727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National Parks Gallery</a:t>
            </a:r>
          </a:p>
        </p:txBody>
      </p:sp>
    </p:spTree>
    <p:extLst>
      <p:ext uri="{BB962C8B-B14F-4D97-AF65-F5344CB8AC3E}">
        <p14:creationId xmlns:p14="http://schemas.microsoft.com/office/powerpoint/2010/main" val="1746546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9EE9CDD-4FDD-021A-E5B9-3D5693D2087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7AE3F45-FE25-952B-BDAF-0BA63087F23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EFE2CC7-A73E-5C13-689B-E1FF0E7645D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F40932B-58FA-5A9F-EDD3-9E46B57CE30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5DC4EAC5-24BB-2CF0-8E2C-B93B332E007D}"/>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pic>
        <p:nvPicPr>
          <p:cNvPr id="4" name="Picture 3">
            <a:extLst>
              <a:ext uri="{FF2B5EF4-FFF2-40B4-BE49-F238E27FC236}">
                <a16:creationId xmlns:a16="http://schemas.microsoft.com/office/drawing/2014/main" id="{8ACD7DF2-0D68-4BBA-E4FB-5B92DD94FC4C}"/>
              </a:ext>
            </a:extLst>
          </p:cNvPr>
          <p:cNvPicPr>
            <a:picLocks noChangeAspect="1"/>
          </p:cNvPicPr>
          <p:nvPr/>
        </p:nvPicPr>
        <p:blipFill>
          <a:blip r:embed="rId4"/>
          <a:stretch>
            <a:fillRect/>
          </a:stretch>
        </p:blipFill>
        <p:spPr>
          <a:xfrm>
            <a:off x="2435450" y="1730498"/>
            <a:ext cx="3687326" cy="3128932"/>
          </a:xfrm>
          <a:prstGeom prst="rect">
            <a:avLst/>
          </a:prstGeom>
        </p:spPr>
      </p:pic>
      <p:sp>
        <p:nvSpPr>
          <p:cNvPr id="2" name="TextBox 1">
            <a:extLst>
              <a:ext uri="{FF2B5EF4-FFF2-40B4-BE49-F238E27FC236}">
                <a16:creationId xmlns:a16="http://schemas.microsoft.com/office/drawing/2014/main" id="{C87F2DC3-82AE-DF9A-C694-6AE32FE17B3A}"/>
              </a:ext>
            </a:extLst>
          </p:cNvPr>
          <p:cNvSpPr txBox="1"/>
          <p:nvPr/>
        </p:nvSpPr>
        <p:spPr>
          <a:xfrm>
            <a:off x="5662247" y="489727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Wikipedia Commons</a:t>
            </a:r>
          </a:p>
        </p:txBody>
      </p:sp>
    </p:spTree>
    <p:extLst>
      <p:ext uri="{BB962C8B-B14F-4D97-AF65-F5344CB8AC3E}">
        <p14:creationId xmlns:p14="http://schemas.microsoft.com/office/powerpoint/2010/main" val="22020707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6BE824B-8B05-B1CD-7445-80A58161A53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870940D-0A6F-CF20-E385-3223C52F9DA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F28D5E4-F780-D84E-6C48-67245AB9469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0EC5F3A-3C6F-868E-7C4F-4853B42C488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C01BCEB2-0B0E-BF20-8FFE-0CE65CB9FDED}"/>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pic>
        <p:nvPicPr>
          <p:cNvPr id="4" name="Picture 3">
            <a:extLst>
              <a:ext uri="{FF2B5EF4-FFF2-40B4-BE49-F238E27FC236}">
                <a16:creationId xmlns:a16="http://schemas.microsoft.com/office/drawing/2014/main" id="{4D95B603-3444-66F7-AC1D-0FE28EC26EFC}"/>
              </a:ext>
            </a:extLst>
          </p:cNvPr>
          <p:cNvPicPr>
            <a:picLocks noChangeAspect="1"/>
          </p:cNvPicPr>
          <p:nvPr/>
        </p:nvPicPr>
        <p:blipFill>
          <a:blip r:embed="rId4"/>
          <a:stretch>
            <a:fillRect/>
          </a:stretch>
        </p:blipFill>
        <p:spPr>
          <a:xfrm>
            <a:off x="0" y="1727452"/>
            <a:ext cx="4697986" cy="3128932"/>
          </a:xfrm>
          <a:prstGeom prst="rect">
            <a:avLst/>
          </a:prstGeom>
        </p:spPr>
      </p:pic>
      <p:pic>
        <p:nvPicPr>
          <p:cNvPr id="10" name="Picture 9">
            <a:extLst>
              <a:ext uri="{FF2B5EF4-FFF2-40B4-BE49-F238E27FC236}">
                <a16:creationId xmlns:a16="http://schemas.microsoft.com/office/drawing/2014/main" id="{59369C33-CA5A-C0E9-C8F5-E8F6939FFB88}"/>
              </a:ext>
            </a:extLst>
          </p:cNvPr>
          <p:cNvPicPr>
            <a:picLocks noChangeAspect="1"/>
          </p:cNvPicPr>
          <p:nvPr/>
        </p:nvPicPr>
        <p:blipFill>
          <a:blip r:embed="rId5"/>
          <a:stretch>
            <a:fillRect/>
          </a:stretch>
        </p:blipFill>
        <p:spPr>
          <a:xfrm>
            <a:off x="4505004" y="1730498"/>
            <a:ext cx="4638996" cy="3125886"/>
          </a:xfrm>
          <a:prstGeom prst="rect">
            <a:avLst/>
          </a:prstGeom>
        </p:spPr>
      </p:pic>
      <p:sp>
        <p:nvSpPr>
          <p:cNvPr id="2" name="TextBox 1">
            <a:extLst>
              <a:ext uri="{FF2B5EF4-FFF2-40B4-BE49-F238E27FC236}">
                <a16:creationId xmlns:a16="http://schemas.microsoft.com/office/drawing/2014/main" id="{2848C858-FA5E-E7AF-A6A6-4CBB8C51AC3A}"/>
              </a:ext>
            </a:extLst>
          </p:cNvPr>
          <p:cNvSpPr txBox="1"/>
          <p:nvPr/>
        </p:nvSpPr>
        <p:spPr>
          <a:xfrm>
            <a:off x="5495194" y="4839222"/>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US Fish and Wildlife Service</a:t>
            </a:r>
          </a:p>
        </p:txBody>
      </p:sp>
    </p:spTree>
    <p:extLst>
      <p:ext uri="{BB962C8B-B14F-4D97-AF65-F5344CB8AC3E}">
        <p14:creationId xmlns:p14="http://schemas.microsoft.com/office/powerpoint/2010/main" val="27981588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F6DECE7-DE15-DCD0-DDA0-ABE9919A7D0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ABED95C-96C8-D786-F0F2-BAE7B335DC05}"/>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3C11058-FF1E-D3FF-3DCF-3AADE68E662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D7D370A-0240-CB04-D92F-48310CBEC7C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07184D47-68E5-8D6B-E8F9-EDB91A0AF567}"/>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pic>
        <p:nvPicPr>
          <p:cNvPr id="8" name="Picture 7">
            <a:extLst>
              <a:ext uri="{FF2B5EF4-FFF2-40B4-BE49-F238E27FC236}">
                <a16:creationId xmlns:a16="http://schemas.microsoft.com/office/drawing/2014/main" id="{02996561-24DA-93FF-63AD-97C8CF280EA5}"/>
              </a:ext>
            </a:extLst>
          </p:cNvPr>
          <p:cNvPicPr>
            <a:picLocks noChangeAspect="1"/>
          </p:cNvPicPr>
          <p:nvPr/>
        </p:nvPicPr>
        <p:blipFill>
          <a:blip r:embed="rId4"/>
          <a:stretch>
            <a:fillRect/>
          </a:stretch>
        </p:blipFill>
        <p:spPr>
          <a:xfrm>
            <a:off x="0" y="1673411"/>
            <a:ext cx="9144000" cy="3302000"/>
          </a:xfrm>
          <a:prstGeom prst="rect">
            <a:avLst/>
          </a:prstGeom>
        </p:spPr>
      </p:pic>
      <p:sp>
        <p:nvSpPr>
          <p:cNvPr id="2" name="TextBox 1">
            <a:extLst>
              <a:ext uri="{FF2B5EF4-FFF2-40B4-BE49-F238E27FC236}">
                <a16:creationId xmlns:a16="http://schemas.microsoft.com/office/drawing/2014/main" id="{3340625D-776D-C285-09D5-FAD46CD70CC1}"/>
              </a:ext>
            </a:extLst>
          </p:cNvPr>
          <p:cNvSpPr txBox="1"/>
          <p:nvPr/>
        </p:nvSpPr>
        <p:spPr>
          <a:xfrm>
            <a:off x="6149055" y="4933922"/>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Nic McPhee</a:t>
            </a:r>
          </a:p>
        </p:txBody>
      </p:sp>
    </p:spTree>
    <p:extLst>
      <p:ext uri="{BB962C8B-B14F-4D97-AF65-F5344CB8AC3E}">
        <p14:creationId xmlns:p14="http://schemas.microsoft.com/office/powerpoint/2010/main" val="42086551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E998FD6-6C14-5859-8BB1-5C3BB1BAFDE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9FC5451-798E-5DDD-3DF4-9AF22DE2649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5226C42-49FB-3373-BDAD-1F33B5F2158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2CDE2E7-2134-B1A6-CB17-5DD4D84FBB7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148EA9FB-5D36-433F-AD1F-95B2C58B41E3}"/>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sp>
        <p:nvSpPr>
          <p:cNvPr id="2" name="TextBox 1">
            <a:extLst>
              <a:ext uri="{FF2B5EF4-FFF2-40B4-BE49-F238E27FC236}">
                <a16:creationId xmlns:a16="http://schemas.microsoft.com/office/drawing/2014/main" id="{F496E1CE-85CE-F366-2447-7EB47DFDE209}"/>
              </a:ext>
            </a:extLst>
          </p:cNvPr>
          <p:cNvSpPr txBox="1"/>
          <p:nvPr/>
        </p:nvSpPr>
        <p:spPr>
          <a:xfrm>
            <a:off x="5662247" y="4897279"/>
            <a:ext cx="3554175" cy="246221"/>
          </a:xfrm>
          <a:prstGeom prst="rect">
            <a:avLst/>
          </a:prstGeom>
          <a:noFill/>
        </p:spPr>
        <p:txBody>
          <a:bodyPr wrap="square" rtlCol="0">
            <a:spAutoFit/>
          </a:bodyPr>
          <a:lstStyle/>
          <a:p>
            <a:r>
              <a:rPr lang="en-US" sz="1000" dirty="0">
                <a:solidFill>
                  <a:schemeClr val="bg1">
                    <a:lumMod val="65000"/>
                    <a:lumOff val="35000"/>
                  </a:schemeClr>
                </a:solidFill>
              </a:rPr>
              <a:t>Photo credit: U.S. National Archives</a:t>
            </a:r>
          </a:p>
        </p:txBody>
      </p:sp>
      <p:pic>
        <p:nvPicPr>
          <p:cNvPr id="11" name="Picture 10">
            <a:extLst>
              <a:ext uri="{FF2B5EF4-FFF2-40B4-BE49-F238E27FC236}">
                <a16:creationId xmlns:a16="http://schemas.microsoft.com/office/drawing/2014/main" id="{0DC26DFF-9F52-81D1-1ED4-655633297C3B}"/>
              </a:ext>
            </a:extLst>
          </p:cNvPr>
          <p:cNvPicPr>
            <a:picLocks noChangeAspect="1"/>
          </p:cNvPicPr>
          <p:nvPr/>
        </p:nvPicPr>
        <p:blipFill>
          <a:blip r:embed="rId4"/>
          <a:stretch>
            <a:fillRect/>
          </a:stretch>
        </p:blipFill>
        <p:spPr>
          <a:xfrm>
            <a:off x="2417211" y="1740703"/>
            <a:ext cx="3723804" cy="3167415"/>
          </a:xfrm>
          <a:prstGeom prst="rect">
            <a:avLst/>
          </a:prstGeom>
        </p:spPr>
      </p:pic>
    </p:spTree>
    <p:extLst>
      <p:ext uri="{BB962C8B-B14F-4D97-AF65-F5344CB8AC3E}">
        <p14:creationId xmlns:p14="http://schemas.microsoft.com/office/powerpoint/2010/main" val="1836434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A714EAE-B293-5BFF-009E-678B484E87C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228499B-8D97-4125-79E7-B1BA1DC3535E}"/>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78E26D8F-CC6D-514F-ACC6-2C29BC3A3D61}"/>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CA9A8E0-9DB2-A6FA-11C3-6756C7378E8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FD13643-B848-7EF5-DFA0-093456FDF6F4}"/>
              </a:ext>
            </a:extLst>
          </p:cNvPr>
          <p:cNvPicPr>
            <a:picLocks noChangeAspect="1"/>
          </p:cNvPicPr>
          <p:nvPr/>
        </p:nvPicPr>
        <p:blipFill>
          <a:blip r:embed="rId4"/>
          <a:stretch>
            <a:fillRect/>
          </a:stretch>
        </p:blipFill>
        <p:spPr>
          <a:xfrm>
            <a:off x="0" y="1673411"/>
            <a:ext cx="3713871" cy="1341120"/>
          </a:xfrm>
          <a:prstGeom prst="rect">
            <a:avLst/>
          </a:prstGeom>
        </p:spPr>
      </p:pic>
      <p:pic>
        <p:nvPicPr>
          <p:cNvPr id="11" name="Picture 10">
            <a:extLst>
              <a:ext uri="{FF2B5EF4-FFF2-40B4-BE49-F238E27FC236}">
                <a16:creationId xmlns:a16="http://schemas.microsoft.com/office/drawing/2014/main" id="{776B7CCA-12B5-1CF3-1B77-68433D3176EE}"/>
              </a:ext>
            </a:extLst>
          </p:cNvPr>
          <p:cNvPicPr>
            <a:picLocks noChangeAspect="1"/>
          </p:cNvPicPr>
          <p:nvPr/>
        </p:nvPicPr>
        <p:blipFill>
          <a:blip r:embed="rId5"/>
          <a:stretch>
            <a:fillRect/>
          </a:stretch>
        </p:blipFill>
        <p:spPr>
          <a:xfrm>
            <a:off x="3713871" y="1673411"/>
            <a:ext cx="1791209" cy="1519955"/>
          </a:xfrm>
          <a:prstGeom prst="rect">
            <a:avLst/>
          </a:prstGeom>
        </p:spPr>
      </p:pic>
      <p:pic>
        <p:nvPicPr>
          <p:cNvPr id="12" name="Picture 11">
            <a:extLst>
              <a:ext uri="{FF2B5EF4-FFF2-40B4-BE49-F238E27FC236}">
                <a16:creationId xmlns:a16="http://schemas.microsoft.com/office/drawing/2014/main" id="{B8175EA7-C577-7829-6F0C-6AAF75C9D851}"/>
              </a:ext>
            </a:extLst>
          </p:cNvPr>
          <p:cNvPicPr>
            <a:picLocks noChangeAspect="1"/>
          </p:cNvPicPr>
          <p:nvPr/>
        </p:nvPicPr>
        <p:blipFill>
          <a:blip r:embed="rId6"/>
          <a:stretch>
            <a:fillRect/>
          </a:stretch>
        </p:blipFill>
        <p:spPr>
          <a:xfrm>
            <a:off x="5505080" y="1673411"/>
            <a:ext cx="2814783" cy="1882936"/>
          </a:xfrm>
          <a:prstGeom prst="rect">
            <a:avLst/>
          </a:prstGeom>
        </p:spPr>
      </p:pic>
      <p:pic>
        <p:nvPicPr>
          <p:cNvPr id="13" name="Picture 12">
            <a:extLst>
              <a:ext uri="{FF2B5EF4-FFF2-40B4-BE49-F238E27FC236}">
                <a16:creationId xmlns:a16="http://schemas.microsoft.com/office/drawing/2014/main" id="{0B1A6C10-9E06-CA91-5ED0-A555C56039B2}"/>
              </a:ext>
            </a:extLst>
          </p:cNvPr>
          <p:cNvPicPr>
            <a:picLocks noChangeAspect="1"/>
          </p:cNvPicPr>
          <p:nvPr/>
        </p:nvPicPr>
        <p:blipFill>
          <a:blip r:embed="rId7"/>
          <a:stretch>
            <a:fillRect/>
          </a:stretch>
        </p:blipFill>
        <p:spPr>
          <a:xfrm>
            <a:off x="0" y="2972985"/>
            <a:ext cx="2823025" cy="1882936"/>
          </a:xfrm>
          <a:prstGeom prst="rect">
            <a:avLst/>
          </a:prstGeom>
        </p:spPr>
      </p:pic>
      <p:sp>
        <p:nvSpPr>
          <p:cNvPr id="14" name="Google Shape;92;p19">
            <a:extLst>
              <a:ext uri="{FF2B5EF4-FFF2-40B4-BE49-F238E27FC236}">
                <a16:creationId xmlns:a16="http://schemas.microsoft.com/office/drawing/2014/main" id="{1FD8B541-CAFA-9CE5-FA56-AA835EB2E103}"/>
              </a:ext>
            </a:extLst>
          </p:cNvPr>
          <p:cNvSpPr txBox="1">
            <a:spLocks/>
          </p:cNvSpPr>
          <p:nvPr/>
        </p:nvSpPr>
        <p:spPr>
          <a:xfrm>
            <a:off x="311700" y="445025"/>
            <a:ext cx="7946035"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do we know how salmon are doing?</a:t>
            </a:r>
          </a:p>
        </p:txBody>
      </p:sp>
      <p:pic>
        <p:nvPicPr>
          <p:cNvPr id="10" name="Picture 9">
            <a:extLst>
              <a:ext uri="{FF2B5EF4-FFF2-40B4-BE49-F238E27FC236}">
                <a16:creationId xmlns:a16="http://schemas.microsoft.com/office/drawing/2014/main" id="{83BC717A-560C-254C-8918-3A16C48E5324}"/>
              </a:ext>
            </a:extLst>
          </p:cNvPr>
          <p:cNvPicPr>
            <a:picLocks noChangeAspect="1"/>
          </p:cNvPicPr>
          <p:nvPr/>
        </p:nvPicPr>
        <p:blipFill>
          <a:blip r:embed="rId8"/>
          <a:stretch>
            <a:fillRect/>
          </a:stretch>
        </p:blipFill>
        <p:spPr>
          <a:xfrm>
            <a:off x="5525475" y="2964414"/>
            <a:ext cx="2794387" cy="1882936"/>
          </a:xfrm>
          <a:prstGeom prst="rect">
            <a:avLst/>
          </a:prstGeom>
        </p:spPr>
      </p:pic>
      <p:pic>
        <p:nvPicPr>
          <p:cNvPr id="9" name="Picture 8">
            <a:extLst>
              <a:ext uri="{FF2B5EF4-FFF2-40B4-BE49-F238E27FC236}">
                <a16:creationId xmlns:a16="http://schemas.microsoft.com/office/drawing/2014/main" id="{02C395CD-7508-5FB3-A485-508C77808C29}"/>
              </a:ext>
            </a:extLst>
          </p:cNvPr>
          <p:cNvPicPr>
            <a:picLocks noChangeAspect="1"/>
          </p:cNvPicPr>
          <p:nvPr/>
        </p:nvPicPr>
        <p:blipFill>
          <a:blip r:embed="rId9"/>
          <a:stretch>
            <a:fillRect/>
          </a:stretch>
        </p:blipFill>
        <p:spPr>
          <a:xfrm>
            <a:off x="3293079" y="2964414"/>
            <a:ext cx="2818937" cy="1877456"/>
          </a:xfrm>
          <a:prstGeom prst="rect">
            <a:avLst/>
          </a:prstGeom>
        </p:spPr>
      </p:pic>
      <p:pic>
        <p:nvPicPr>
          <p:cNvPr id="7" name="Picture 6">
            <a:extLst>
              <a:ext uri="{FF2B5EF4-FFF2-40B4-BE49-F238E27FC236}">
                <a16:creationId xmlns:a16="http://schemas.microsoft.com/office/drawing/2014/main" id="{F3C294CE-1F97-9DC6-63DF-272AB15E20E9}"/>
              </a:ext>
            </a:extLst>
          </p:cNvPr>
          <p:cNvPicPr>
            <a:picLocks noChangeAspect="1"/>
          </p:cNvPicPr>
          <p:nvPr/>
        </p:nvPicPr>
        <p:blipFill>
          <a:blip r:embed="rId10"/>
          <a:stretch>
            <a:fillRect/>
          </a:stretch>
        </p:blipFill>
        <p:spPr>
          <a:xfrm>
            <a:off x="1856935" y="2964414"/>
            <a:ext cx="2213693" cy="1882936"/>
          </a:xfrm>
          <a:prstGeom prst="rect">
            <a:avLst/>
          </a:prstGeom>
        </p:spPr>
      </p:pic>
    </p:spTree>
    <p:extLst>
      <p:ext uri="{BB962C8B-B14F-4D97-AF65-F5344CB8AC3E}">
        <p14:creationId xmlns:p14="http://schemas.microsoft.com/office/powerpoint/2010/main" val="42336204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678B2C9-8E5D-E056-71BF-E7001A9A091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E6AE35E-C6A4-8458-34F7-2362DCD513B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8ACD1FF-8D5B-169E-B1E8-81D3B0B53C0C}"/>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A314807-8BCA-15F3-034C-C84692BD9D35}"/>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A372266A-C62B-8BC2-80E8-DA6B9651CF6F}"/>
              </a:ext>
            </a:extLst>
          </p:cNvPr>
          <p:cNvSpPr txBox="1">
            <a:spLocks/>
          </p:cNvSpPr>
          <p:nvPr/>
        </p:nvSpPr>
        <p:spPr>
          <a:xfrm>
            <a:off x="754152" y="2078026"/>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How comparable are these counts?</a:t>
            </a:r>
          </a:p>
        </p:txBody>
      </p:sp>
      <p:sp>
        <p:nvSpPr>
          <p:cNvPr id="8" name="Google Shape;93;p19">
            <a:extLst>
              <a:ext uri="{FF2B5EF4-FFF2-40B4-BE49-F238E27FC236}">
                <a16:creationId xmlns:a16="http://schemas.microsoft.com/office/drawing/2014/main" id="{C99FAFBD-2F6D-CE66-FB63-E487D070C341}"/>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1376946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18F85342-A6EF-0A85-6612-CAC14A7612F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E09DCBC-3C79-BAB8-8E05-E656A35300E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CE4B57A-DC62-1393-97F8-50B18A301B95}"/>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3A02231-493F-BC1E-62CF-A2AD6084F90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8F546BF8-86CB-A301-8AAF-1C3617CBA9D5}"/>
              </a:ext>
            </a:extLst>
          </p:cNvPr>
          <p:cNvSpPr txBox="1">
            <a:spLocks/>
          </p:cNvSpPr>
          <p:nvPr/>
        </p:nvSpPr>
        <p:spPr>
          <a:xfrm>
            <a:off x="311700" y="1654392"/>
            <a:ext cx="8014153"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Research goal: Evaluate salmon survey methods for precision and directional bias</a:t>
            </a:r>
          </a:p>
          <a:p>
            <a:pPr>
              <a:spcBef>
                <a:spcPts val="0"/>
              </a:spcBef>
            </a:pPr>
            <a:endParaRPr lang="en-US" sz="4200" dirty="0">
              <a:solidFill>
                <a:schemeClr val="bg1"/>
              </a:solidFill>
            </a:endParaRPr>
          </a:p>
        </p:txBody>
      </p:sp>
    </p:spTree>
    <p:extLst>
      <p:ext uri="{BB962C8B-B14F-4D97-AF65-F5344CB8AC3E}">
        <p14:creationId xmlns:p14="http://schemas.microsoft.com/office/powerpoint/2010/main" val="25234805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C3A8088-DB8A-5F51-4ED5-E9925003104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B49D916-F325-904E-F4DE-2D21DA78A3E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422C65B-1D76-09BA-E1BE-E577EBACE1D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C5454BF-A8FF-7DEF-383D-81EC55E8D53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DBA1B360-834C-5CDE-0EB2-8BC4EEEAFC62}"/>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tx1">
                    <a:lumMod val="50000"/>
                  </a:schemeClr>
                </a:solidFill>
              </a:rPr>
              <a:t>Background</a:t>
            </a:r>
          </a:p>
          <a:p>
            <a:pPr marL="742950" indent="-742950">
              <a:spcBef>
                <a:spcPts val="0"/>
              </a:spcBef>
              <a:buAutoNum type="arabicParenR"/>
            </a:pPr>
            <a:r>
              <a:rPr lang="en-US" sz="4200" dirty="0">
                <a:solidFill>
                  <a:schemeClr val="bg1"/>
                </a:solidFill>
              </a:rPr>
              <a:t>Data</a:t>
            </a:r>
          </a:p>
          <a:p>
            <a:pPr marL="742950" indent="-742950">
              <a:spcBef>
                <a:spcPts val="0"/>
              </a:spcBef>
              <a:buAutoNum type="arabicParenR"/>
            </a:pPr>
            <a:r>
              <a:rPr lang="en-US" sz="4200" dirty="0">
                <a:solidFill>
                  <a:schemeClr val="tx1">
                    <a:lumMod val="50000"/>
                  </a:schemeClr>
                </a:solidFill>
              </a:rPr>
              <a:t>Analysis</a:t>
            </a:r>
          </a:p>
          <a:p>
            <a:pPr marL="742950" indent="-742950">
              <a:spcBef>
                <a:spcPts val="0"/>
              </a:spcBef>
              <a:buAutoNum type="arabicParenR"/>
            </a:pPr>
            <a:r>
              <a:rPr lang="en-US" sz="4200" dirty="0">
                <a:solidFill>
                  <a:schemeClr val="tx1">
                    <a:lumMod val="50000"/>
                  </a:schemeClr>
                </a:solidFill>
              </a:rPr>
              <a:t>Results</a:t>
            </a:r>
          </a:p>
          <a:p>
            <a:pPr marL="742950" indent="-742950">
              <a:spcBef>
                <a:spcPts val="0"/>
              </a:spcBef>
              <a:buAutoNum type="arabicParenR"/>
            </a:pPr>
            <a:r>
              <a:rPr lang="en-US" sz="4200" dirty="0">
                <a:solidFill>
                  <a:schemeClr val="tx1">
                    <a:lumMod val="50000"/>
                  </a:schemeClr>
                </a:solidFill>
              </a:rPr>
              <a:t>Case Studies</a:t>
            </a:r>
          </a:p>
          <a:p>
            <a:pPr marL="742950" indent="-742950">
              <a:spcBef>
                <a:spcPts val="0"/>
              </a:spcBef>
              <a:buAutoNum type="arabicParenR"/>
            </a:pPr>
            <a:r>
              <a:rPr lang="en-US" sz="4200" dirty="0">
                <a:solidFill>
                  <a:schemeClr val="tx1">
                    <a:lumMod val="50000"/>
                  </a:schemeClr>
                </a:solidFill>
              </a:rPr>
              <a:t>Discussion</a:t>
            </a:r>
          </a:p>
        </p:txBody>
      </p:sp>
      <p:sp>
        <p:nvSpPr>
          <p:cNvPr id="8" name="Google Shape;93;p19">
            <a:extLst>
              <a:ext uri="{FF2B5EF4-FFF2-40B4-BE49-F238E27FC236}">
                <a16:creationId xmlns:a16="http://schemas.microsoft.com/office/drawing/2014/main" id="{BD2BF03D-8853-D64D-96F0-C89B0D725C6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42944510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74EDD75F-25B6-6761-6ACD-BD252E776C1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80429ED-B8CC-9854-6459-6BEDB77DFC3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104A674-9C34-12E2-6F52-CE3D5B83955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13F6877-3417-6400-F43E-381936AA64A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279B32EE-9FF4-4997-84D6-3D8D3ACD45F6}"/>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DD4AC916-0000-B932-D1C9-5C9ACFEC60E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8768425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A4A5C11-5440-97F7-3A19-6479DEA915C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E53C42-0907-44E5-07FE-29212C5C32E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10098A7-03D4-41FC-A22B-540DE497E9E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0CE1205-5EEE-5F6C-645B-CC239D1F514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18F33363-2C62-EDC0-85C6-CFDE6E74BB4E}"/>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E6FB916A-7A56-4257-8DEF-E8C44FFC9B98}"/>
              </a:ext>
            </a:extLst>
          </p:cNvPr>
          <p:cNvSpPr txBox="1">
            <a:spLocks/>
          </p:cNvSpPr>
          <p:nvPr/>
        </p:nvSpPr>
        <p:spPr>
          <a:xfrm>
            <a:off x="311700" y="1152474"/>
            <a:ext cx="5041057"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Natural-origin spawning salmon estimates in Oregon</a:t>
            </a:r>
          </a:p>
          <a:p>
            <a:pPr>
              <a:spcBef>
                <a:spcPts val="0"/>
              </a:spcBef>
              <a:spcAft>
                <a:spcPts val="0"/>
              </a:spcAft>
            </a:pPr>
            <a:r>
              <a:rPr lang="en-US" sz="22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9435049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29C3318-986F-BD84-0B8F-C4876771184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DB14478-1253-BEC8-321F-D9BA7D3375C0}"/>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5A22B17-9425-5105-8332-0E1AFA6D70D3}"/>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6CAD3D1-A912-4B08-ABBE-F50E704A39D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697A6F3A-37DC-5836-4AC6-14D0550151B6}"/>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ED3FB0AA-A77F-48FC-6E89-3A6AE8834F6D}"/>
              </a:ext>
            </a:extLst>
          </p:cNvPr>
          <p:cNvSpPr txBox="1">
            <a:spLocks/>
          </p:cNvSpPr>
          <p:nvPr/>
        </p:nvSpPr>
        <p:spPr>
          <a:xfrm>
            <a:off x="311699" y="1152474"/>
            <a:ext cx="6365725"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Natural-origin spawning </a:t>
            </a:r>
          </a:p>
          <a:p>
            <a:pPr>
              <a:spcBef>
                <a:spcPts val="0"/>
              </a:spcBef>
              <a:spcAft>
                <a:spcPts val="0"/>
              </a:spcAft>
            </a:pPr>
            <a:r>
              <a:rPr lang="en-US" sz="2600" dirty="0">
                <a:solidFill>
                  <a:schemeClr val="bg1"/>
                </a:solidFill>
              </a:rPr>
              <a:t>salmon estimates in Oregon</a:t>
            </a:r>
          </a:p>
          <a:p>
            <a:pPr>
              <a:spcBef>
                <a:spcPts val="0"/>
              </a:spcBef>
              <a:spcAft>
                <a:spcPts val="0"/>
              </a:spcAft>
            </a:pPr>
            <a:r>
              <a:rPr lang="en-US" sz="2200" dirty="0">
                <a:solidFill>
                  <a:schemeClr val="bg1"/>
                </a:solidFill>
              </a:rPr>
              <a:t>	</a:t>
            </a:r>
          </a:p>
          <a:p>
            <a:pPr>
              <a:spcBef>
                <a:spcPts val="0"/>
              </a:spcBef>
              <a:spcAft>
                <a:spcPts val="0"/>
              </a:spcAft>
            </a:pPr>
            <a:r>
              <a:rPr lang="en-US" sz="1800" dirty="0">
                <a:solidFill>
                  <a:schemeClr val="bg1"/>
                </a:solidFill>
              </a:rPr>
              <a:t>	68 salmonid populations</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1562685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491FAB3-20AD-EFCF-C84C-FC7C8F338A1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C2A2E7E-1F96-D7B7-8AFA-A83BDDE25C78}"/>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0630719-FA08-9792-A859-F0CF167A826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9814CAC-0921-6F46-1BD8-4111EE8BDA8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3121C85C-5BB6-C928-36A4-47DA789ACCBA}"/>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BCFDB709-21B6-D284-7D99-BE395FA005A0}"/>
              </a:ext>
            </a:extLst>
          </p:cNvPr>
          <p:cNvSpPr txBox="1">
            <a:spLocks/>
          </p:cNvSpPr>
          <p:nvPr/>
        </p:nvSpPr>
        <p:spPr>
          <a:xfrm>
            <a:off x="311699" y="1152474"/>
            <a:ext cx="6365725"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Natural-origin spawning </a:t>
            </a:r>
          </a:p>
          <a:p>
            <a:pPr>
              <a:spcBef>
                <a:spcPts val="0"/>
              </a:spcBef>
              <a:spcAft>
                <a:spcPts val="0"/>
              </a:spcAft>
            </a:pPr>
            <a:r>
              <a:rPr lang="en-US" sz="2600" dirty="0">
                <a:solidFill>
                  <a:schemeClr val="bg1"/>
                </a:solidFill>
              </a:rPr>
              <a:t>salmon estimates in Oregon</a:t>
            </a:r>
          </a:p>
          <a:p>
            <a:pPr>
              <a:spcBef>
                <a:spcPts val="0"/>
              </a:spcBef>
              <a:spcAft>
                <a:spcPts val="0"/>
              </a:spcAft>
            </a:pPr>
            <a:r>
              <a:rPr lang="en-US" sz="2200" dirty="0">
                <a:solidFill>
                  <a:schemeClr val="bg1"/>
                </a:solidFill>
              </a:rPr>
              <a:t>	</a:t>
            </a:r>
          </a:p>
          <a:p>
            <a:pPr>
              <a:spcBef>
                <a:spcPts val="0"/>
              </a:spcBef>
              <a:spcAft>
                <a:spcPts val="0"/>
              </a:spcAft>
            </a:pPr>
            <a:r>
              <a:rPr lang="en-US" sz="1800" dirty="0">
                <a:solidFill>
                  <a:schemeClr val="bg1"/>
                </a:solidFill>
              </a:rPr>
              <a:t>	68 salmonid populations - 9 ESUs (all threatened)</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25520155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10A9154B-7F7B-6AD3-6ADB-7970DC9483B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C4892AB-78E0-A2EE-C56C-F67B8F03B38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365E08BE-6EBD-0C18-F806-91CC4FAC8F0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9AC3D22-F43F-2D6B-F959-574DDA4571D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862B433D-DAC1-29DC-7A92-F22CFA2216DC}"/>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5BA2A337-F1A8-9986-A896-90FF40E75FD8}"/>
              </a:ext>
            </a:extLst>
          </p:cNvPr>
          <p:cNvSpPr txBox="1">
            <a:spLocks/>
          </p:cNvSpPr>
          <p:nvPr/>
        </p:nvSpPr>
        <p:spPr>
          <a:xfrm>
            <a:off x="311700" y="1152474"/>
            <a:ext cx="670382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Natural-origin spawning </a:t>
            </a:r>
          </a:p>
          <a:p>
            <a:pPr>
              <a:spcBef>
                <a:spcPts val="0"/>
              </a:spcBef>
              <a:spcAft>
                <a:spcPts val="0"/>
              </a:spcAft>
            </a:pPr>
            <a:r>
              <a:rPr lang="en-US" sz="2600" dirty="0">
                <a:solidFill>
                  <a:schemeClr val="bg1"/>
                </a:solidFill>
              </a:rPr>
              <a:t>salmon estimates in Oregon</a:t>
            </a:r>
          </a:p>
          <a:p>
            <a:pPr>
              <a:spcBef>
                <a:spcPts val="0"/>
              </a:spcBef>
              <a:spcAft>
                <a:spcPts val="0"/>
              </a:spcAft>
            </a:pPr>
            <a:r>
              <a:rPr lang="en-US" sz="2200" dirty="0">
                <a:solidFill>
                  <a:schemeClr val="bg1"/>
                </a:solidFill>
              </a:rPr>
              <a:t>	</a:t>
            </a:r>
          </a:p>
          <a:p>
            <a:pPr>
              <a:spcBef>
                <a:spcPts val="0"/>
              </a:spcBef>
              <a:spcAft>
                <a:spcPts val="0"/>
              </a:spcAft>
            </a:pPr>
            <a:r>
              <a:rPr lang="en-US" sz="1800" dirty="0">
                <a:solidFill>
                  <a:schemeClr val="bg1"/>
                </a:solidFill>
              </a:rPr>
              <a:t>	68 salmonid populations - 9 ESUs (all threatened)</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3 species: Chinook, coho, steelhead</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40356490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0F7F6E5-8D4A-631D-EAFC-4B6D232DD67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B02B624-3FF3-570D-E342-4D5414277C9E}"/>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CB3B01A-0D50-271B-59CB-B0D847DAE12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9EB03B8-03A6-0E9D-AE68-86F20368D5B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0FD32749-3087-6F37-7C43-7526F93C6D0B}"/>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5C65D16D-AA3A-BE10-F4F4-1509C8FBCE86}"/>
              </a:ext>
            </a:extLst>
          </p:cNvPr>
          <p:cNvSpPr txBox="1">
            <a:spLocks/>
          </p:cNvSpPr>
          <p:nvPr/>
        </p:nvSpPr>
        <p:spPr>
          <a:xfrm>
            <a:off x="311700" y="1152474"/>
            <a:ext cx="6296569"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Natural-origin spawning </a:t>
            </a:r>
          </a:p>
          <a:p>
            <a:pPr>
              <a:spcBef>
                <a:spcPts val="0"/>
              </a:spcBef>
              <a:spcAft>
                <a:spcPts val="0"/>
              </a:spcAft>
            </a:pPr>
            <a:r>
              <a:rPr lang="en-US" sz="2600" dirty="0">
                <a:solidFill>
                  <a:schemeClr val="bg1"/>
                </a:solidFill>
              </a:rPr>
              <a:t>salmon estimates in Oregon</a:t>
            </a:r>
          </a:p>
          <a:p>
            <a:pPr>
              <a:spcBef>
                <a:spcPts val="0"/>
              </a:spcBef>
              <a:spcAft>
                <a:spcPts val="0"/>
              </a:spcAft>
            </a:pPr>
            <a:r>
              <a:rPr lang="en-US" sz="2200" dirty="0">
                <a:solidFill>
                  <a:schemeClr val="bg1"/>
                </a:solidFill>
              </a:rPr>
              <a:t>	</a:t>
            </a:r>
          </a:p>
          <a:p>
            <a:pPr>
              <a:spcBef>
                <a:spcPts val="0"/>
              </a:spcBef>
              <a:spcAft>
                <a:spcPts val="0"/>
              </a:spcAft>
            </a:pPr>
            <a:r>
              <a:rPr lang="en-US" sz="1800" dirty="0">
                <a:solidFill>
                  <a:schemeClr val="bg1"/>
                </a:solidFill>
              </a:rPr>
              <a:t>	68 salmonid populations - 9 ESUs (all threatened)</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3 species: Chinook, coho, steelhead</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Annual observations, 1980 to 2022</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796595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9014541-6EC0-27E3-A613-A71BA0268D3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45D4034-345F-CED1-134B-EAF4726CB00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8A44FD1-2BAF-713D-5BBB-6D46DA406FB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90785B0-2D33-DC51-16EF-2AAB81DC4717}"/>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9FA7986E-EFD7-1F67-B810-A46D86683824}"/>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Data</a:t>
            </a:r>
          </a:p>
        </p:txBody>
      </p:sp>
      <p:sp>
        <p:nvSpPr>
          <p:cNvPr id="8" name="Google Shape;93;p19">
            <a:extLst>
              <a:ext uri="{FF2B5EF4-FFF2-40B4-BE49-F238E27FC236}">
                <a16:creationId xmlns:a16="http://schemas.microsoft.com/office/drawing/2014/main" id="{E7380337-088D-ED6E-F14B-AE45A8C77244}"/>
              </a:ext>
            </a:extLst>
          </p:cNvPr>
          <p:cNvSpPr txBox="1">
            <a:spLocks/>
          </p:cNvSpPr>
          <p:nvPr/>
        </p:nvSpPr>
        <p:spPr>
          <a:xfrm>
            <a:off x="311700" y="1152474"/>
            <a:ext cx="6504038"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Natural-origin spawning </a:t>
            </a:r>
          </a:p>
          <a:p>
            <a:pPr>
              <a:spcBef>
                <a:spcPts val="0"/>
              </a:spcBef>
              <a:spcAft>
                <a:spcPts val="0"/>
              </a:spcAft>
            </a:pPr>
            <a:r>
              <a:rPr lang="en-US" sz="2600" dirty="0">
                <a:solidFill>
                  <a:schemeClr val="bg1"/>
                </a:solidFill>
              </a:rPr>
              <a:t>salmon estimates in Oregon</a:t>
            </a:r>
          </a:p>
          <a:p>
            <a:pPr>
              <a:spcBef>
                <a:spcPts val="0"/>
              </a:spcBef>
              <a:spcAft>
                <a:spcPts val="0"/>
              </a:spcAft>
            </a:pPr>
            <a:r>
              <a:rPr lang="en-US" sz="2200" dirty="0">
                <a:solidFill>
                  <a:schemeClr val="bg1"/>
                </a:solidFill>
              </a:rPr>
              <a:t>	</a:t>
            </a:r>
          </a:p>
          <a:p>
            <a:pPr>
              <a:spcBef>
                <a:spcPts val="0"/>
              </a:spcBef>
              <a:spcAft>
                <a:spcPts val="0"/>
              </a:spcAft>
            </a:pPr>
            <a:r>
              <a:rPr lang="en-US" sz="1800" dirty="0">
                <a:solidFill>
                  <a:schemeClr val="bg1"/>
                </a:solidFill>
              </a:rPr>
              <a:t>	68 salmonid populations - 9 ESUs (all threatened)</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3 species: Chinook, coho, steelhead</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Annual observations, 1980 to 2022</a:t>
            </a:r>
          </a:p>
          <a:p>
            <a:pPr>
              <a:spcBef>
                <a:spcPts val="0"/>
              </a:spcBef>
              <a:spcAft>
                <a:spcPts val="0"/>
              </a:spcAft>
            </a:pPr>
            <a:r>
              <a:rPr lang="en-US" sz="1800" dirty="0">
                <a:solidFill>
                  <a:schemeClr val="bg1"/>
                </a:solidFill>
              </a:rPr>
              <a:t>	</a:t>
            </a:r>
          </a:p>
          <a:p>
            <a:pPr>
              <a:spcBef>
                <a:spcPts val="0"/>
              </a:spcBef>
              <a:spcAft>
                <a:spcPts val="0"/>
              </a:spcAft>
            </a:pPr>
            <a:r>
              <a:rPr lang="en-US" sz="1800" dirty="0">
                <a:solidFill>
                  <a:schemeClr val="bg1"/>
                </a:solidFill>
              </a:rPr>
              <a:t>	31 survey methods</a:t>
            </a:r>
          </a:p>
          <a:p>
            <a:pPr>
              <a:spcBef>
                <a:spcPts val="0"/>
              </a:spcBef>
              <a:spcAft>
                <a:spcPts val="0"/>
              </a:spcAft>
            </a:pPr>
            <a:endParaRPr lang="en-US" sz="18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4106630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7355048-7985-F5CF-933B-6AF844EA9FA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55C6F66-F872-5ED8-A8EB-09A55B64C09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D9C6280C-5004-1046-656E-83B85BD62A42}"/>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B92A6C9-6AAD-6A71-AF89-2AF5BF5CB997}"/>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ECFBF47C-AAD2-6451-777F-F59B66D6DA98}"/>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Observed time series</a:t>
            </a:r>
          </a:p>
        </p:txBody>
      </p:sp>
      <p:pic>
        <p:nvPicPr>
          <p:cNvPr id="10" name="Picture 9" descr="The diagram shows a declining trend in Oregon salmon populations, specifically Chinook, Coho, and Steelhead, from 1980 to 2020.&#10;&#10;AI-generated content may be incorrect.">
            <a:extLst>
              <a:ext uri="{FF2B5EF4-FFF2-40B4-BE49-F238E27FC236}">
                <a16:creationId xmlns:a16="http://schemas.microsoft.com/office/drawing/2014/main" id="{5F115CC6-2852-CA79-428C-8B9AB5719BAD}"/>
              </a:ext>
            </a:extLst>
          </p:cNvPr>
          <p:cNvPicPr>
            <a:picLocks noChangeAspect="1"/>
          </p:cNvPicPr>
          <p:nvPr/>
        </p:nvPicPr>
        <p:blipFill>
          <a:blip r:embed="rId4"/>
          <a:stretch>
            <a:fillRect/>
          </a:stretch>
        </p:blipFill>
        <p:spPr>
          <a:xfrm>
            <a:off x="398207" y="1136579"/>
            <a:ext cx="7352902" cy="3857197"/>
          </a:xfrm>
          <a:prstGeom prst="rect">
            <a:avLst/>
          </a:prstGeom>
        </p:spPr>
      </p:pic>
    </p:spTree>
    <p:extLst>
      <p:ext uri="{BB962C8B-B14F-4D97-AF65-F5344CB8AC3E}">
        <p14:creationId xmlns:p14="http://schemas.microsoft.com/office/powerpoint/2010/main" val="39168628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16329A1-7228-3981-7A74-55F361E0EDD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AB85503-D62C-D411-115E-DEB8D6A5363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714EA49-37AA-54B7-8A52-6E097AFC552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7151DBC-C60A-6686-1202-2C45A367F6B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D90FE531-DDF8-E52D-F82F-B9E5CC4697BF}"/>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
        <p:nvSpPr>
          <p:cNvPr id="13" name="Rectangle 12">
            <a:extLst>
              <a:ext uri="{FF2B5EF4-FFF2-40B4-BE49-F238E27FC236}">
                <a16:creationId xmlns:a16="http://schemas.microsoft.com/office/drawing/2014/main" id="{B72F8420-596E-E88C-48F3-1C0FF04A7951}"/>
              </a:ext>
            </a:extLst>
          </p:cNvPr>
          <p:cNvSpPr/>
          <p:nvPr/>
        </p:nvSpPr>
        <p:spPr>
          <a:xfrm>
            <a:off x="0" y="106926"/>
            <a:ext cx="8325853" cy="4929648"/>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tx1"/>
                </a:solidFill>
              </a:ln>
              <a:solidFill>
                <a:schemeClr val="tx1"/>
              </a:solidFill>
            </a:endParaRPr>
          </a:p>
        </p:txBody>
      </p:sp>
      <p:pic>
        <p:nvPicPr>
          <p:cNvPr id="4" name="Picture 3">
            <a:extLst>
              <a:ext uri="{FF2B5EF4-FFF2-40B4-BE49-F238E27FC236}">
                <a16:creationId xmlns:a16="http://schemas.microsoft.com/office/drawing/2014/main" id="{2873A4B2-7CAE-7EDA-E2DC-F4941EAC3E65}"/>
              </a:ext>
            </a:extLst>
          </p:cNvPr>
          <p:cNvPicPr>
            <a:picLocks noChangeAspect="1"/>
          </p:cNvPicPr>
          <p:nvPr/>
        </p:nvPicPr>
        <p:blipFill>
          <a:blip r:embed="rId4"/>
          <a:stretch>
            <a:fillRect/>
          </a:stretch>
        </p:blipFill>
        <p:spPr>
          <a:xfrm>
            <a:off x="0" y="106926"/>
            <a:ext cx="3605503" cy="4929648"/>
          </a:xfrm>
          <a:prstGeom prst="rect">
            <a:avLst/>
          </a:prstGeom>
        </p:spPr>
      </p:pic>
      <p:pic>
        <p:nvPicPr>
          <p:cNvPr id="10" name="Picture 9">
            <a:extLst>
              <a:ext uri="{FF2B5EF4-FFF2-40B4-BE49-F238E27FC236}">
                <a16:creationId xmlns:a16="http://schemas.microsoft.com/office/drawing/2014/main" id="{083FDAA1-8FD5-824B-49EA-E2E46B4E1ACD}"/>
              </a:ext>
            </a:extLst>
          </p:cNvPr>
          <p:cNvPicPr>
            <a:picLocks noChangeAspect="1"/>
          </p:cNvPicPr>
          <p:nvPr/>
        </p:nvPicPr>
        <p:blipFill>
          <a:blip r:embed="rId5"/>
          <a:stretch>
            <a:fillRect/>
          </a:stretch>
        </p:blipFill>
        <p:spPr>
          <a:xfrm>
            <a:off x="3605503" y="106926"/>
            <a:ext cx="3318970" cy="4929648"/>
          </a:xfrm>
          <a:prstGeom prst="rect">
            <a:avLst/>
          </a:prstGeom>
        </p:spPr>
      </p:pic>
      <p:pic>
        <p:nvPicPr>
          <p:cNvPr id="12" name="Picture 11">
            <a:extLst>
              <a:ext uri="{FF2B5EF4-FFF2-40B4-BE49-F238E27FC236}">
                <a16:creationId xmlns:a16="http://schemas.microsoft.com/office/drawing/2014/main" id="{6BE8401A-B3B6-CCCA-A99B-D10E6DB1195A}"/>
              </a:ext>
            </a:extLst>
          </p:cNvPr>
          <p:cNvPicPr>
            <a:picLocks noChangeAspect="1"/>
          </p:cNvPicPr>
          <p:nvPr/>
        </p:nvPicPr>
        <p:blipFill>
          <a:blip r:embed="rId6"/>
          <a:stretch>
            <a:fillRect/>
          </a:stretch>
        </p:blipFill>
        <p:spPr>
          <a:xfrm>
            <a:off x="6924473" y="973437"/>
            <a:ext cx="1246851" cy="3196625"/>
          </a:xfrm>
          <a:prstGeom prst="rect">
            <a:avLst/>
          </a:prstGeom>
        </p:spPr>
      </p:pic>
    </p:spTree>
    <p:extLst>
      <p:ext uri="{BB962C8B-B14F-4D97-AF65-F5344CB8AC3E}">
        <p14:creationId xmlns:p14="http://schemas.microsoft.com/office/powerpoint/2010/main" val="25092128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86B2480-7E5A-0854-A4E2-E04F81A8A3F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648A201-567D-6AB2-7647-2E6B308E5622}"/>
              </a:ext>
            </a:extLst>
          </p:cNvPr>
          <p:cNvPicPr>
            <a:picLocks noChangeAspect="1"/>
          </p:cNvPicPr>
          <p:nvPr/>
        </p:nvPicPr>
        <p:blipFill>
          <a:blip r:embed="rId4"/>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AA48769-6952-6E49-365E-EF732C8BF307}"/>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10F8037-1B2B-5EB4-4D82-EB0F872F3FB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1526852-566B-92FE-487B-C38D1F6650BC}"/>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Survey methods</a:t>
            </a:r>
          </a:p>
        </p:txBody>
      </p:sp>
      <p:sp>
        <p:nvSpPr>
          <p:cNvPr id="9" name="Rectangle 8">
            <a:extLst>
              <a:ext uri="{FF2B5EF4-FFF2-40B4-BE49-F238E27FC236}">
                <a16:creationId xmlns:a16="http://schemas.microsoft.com/office/drawing/2014/main" id="{05AE5069-7FC2-E75F-DD7F-6F1F9FD50F51}"/>
              </a:ext>
            </a:extLst>
          </p:cNvPr>
          <p:cNvSpPr/>
          <p:nvPr/>
        </p:nvSpPr>
        <p:spPr>
          <a:xfrm>
            <a:off x="1039900" y="1557563"/>
            <a:ext cx="6246054" cy="2186326"/>
          </a:xfrm>
          <a:prstGeom prst="rect">
            <a:avLst/>
          </a:prstGeom>
          <a:solidFill>
            <a:schemeClr val="tx1"/>
          </a:solid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white and black list with black text&#10;&#10;AI-generated content may be incorrect.">
            <a:extLst>
              <a:ext uri="{FF2B5EF4-FFF2-40B4-BE49-F238E27FC236}">
                <a16:creationId xmlns:a16="http://schemas.microsoft.com/office/drawing/2014/main" id="{ED234CCC-6FE7-9E53-C92E-EAD4AF26228F}"/>
              </a:ext>
            </a:extLst>
          </p:cNvPr>
          <p:cNvPicPr>
            <a:picLocks noChangeAspect="1"/>
          </p:cNvPicPr>
          <p:nvPr/>
        </p:nvPicPr>
        <p:blipFill>
          <a:blip r:embed="rId5"/>
          <a:srcRect l="12984" t="10374" r="11557" b="47352"/>
          <a:stretch>
            <a:fillRect/>
          </a:stretch>
        </p:blipFill>
        <p:spPr>
          <a:xfrm>
            <a:off x="1039899" y="1557563"/>
            <a:ext cx="3123027" cy="2059716"/>
          </a:xfrm>
          <a:prstGeom prst="rect">
            <a:avLst/>
          </a:prstGeom>
        </p:spPr>
      </p:pic>
      <p:pic>
        <p:nvPicPr>
          <p:cNvPr id="8" name="Picture 7" descr="A white and black list with black text&#10;&#10;AI-generated content may be incorrect.">
            <a:extLst>
              <a:ext uri="{FF2B5EF4-FFF2-40B4-BE49-F238E27FC236}">
                <a16:creationId xmlns:a16="http://schemas.microsoft.com/office/drawing/2014/main" id="{76944918-0FFA-629E-DD3C-5166B4F5D520}"/>
              </a:ext>
            </a:extLst>
          </p:cNvPr>
          <p:cNvPicPr>
            <a:picLocks noChangeAspect="1"/>
          </p:cNvPicPr>
          <p:nvPr/>
        </p:nvPicPr>
        <p:blipFill>
          <a:blip r:embed="rId5"/>
          <a:srcRect l="13875" t="52090" r="10665" b="3037"/>
          <a:stretch>
            <a:fillRect/>
          </a:stretch>
        </p:blipFill>
        <p:spPr>
          <a:xfrm>
            <a:off x="4162926" y="1557563"/>
            <a:ext cx="3123027" cy="2186326"/>
          </a:xfrm>
          <a:prstGeom prst="rect">
            <a:avLst/>
          </a:prstGeom>
        </p:spPr>
      </p:pic>
      <p:sp>
        <p:nvSpPr>
          <p:cNvPr id="10" name="Rectangle 9">
            <a:extLst>
              <a:ext uri="{FF2B5EF4-FFF2-40B4-BE49-F238E27FC236}">
                <a16:creationId xmlns:a16="http://schemas.microsoft.com/office/drawing/2014/main" id="{078510A2-7B68-7048-BCDC-6879F22EFEBF}"/>
              </a:ext>
            </a:extLst>
          </p:cNvPr>
          <p:cNvSpPr/>
          <p:nvPr/>
        </p:nvSpPr>
        <p:spPr>
          <a:xfrm>
            <a:off x="4572000" y="1557418"/>
            <a:ext cx="125730" cy="4571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75296737"/>
      </p:ext>
    </p:extLst>
  </p:cSld>
  <p:clrMapOvr>
    <a:masterClrMapping/>
  </p:clrMapOvr>
  <p:extLst>
    <p:ext uri="{6950BFC3-D8DA-4A85-94F7-54DA5524770B}">
      <p188:commentRel xmlns:p188="http://schemas.microsoft.com/office/powerpoint/2018/8/main" r:id="rId3"/>
    </p:ext>
  </p:extLs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139CAE77-D9AA-F73D-5E65-58828572C3C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1189A80-47AE-A424-EB6B-ADE056FA40A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FBCAA42-2B74-EDE9-72AD-08D26678FC8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A56EEB5-CAE2-C8CA-90C8-63A7AD1CAD17}"/>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BB532A17-60EB-79CB-0F52-D0B53EDEAAB7}"/>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Survey methods</a:t>
            </a:r>
          </a:p>
        </p:txBody>
      </p:sp>
      <p:pic>
        <p:nvPicPr>
          <p:cNvPr id="15" name="Picture 14">
            <a:extLst>
              <a:ext uri="{FF2B5EF4-FFF2-40B4-BE49-F238E27FC236}">
                <a16:creationId xmlns:a16="http://schemas.microsoft.com/office/drawing/2014/main" id="{0A12F83F-1F7C-65BD-504A-6C18D4E92111}"/>
              </a:ext>
            </a:extLst>
          </p:cNvPr>
          <p:cNvPicPr>
            <a:picLocks noChangeAspect="1"/>
          </p:cNvPicPr>
          <p:nvPr/>
        </p:nvPicPr>
        <p:blipFill>
          <a:blip r:embed="rId4"/>
          <a:stretch>
            <a:fillRect/>
          </a:stretch>
        </p:blipFill>
        <p:spPr>
          <a:xfrm>
            <a:off x="1340594" y="1189921"/>
            <a:ext cx="5956365" cy="3838239"/>
          </a:xfrm>
          <a:prstGeom prst="rect">
            <a:avLst/>
          </a:prstGeom>
        </p:spPr>
      </p:pic>
    </p:spTree>
    <p:extLst>
      <p:ext uri="{BB962C8B-B14F-4D97-AF65-F5344CB8AC3E}">
        <p14:creationId xmlns:p14="http://schemas.microsoft.com/office/powerpoint/2010/main" val="218752067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A1D9AC4E-FEB7-D116-3BAD-174221E6E6E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FCB01FA-6069-5EFF-998A-891E7455671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2980ABC2-8AF6-47B7-97B4-9A63ECE6452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B62C2F0-F819-C542-8AEF-7F108084C9B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12090F10-6D81-6774-61EA-D6DC82AEC307}"/>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Survey methods</a:t>
            </a:r>
          </a:p>
        </p:txBody>
      </p:sp>
      <p:pic>
        <p:nvPicPr>
          <p:cNvPr id="2" name="Picture 1">
            <a:extLst>
              <a:ext uri="{FF2B5EF4-FFF2-40B4-BE49-F238E27FC236}">
                <a16:creationId xmlns:a16="http://schemas.microsoft.com/office/drawing/2014/main" id="{CCC970C7-4389-D5DB-0F67-4916FAE45E28}"/>
              </a:ext>
            </a:extLst>
          </p:cNvPr>
          <p:cNvPicPr>
            <a:picLocks noChangeAspect="1"/>
          </p:cNvPicPr>
          <p:nvPr/>
        </p:nvPicPr>
        <p:blipFill>
          <a:blip r:embed="rId4"/>
          <a:stretch>
            <a:fillRect/>
          </a:stretch>
        </p:blipFill>
        <p:spPr>
          <a:xfrm>
            <a:off x="1340593" y="1189921"/>
            <a:ext cx="5956365" cy="3838238"/>
          </a:xfrm>
          <a:prstGeom prst="rect">
            <a:avLst/>
          </a:prstGeom>
        </p:spPr>
      </p:pic>
    </p:spTree>
    <p:extLst>
      <p:ext uri="{BB962C8B-B14F-4D97-AF65-F5344CB8AC3E}">
        <p14:creationId xmlns:p14="http://schemas.microsoft.com/office/powerpoint/2010/main" val="42797208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A470C0C-9C83-08AB-0A1F-7506139AFA6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572AD13-26D7-E47B-72BB-CDAC87CAD80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433D605C-4458-F3FD-DD6C-51824D4BE15D}"/>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DE960A4-12D2-65EA-3A63-17CB7DD1382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D802A580-3D19-F752-516C-9C3FBEBF8DD2}"/>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tx1">
                    <a:lumMod val="50000"/>
                  </a:schemeClr>
                </a:solidFill>
              </a:rPr>
              <a:t>Background</a:t>
            </a:r>
          </a:p>
          <a:p>
            <a:pPr marL="742950" indent="-742950">
              <a:spcBef>
                <a:spcPts val="0"/>
              </a:spcBef>
              <a:buAutoNum type="arabicParenR"/>
            </a:pPr>
            <a:r>
              <a:rPr lang="en-US" sz="4200" dirty="0">
                <a:solidFill>
                  <a:schemeClr val="tx1">
                    <a:lumMod val="50000"/>
                  </a:schemeClr>
                </a:solidFill>
              </a:rPr>
              <a:t>Data</a:t>
            </a:r>
          </a:p>
          <a:p>
            <a:pPr marL="742950" indent="-742950">
              <a:spcBef>
                <a:spcPts val="0"/>
              </a:spcBef>
              <a:buAutoNum type="arabicParenR"/>
            </a:pPr>
            <a:r>
              <a:rPr lang="en-US" sz="4200" dirty="0">
                <a:solidFill>
                  <a:schemeClr val="bg1"/>
                </a:solidFill>
              </a:rPr>
              <a:t>Analysis</a:t>
            </a:r>
          </a:p>
          <a:p>
            <a:pPr marL="742950" indent="-742950">
              <a:spcBef>
                <a:spcPts val="0"/>
              </a:spcBef>
              <a:buAutoNum type="arabicParenR"/>
            </a:pPr>
            <a:r>
              <a:rPr lang="en-US" sz="4200" dirty="0">
                <a:solidFill>
                  <a:schemeClr val="tx1">
                    <a:lumMod val="50000"/>
                  </a:schemeClr>
                </a:solidFill>
              </a:rPr>
              <a:t>Results</a:t>
            </a:r>
          </a:p>
          <a:p>
            <a:pPr marL="742950" indent="-742950">
              <a:spcBef>
                <a:spcPts val="0"/>
              </a:spcBef>
              <a:buAutoNum type="arabicParenR"/>
            </a:pPr>
            <a:r>
              <a:rPr lang="en-US" sz="4200" dirty="0">
                <a:solidFill>
                  <a:schemeClr val="tx1">
                    <a:lumMod val="50000"/>
                  </a:schemeClr>
                </a:solidFill>
              </a:rPr>
              <a:t>Case Studies</a:t>
            </a:r>
          </a:p>
          <a:p>
            <a:pPr marL="742950" indent="-742950">
              <a:spcBef>
                <a:spcPts val="0"/>
              </a:spcBef>
              <a:buAutoNum type="arabicParenR"/>
            </a:pPr>
            <a:r>
              <a:rPr lang="en-US" sz="4200" dirty="0">
                <a:solidFill>
                  <a:schemeClr val="tx1">
                    <a:lumMod val="50000"/>
                  </a:schemeClr>
                </a:solidFill>
              </a:rPr>
              <a:t>Discussion</a:t>
            </a:r>
          </a:p>
        </p:txBody>
      </p:sp>
      <p:sp>
        <p:nvSpPr>
          <p:cNvPr id="8" name="Google Shape;93;p19">
            <a:extLst>
              <a:ext uri="{FF2B5EF4-FFF2-40B4-BE49-F238E27FC236}">
                <a16:creationId xmlns:a16="http://schemas.microsoft.com/office/drawing/2014/main" id="{F0904556-4328-3593-6F92-52899DB84202}"/>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6744071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F0784720-26A8-32ED-CED3-A6E47096E59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3B1AA1B-B580-82C1-1F60-1FBD027BA01F}"/>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BDA99D8-33C5-B7CB-67B1-CD33A8B1CF0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F1AFDD8-3715-43C9-F05C-16B1556BF8D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C0EE1FCB-F79E-EF98-411C-DBE5176DF3C6}"/>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Analysis</a:t>
            </a:r>
          </a:p>
        </p:txBody>
      </p:sp>
      <p:sp>
        <p:nvSpPr>
          <p:cNvPr id="8" name="Google Shape;93;p19">
            <a:extLst>
              <a:ext uri="{FF2B5EF4-FFF2-40B4-BE49-F238E27FC236}">
                <a16:creationId xmlns:a16="http://schemas.microsoft.com/office/drawing/2014/main" id="{DA42B472-66EB-2FFC-AC52-A7CB5A883633}"/>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414736711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2F2C6B0-9165-7037-8560-F6F79FD287B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518ACD3-0326-22C1-723B-FF4E0D3B488E}"/>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0F1077A-44DD-70CD-2D15-E49CB06BEE1D}"/>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0472A79-0AC5-559E-7B1B-017D4B31605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FBDEC21C-CA9E-2AD9-0D97-B00D75EE3FCF}"/>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4875BED9-E453-E25D-C407-390240A1612A}"/>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Multivariate Auto-Regressive State Space models</a:t>
            </a:r>
          </a:p>
          <a:p>
            <a:pPr>
              <a:spcBef>
                <a:spcPts val="0"/>
              </a:spcBef>
              <a:spcAft>
                <a:spcPts val="0"/>
              </a:spcAft>
            </a:pPr>
            <a:r>
              <a:rPr lang="en-US" sz="2600" dirty="0">
                <a:solidFill>
                  <a:schemeClr val="bg1"/>
                </a:solidFill>
              </a:rPr>
              <a:t>	(MARSS)</a:t>
            </a:r>
          </a:p>
          <a:p>
            <a:pPr>
              <a:spcBef>
                <a:spcPts val="0"/>
              </a:spcBef>
              <a:spcAft>
                <a:spcPts val="0"/>
              </a:spcAft>
            </a:pPr>
            <a:r>
              <a:rPr lang="en-US" sz="2600" dirty="0">
                <a:solidFill>
                  <a:schemeClr val="bg1"/>
                </a:solidFill>
              </a:rPr>
              <a:t>	</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33308171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81A9F10-C7BD-7D54-2499-8C5B3442DB3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77FEEB4-FFA7-26F8-A69C-5D5A7A8A0643}"/>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6A7889C-9FB1-98CF-9CDA-62F083A01E1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EE2E1D2-CEFA-E148-73E5-A3DC0C798C2D}"/>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EA1C5A18-F3A0-5CF3-C85B-7F08ED4BD6FC}"/>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4AB8CF60-15E4-FFD8-725A-0890B8CF97DA}"/>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MARSS models</a:t>
            </a:r>
          </a:p>
          <a:p>
            <a:pPr>
              <a:spcBef>
                <a:spcPts val="0"/>
              </a:spcBef>
              <a:spcAft>
                <a:spcPts val="0"/>
              </a:spcAft>
            </a:pPr>
            <a:r>
              <a:rPr lang="en-US" sz="2600" dirty="0">
                <a:solidFill>
                  <a:schemeClr val="bg1"/>
                </a:solidFill>
              </a:rPr>
              <a:t>	Observation equation</a:t>
            </a:r>
          </a:p>
          <a:p>
            <a:pPr>
              <a:spcBef>
                <a:spcPts val="0"/>
              </a:spcBef>
              <a:spcAft>
                <a:spcPts val="0"/>
              </a:spcAft>
            </a:pPr>
            <a:r>
              <a:rPr lang="en-US" sz="2600" dirty="0">
                <a:solidFill>
                  <a:schemeClr val="bg1"/>
                </a:solidFill>
              </a:rPr>
              <a:t>	</a:t>
            </a:r>
          </a:p>
          <a:p>
            <a:pPr algn="ctr"/>
            <a:r>
              <a:rPr lang="en-US" sz="2600" b="1" dirty="0">
                <a:solidFill>
                  <a:schemeClr val="tx1">
                    <a:lumMod val="65000"/>
                  </a:schemeClr>
                </a:solidFill>
              </a:rPr>
              <a:t> </a:t>
            </a:r>
            <a:endParaRPr lang="en-US" sz="2600" dirty="0">
              <a:solidFill>
                <a:schemeClr val="tx1">
                  <a:lumMod val="65000"/>
                </a:schemeClr>
              </a:solidFill>
            </a:endParaRPr>
          </a:p>
          <a:p>
            <a:pPr algn="ctr"/>
            <a:r>
              <a:rPr lang="en-US" sz="2600" b="1" dirty="0" err="1">
                <a:solidFill>
                  <a:schemeClr val="bg1"/>
                </a:solidFill>
              </a:rPr>
              <a:t>y</a:t>
            </a:r>
            <a:r>
              <a:rPr lang="en-US" sz="2600" b="1" baseline="-25000" dirty="0" err="1">
                <a:solidFill>
                  <a:schemeClr val="bg1"/>
                </a:solidFill>
              </a:rPr>
              <a:t>t</a:t>
            </a:r>
            <a:r>
              <a:rPr lang="en-US" sz="2600" dirty="0">
                <a:solidFill>
                  <a:schemeClr val="bg1"/>
                </a:solidFill>
              </a:rPr>
              <a:t> = </a:t>
            </a:r>
            <a:r>
              <a:rPr lang="en-US" sz="2600" b="1" dirty="0" err="1">
                <a:solidFill>
                  <a:schemeClr val="bg1"/>
                </a:solidFill>
              </a:rPr>
              <a:t>Zx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a</a:t>
            </a:r>
            <a:r>
              <a:rPr lang="en-US" sz="2600" dirty="0">
                <a:solidFill>
                  <a:schemeClr val="bg1"/>
                </a:solidFill>
              </a:rPr>
              <a:t> + </a:t>
            </a:r>
            <a:r>
              <a:rPr lang="en-US" sz="2600" b="1" dirty="0" err="1">
                <a:solidFill>
                  <a:schemeClr val="bg1"/>
                </a:solidFill>
              </a:rPr>
              <a:t>v</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v</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R</a:t>
            </a:r>
            <a:r>
              <a:rPr lang="en-US" sz="2600" dirty="0">
                <a:solidFill>
                  <a:schemeClr val="bg1"/>
                </a:solidFill>
              </a:rPr>
              <a:t>)</a:t>
            </a:r>
          </a:p>
          <a:p>
            <a:pPr algn="ctr"/>
            <a:endParaRPr lang="en-US" sz="26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4085130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113A6FB6-8A09-A53F-5CCD-275450BFC97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8F22BDA-B4F9-4406-16D4-8CC2019B276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5F25AB3-0F63-1A27-BDDC-D9C2D5AC8C3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F2E005F-AEB6-F00B-E6E1-557613ADEF8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375D2F95-478B-52F1-C59F-EC3C887166F3}"/>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A22F183A-28ED-9C8F-76BF-CD2BFF018075}"/>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MARSS models</a:t>
            </a:r>
          </a:p>
          <a:p>
            <a:pPr>
              <a:spcBef>
                <a:spcPts val="0"/>
              </a:spcBef>
              <a:spcAft>
                <a:spcPts val="0"/>
              </a:spcAft>
            </a:pPr>
            <a:r>
              <a:rPr lang="en-US" sz="2600" dirty="0">
                <a:solidFill>
                  <a:schemeClr val="bg1"/>
                </a:solidFill>
              </a:rPr>
              <a:t>	Underlying state/process equation</a:t>
            </a:r>
          </a:p>
          <a:p>
            <a:pPr>
              <a:spcBef>
                <a:spcPts val="0"/>
              </a:spcBef>
              <a:spcAft>
                <a:spcPts val="0"/>
              </a:spcAft>
            </a:pPr>
            <a:r>
              <a:rPr lang="en-US" sz="2600" dirty="0">
                <a:solidFill>
                  <a:schemeClr val="bg1"/>
                </a:solidFill>
              </a:rPr>
              <a:t>	</a:t>
            </a:r>
          </a:p>
          <a:p>
            <a:pPr algn="ctr"/>
            <a:r>
              <a:rPr lang="en-US" sz="2600" b="1" dirty="0" err="1">
                <a:solidFill>
                  <a:schemeClr val="bg1"/>
                </a:solidFill>
              </a:rPr>
              <a:t>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Bx</a:t>
            </a:r>
            <a:r>
              <a:rPr lang="en-US" sz="2600" b="1" baseline="-25000" dirty="0">
                <a:solidFill>
                  <a:schemeClr val="bg1"/>
                </a:solidFill>
              </a:rPr>
              <a:t>t−1</a:t>
            </a:r>
            <a:r>
              <a:rPr lang="en-US" sz="2600" dirty="0">
                <a:solidFill>
                  <a:schemeClr val="bg1"/>
                </a:solidFill>
              </a:rPr>
              <a:t> + </a:t>
            </a:r>
            <a:r>
              <a:rPr lang="en-US" sz="2600" b="1" dirty="0">
                <a:solidFill>
                  <a:schemeClr val="bg1"/>
                </a:solidFill>
              </a:rPr>
              <a:t>u</a:t>
            </a:r>
            <a:r>
              <a:rPr lang="en-US" sz="2600" dirty="0">
                <a:solidFill>
                  <a:schemeClr val="bg1"/>
                </a:solidFill>
              </a:rPr>
              <a:t> + </a:t>
            </a:r>
            <a:r>
              <a:rPr lang="en-US" sz="2600" b="1" dirty="0" err="1">
                <a:solidFill>
                  <a:schemeClr val="bg1"/>
                </a:solidFill>
              </a:rPr>
              <a:t>w</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w</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Q</a:t>
            </a:r>
            <a:r>
              <a:rPr lang="en-US" sz="2600" dirty="0">
                <a:solidFill>
                  <a:schemeClr val="bg1"/>
                </a:solidFill>
              </a:rPr>
              <a:t>)</a:t>
            </a:r>
          </a:p>
          <a:p>
            <a:pPr algn="ctr"/>
            <a:r>
              <a:rPr lang="en-US" sz="2600" b="1" dirty="0" err="1">
                <a:solidFill>
                  <a:schemeClr val="tx1">
                    <a:lumMod val="50000"/>
                  </a:schemeClr>
                </a:solidFill>
              </a:rPr>
              <a:t>y</a:t>
            </a:r>
            <a:r>
              <a:rPr lang="en-US" sz="2600" b="1" baseline="-25000" dirty="0" err="1">
                <a:solidFill>
                  <a:schemeClr val="tx1">
                    <a:lumMod val="50000"/>
                  </a:schemeClr>
                </a:solidFill>
              </a:rPr>
              <a:t>t</a:t>
            </a:r>
            <a:r>
              <a:rPr lang="en-US" sz="2600" dirty="0">
                <a:solidFill>
                  <a:schemeClr val="tx1">
                    <a:lumMod val="50000"/>
                  </a:schemeClr>
                </a:solidFill>
              </a:rPr>
              <a:t> = </a:t>
            </a:r>
            <a:r>
              <a:rPr lang="en-US" sz="2600" b="1" dirty="0" err="1">
                <a:solidFill>
                  <a:schemeClr val="tx1">
                    <a:lumMod val="50000"/>
                  </a:schemeClr>
                </a:solidFill>
              </a:rPr>
              <a:t>Zx</a:t>
            </a:r>
            <a:r>
              <a:rPr lang="en-US" sz="2600" b="1" baseline="-25000" dirty="0" err="1">
                <a:solidFill>
                  <a:schemeClr val="tx1">
                    <a:lumMod val="50000"/>
                  </a:schemeClr>
                </a:solidFill>
              </a:rPr>
              <a:t>t</a:t>
            </a:r>
            <a:r>
              <a:rPr lang="en-US" sz="2600" dirty="0">
                <a:solidFill>
                  <a:schemeClr val="tx1">
                    <a:lumMod val="50000"/>
                  </a:schemeClr>
                </a:solidFill>
              </a:rPr>
              <a:t> + </a:t>
            </a:r>
            <a:r>
              <a:rPr lang="en-US" sz="2600" b="1" dirty="0">
                <a:solidFill>
                  <a:schemeClr val="tx1">
                    <a:lumMod val="50000"/>
                  </a:schemeClr>
                </a:solidFill>
              </a:rPr>
              <a:t>a</a:t>
            </a:r>
            <a:r>
              <a:rPr lang="en-US" sz="2600" dirty="0">
                <a:solidFill>
                  <a:schemeClr val="tx1">
                    <a:lumMod val="50000"/>
                  </a:schemeClr>
                </a:solidFill>
              </a:rPr>
              <a:t> + </a:t>
            </a:r>
            <a:r>
              <a:rPr lang="en-US" sz="2600" b="1" dirty="0" err="1">
                <a:solidFill>
                  <a:schemeClr val="tx1">
                    <a:lumMod val="50000"/>
                  </a:schemeClr>
                </a:solidFill>
              </a:rPr>
              <a:t>v</a:t>
            </a:r>
            <a:r>
              <a:rPr lang="en-US" sz="2600" b="1" baseline="-25000" dirty="0" err="1">
                <a:solidFill>
                  <a:schemeClr val="tx1">
                    <a:lumMod val="50000"/>
                  </a:schemeClr>
                </a:solidFill>
              </a:rPr>
              <a:t>t</a:t>
            </a:r>
            <a:r>
              <a:rPr lang="en-US" sz="2600" dirty="0">
                <a:solidFill>
                  <a:schemeClr val="tx1">
                    <a:lumMod val="50000"/>
                  </a:schemeClr>
                </a:solidFill>
              </a:rPr>
              <a:t>, where </a:t>
            </a:r>
            <a:r>
              <a:rPr lang="en-US" sz="2600" b="1" dirty="0" err="1">
                <a:solidFill>
                  <a:schemeClr val="tx1">
                    <a:lumMod val="50000"/>
                  </a:schemeClr>
                </a:solidFill>
              </a:rPr>
              <a:t>v</a:t>
            </a:r>
            <a:r>
              <a:rPr lang="en-US" sz="2600" b="1" baseline="-25000" dirty="0" err="1">
                <a:solidFill>
                  <a:schemeClr val="tx1">
                    <a:lumMod val="50000"/>
                  </a:schemeClr>
                </a:solidFill>
              </a:rPr>
              <a:t>t</a:t>
            </a:r>
            <a:r>
              <a:rPr lang="en-US" sz="2600" dirty="0" err="1">
                <a:solidFill>
                  <a:schemeClr val="tx1">
                    <a:lumMod val="50000"/>
                  </a:schemeClr>
                </a:solidFill>
              </a:rPr>
              <a:t>∼MVN</a:t>
            </a:r>
            <a:r>
              <a:rPr lang="en-US" sz="2600" dirty="0">
                <a:solidFill>
                  <a:schemeClr val="tx1">
                    <a:lumMod val="50000"/>
                  </a:schemeClr>
                </a:solidFill>
              </a:rPr>
              <a:t>(0,</a:t>
            </a:r>
            <a:r>
              <a:rPr lang="en-US" sz="2600" b="1" dirty="0">
                <a:solidFill>
                  <a:schemeClr val="tx1">
                    <a:lumMod val="50000"/>
                  </a:schemeClr>
                </a:solidFill>
              </a:rPr>
              <a:t>R</a:t>
            </a:r>
            <a:r>
              <a:rPr lang="en-US" sz="2600" dirty="0">
                <a:solidFill>
                  <a:schemeClr val="tx1">
                    <a:lumMod val="50000"/>
                  </a:schemeClr>
                </a:solidFill>
              </a:rPr>
              <a:t>)</a:t>
            </a:r>
          </a:p>
          <a:p>
            <a:pPr algn="ctr"/>
            <a:endParaRPr lang="en-US" sz="26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8369960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4C3E2C1-3DBF-FC65-3FF1-8D2139C6889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E50AC7-7AFE-A866-17C6-7B648AE56CF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AA3C2754-AC1A-6B16-E43E-F071E3DBC517}"/>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E0918E8-5006-28B1-9AC3-49EDB0C3DF1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79B89F1-0ED6-882F-E17C-C4677C33B3AF}"/>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D056BAB9-E55C-E265-5538-FE42048F51AA}"/>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MARSS models</a:t>
            </a:r>
          </a:p>
          <a:p>
            <a:pPr>
              <a:spcBef>
                <a:spcPts val="0"/>
              </a:spcBef>
              <a:spcAft>
                <a:spcPts val="0"/>
              </a:spcAft>
            </a:pPr>
            <a:r>
              <a:rPr lang="en-US" sz="2600" dirty="0">
                <a:solidFill>
                  <a:schemeClr val="bg1"/>
                </a:solidFill>
              </a:rPr>
              <a:t>	Important features?</a:t>
            </a:r>
          </a:p>
          <a:p>
            <a:pPr>
              <a:spcBef>
                <a:spcPts val="0"/>
              </a:spcBef>
              <a:spcAft>
                <a:spcPts val="0"/>
              </a:spcAft>
            </a:pPr>
            <a:r>
              <a:rPr lang="en-US" sz="2600" dirty="0">
                <a:solidFill>
                  <a:schemeClr val="bg1"/>
                </a:solidFill>
              </a:rPr>
              <a:t>	</a:t>
            </a:r>
          </a:p>
          <a:p>
            <a:pPr algn="ctr"/>
            <a:r>
              <a:rPr lang="en-US" sz="2600" b="1" dirty="0" err="1">
                <a:solidFill>
                  <a:schemeClr val="bg1"/>
                </a:solidFill>
              </a:rPr>
              <a:t>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Bx</a:t>
            </a:r>
            <a:r>
              <a:rPr lang="en-US" sz="2600" b="1" baseline="-25000" dirty="0">
                <a:solidFill>
                  <a:schemeClr val="bg1"/>
                </a:solidFill>
              </a:rPr>
              <a:t>t−1</a:t>
            </a:r>
            <a:r>
              <a:rPr lang="en-US" sz="2600" dirty="0">
                <a:solidFill>
                  <a:schemeClr val="bg1"/>
                </a:solidFill>
              </a:rPr>
              <a:t> + </a:t>
            </a:r>
            <a:r>
              <a:rPr lang="en-US" sz="2600" b="1" dirty="0">
                <a:solidFill>
                  <a:schemeClr val="bg1"/>
                </a:solidFill>
              </a:rPr>
              <a:t>u</a:t>
            </a:r>
            <a:r>
              <a:rPr lang="en-US" sz="2600" dirty="0">
                <a:solidFill>
                  <a:schemeClr val="bg1"/>
                </a:solidFill>
              </a:rPr>
              <a:t> + </a:t>
            </a:r>
            <a:r>
              <a:rPr lang="en-US" sz="2600" b="1" dirty="0" err="1">
                <a:solidFill>
                  <a:schemeClr val="bg1"/>
                </a:solidFill>
              </a:rPr>
              <a:t>w</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w</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Q</a:t>
            </a:r>
            <a:r>
              <a:rPr lang="en-US" sz="2600" dirty="0">
                <a:solidFill>
                  <a:schemeClr val="bg1"/>
                </a:solidFill>
              </a:rPr>
              <a:t>)</a:t>
            </a:r>
          </a:p>
          <a:p>
            <a:pPr algn="ctr"/>
            <a:r>
              <a:rPr lang="en-US" sz="2600" b="1" dirty="0" err="1">
                <a:solidFill>
                  <a:schemeClr val="bg1"/>
                </a:solidFill>
              </a:rPr>
              <a:t>y</a:t>
            </a:r>
            <a:r>
              <a:rPr lang="en-US" sz="2600" b="1" baseline="-25000" dirty="0" err="1">
                <a:solidFill>
                  <a:schemeClr val="bg1"/>
                </a:solidFill>
              </a:rPr>
              <a:t>t</a:t>
            </a:r>
            <a:r>
              <a:rPr lang="en-US" sz="2600" dirty="0">
                <a:solidFill>
                  <a:schemeClr val="bg1"/>
                </a:solidFill>
              </a:rPr>
              <a:t> = </a:t>
            </a:r>
            <a:r>
              <a:rPr lang="en-US" sz="2600" b="1" dirty="0" err="1">
                <a:solidFill>
                  <a:schemeClr val="bg1"/>
                </a:solidFill>
              </a:rPr>
              <a:t>Zx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a</a:t>
            </a:r>
            <a:r>
              <a:rPr lang="en-US" sz="2600" dirty="0">
                <a:solidFill>
                  <a:schemeClr val="bg1"/>
                </a:solidFill>
              </a:rPr>
              <a:t> + </a:t>
            </a:r>
            <a:r>
              <a:rPr lang="en-US" sz="2600" b="1" dirty="0" err="1">
                <a:solidFill>
                  <a:schemeClr val="bg1"/>
                </a:solidFill>
              </a:rPr>
              <a:t>v</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v</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R</a:t>
            </a:r>
            <a:r>
              <a:rPr lang="en-US" sz="2600" dirty="0">
                <a:solidFill>
                  <a:schemeClr val="bg1"/>
                </a:solidFill>
              </a:rPr>
              <a:t>)</a:t>
            </a:r>
          </a:p>
          <a:p>
            <a:pPr algn="ctr"/>
            <a:endParaRPr lang="en-US" sz="26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381343074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DF5F180-0D80-700E-001F-FF80110B856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F735B55-0C7C-4AFA-0C7E-CFF0763D7EC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8483554-0211-11D9-0004-34FA8B44FFC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6F64FFB-9F89-92AF-BAEE-0B5F8A1F28E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594491E5-F958-AD72-67BD-0215CFD19158}"/>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EB8A211A-F4DD-95E9-5091-9EE03E4B95FE}"/>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MARSS models</a:t>
            </a:r>
          </a:p>
          <a:p>
            <a:pPr>
              <a:spcBef>
                <a:spcPts val="0"/>
              </a:spcBef>
              <a:spcAft>
                <a:spcPts val="0"/>
              </a:spcAft>
            </a:pPr>
            <a:r>
              <a:rPr lang="en-US" sz="2600" dirty="0">
                <a:solidFill>
                  <a:schemeClr val="bg1"/>
                </a:solidFill>
              </a:rPr>
              <a:t>	Important features</a:t>
            </a:r>
          </a:p>
          <a:p>
            <a:pPr>
              <a:spcBef>
                <a:spcPts val="0"/>
              </a:spcBef>
              <a:spcAft>
                <a:spcPts val="0"/>
              </a:spcAft>
            </a:pPr>
            <a:r>
              <a:rPr lang="en-US" sz="2600" dirty="0">
                <a:solidFill>
                  <a:schemeClr val="bg1"/>
                </a:solidFill>
              </a:rPr>
              <a:t>	</a:t>
            </a:r>
          </a:p>
          <a:p>
            <a:pPr algn="ctr"/>
            <a:r>
              <a:rPr lang="en-US" sz="2600" b="1" dirty="0" err="1">
                <a:solidFill>
                  <a:schemeClr val="bg1"/>
                </a:solidFill>
              </a:rPr>
              <a:t>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Bx</a:t>
            </a:r>
            <a:r>
              <a:rPr lang="en-US" sz="2600" b="1" baseline="-25000" dirty="0">
                <a:solidFill>
                  <a:schemeClr val="bg1"/>
                </a:solidFill>
              </a:rPr>
              <a:t>t−1</a:t>
            </a:r>
            <a:r>
              <a:rPr lang="en-US" sz="2600" dirty="0">
                <a:solidFill>
                  <a:schemeClr val="bg1"/>
                </a:solidFill>
              </a:rPr>
              <a:t> + </a:t>
            </a:r>
            <a:r>
              <a:rPr lang="en-US" sz="2600" b="1" dirty="0">
                <a:solidFill>
                  <a:schemeClr val="bg1"/>
                </a:solidFill>
              </a:rPr>
              <a:t>u</a:t>
            </a:r>
            <a:r>
              <a:rPr lang="en-US" sz="2600" dirty="0">
                <a:solidFill>
                  <a:schemeClr val="bg1"/>
                </a:solidFill>
              </a:rPr>
              <a:t> + </a:t>
            </a:r>
            <a:r>
              <a:rPr lang="en-US" sz="2600" b="1" dirty="0" err="1">
                <a:solidFill>
                  <a:schemeClr val="bg1"/>
                </a:solidFill>
              </a:rPr>
              <a:t>w</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w</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Q</a:t>
            </a:r>
            <a:r>
              <a:rPr lang="en-US" sz="2600" dirty="0">
                <a:solidFill>
                  <a:schemeClr val="bg1"/>
                </a:solidFill>
              </a:rPr>
              <a:t>)</a:t>
            </a:r>
          </a:p>
          <a:p>
            <a:pPr algn="ctr"/>
            <a:r>
              <a:rPr lang="en-US" sz="2600" b="1" dirty="0" err="1">
                <a:solidFill>
                  <a:schemeClr val="bg1"/>
                </a:solidFill>
              </a:rPr>
              <a:t>y</a:t>
            </a:r>
            <a:r>
              <a:rPr lang="en-US" sz="2600" b="1" baseline="-25000" dirty="0" err="1">
                <a:solidFill>
                  <a:schemeClr val="bg1"/>
                </a:solidFill>
              </a:rPr>
              <a:t>t</a:t>
            </a:r>
            <a:r>
              <a:rPr lang="en-US" sz="2600" dirty="0">
                <a:solidFill>
                  <a:schemeClr val="bg1"/>
                </a:solidFill>
              </a:rPr>
              <a:t> = </a:t>
            </a:r>
            <a:r>
              <a:rPr lang="en-US" sz="2600" b="1" dirty="0" err="1">
                <a:solidFill>
                  <a:schemeClr val="bg1"/>
                </a:solidFill>
              </a:rPr>
              <a:t>Zx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a</a:t>
            </a:r>
            <a:r>
              <a:rPr lang="en-US" sz="2600" dirty="0">
                <a:solidFill>
                  <a:schemeClr val="bg1"/>
                </a:solidFill>
              </a:rPr>
              <a:t> + </a:t>
            </a:r>
            <a:r>
              <a:rPr lang="en-US" sz="2600" b="1" dirty="0" err="1">
                <a:solidFill>
                  <a:schemeClr val="bg1"/>
                </a:solidFill>
              </a:rPr>
              <a:t>v</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v</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R</a:t>
            </a:r>
            <a:r>
              <a:rPr lang="en-US" sz="2600" dirty="0">
                <a:solidFill>
                  <a:schemeClr val="bg1"/>
                </a:solidFill>
              </a:rPr>
              <a:t>)</a:t>
            </a:r>
          </a:p>
          <a:p>
            <a:pPr algn="ctr"/>
            <a:endParaRPr lang="en-US" sz="2600" dirty="0">
              <a:solidFill>
                <a:schemeClr val="bg1"/>
              </a:solidFill>
            </a:endParaRPr>
          </a:p>
          <a:p>
            <a:pPr>
              <a:spcBef>
                <a:spcPts val="0"/>
              </a:spcBef>
              <a:spcAft>
                <a:spcPts val="0"/>
              </a:spcAft>
            </a:pPr>
            <a:r>
              <a:rPr lang="en-US" sz="1800" dirty="0">
                <a:solidFill>
                  <a:schemeClr val="bg1"/>
                </a:solidFill>
              </a:rPr>
              <a:t>	</a:t>
            </a:r>
            <a:r>
              <a:rPr lang="en-US" sz="1800" dirty="0">
                <a:solidFill>
                  <a:srgbClr val="0400FF"/>
                </a:solidFill>
              </a:rPr>
              <a:t> </a:t>
            </a:r>
            <a:r>
              <a:rPr lang="en-US" sz="1800" dirty="0">
                <a:solidFill>
                  <a:schemeClr val="bg1"/>
                </a:solidFill>
              </a:rPr>
              <a:t>		</a:t>
            </a:r>
            <a:r>
              <a:rPr lang="en-US" sz="1800" dirty="0">
                <a:solidFill>
                  <a:srgbClr val="00FF04"/>
                </a:solidFill>
              </a:rPr>
              <a:t>Trend (observation bias)</a:t>
            </a:r>
          </a:p>
          <a:p>
            <a:pPr>
              <a:spcBef>
                <a:spcPts val="0"/>
              </a:spcBef>
              <a:spcAft>
                <a:spcPts val="0"/>
              </a:spcAft>
            </a:pPr>
            <a:r>
              <a:rPr lang="en-US" sz="1800" dirty="0">
                <a:solidFill>
                  <a:srgbClr val="FF0000"/>
                </a:solidFill>
              </a:rPr>
              <a:t>	</a:t>
            </a:r>
            <a:endParaRPr lang="en-US" sz="1800" dirty="0">
              <a:solidFill>
                <a:schemeClr val="bg1"/>
              </a:solidFill>
            </a:endParaRPr>
          </a:p>
        </p:txBody>
      </p:sp>
      <p:sp>
        <p:nvSpPr>
          <p:cNvPr id="11" name="Rectangle 10">
            <a:extLst>
              <a:ext uri="{FF2B5EF4-FFF2-40B4-BE49-F238E27FC236}">
                <a16:creationId xmlns:a16="http://schemas.microsoft.com/office/drawing/2014/main" id="{E2AEE09F-5A4E-E9BA-9262-590E456D9164}"/>
              </a:ext>
            </a:extLst>
          </p:cNvPr>
          <p:cNvSpPr/>
          <p:nvPr/>
        </p:nvSpPr>
        <p:spPr>
          <a:xfrm>
            <a:off x="2971800" y="3130062"/>
            <a:ext cx="281354" cy="298938"/>
          </a:xfrm>
          <a:prstGeom prst="rect">
            <a:avLst/>
          </a:prstGeom>
          <a:noFill/>
          <a:ln w="28575">
            <a:solidFill>
              <a:srgbClr val="00FF0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76429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9E433CD-26FD-7447-DFD9-ECE2395ABA7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40F2BFF-5202-21FC-890C-140D5CE0655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31E7A16-08F4-BCD4-6ECA-F4546BD81BF2}"/>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49F6CE0-D4E5-A38F-0966-667D219E332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0F7900E4-20D5-E145-A0F5-9A5FA4538B03}"/>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DE03CEC1-2F74-7E94-9333-9AAB22600769}"/>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MARSS models</a:t>
            </a:r>
          </a:p>
          <a:p>
            <a:pPr>
              <a:spcBef>
                <a:spcPts val="0"/>
              </a:spcBef>
              <a:spcAft>
                <a:spcPts val="0"/>
              </a:spcAft>
            </a:pPr>
            <a:r>
              <a:rPr lang="en-US" sz="2600" dirty="0">
                <a:solidFill>
                  <a:schemeClr val="bg1"/>
                </a:solidFill>
              </a:rPr>
              <a:t>	Important features</a:t>
            </a:r>
          </a:p>
          <a:p>
            <a:pPr>
              <a:spcBef>
                <a:spcPts val="0"/>
              </a:spcBef>
              <a:spcAft>
                <a:spcPts val="0"/>
              </a:spcAft>
            </a:pPr>
            <a:r>
              <a:rPr lang="en-US" sz="2600" dirty="0">
                <a:solidFill>
                  <a:schemeClr val="bg1"/>
                </a:solidFill>
              </a:rPr>
              <a:t>	</a:t>
            </a:r>
          </a:p>
          <a:p>
            <a:pPr algn="ctr"/>
            <a:r>
              <a:rPr lang="en-US" sz="2600" b="1" dirty="0" err="1">
                <a:solidFill>
                  <a:schemeClr val="bg1"/>
                </a:solidFill>
              </a:rPr>
              <a:t>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Bx</a:t>
            </a:r>
            <a:r>
              <a:rPr lang="en-US" sz="2600" b="1" baseline="-25000" dirty="0">
                <a:solidFill>
                  <a:schemeClr val="bg1"/>
                </a:solidFill>
              </a:rPr>
              <a:t>t−1</a:t>
            </a:r>
            <a:r>
              <a:rPr lang="en-US" sz="2600" dirty="0">
                <a:solidFill>
                  <a:schemeClr val="bg1"/>
                </a:solidFill>
              </a:rPr>
              <a:t> + </a:t>
            </a:r>
            <a:r>
              <a:rPr lang="en-US" sz="2600" b="1" dirty="0">
                <a:solidFill>
                  <a:schemeClr val="bg1"/>
                </a:solidFill>
              </a:rPr>
              <a:t>u</a:t>
            </a:r>
            <a:r>
              <a:rPr lang="en-US" sz="2600" dirty="0">
                <a:solidFill>
                  <a:schemeClr val="bg1"/>
                </a:solidFill>
              </a:rPr>
              <a:t> + </a:t>
            </a:r>
            <a:r>
              <a:rPr lang="en-US" sz="2600" b="1" dirty="0" err="1">
                <a:solidFill>
                  <a:schemeClr val="bg1"/>
                </a:solidFill>
              </a:rPr>
              <a:t>w</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w</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Q</a:t>
            </a:r>
            <a:r>
              <a:rPr lang="en-US" sz="2600" dirty="0">
                <a:solidFill>
                  <a:schemeClr val="bg1"/>
                </a:solidFill>
              </a:rPr>
              <a:t>)</a:t>
            </a:r>
          </a:p>
          <a:p>
            <a:pPr algn="ctr"/>
            <a:r>
              <a:rPr lang="en-US" sz="2600" b="1" dirty="0" err="1">
                <a:solidFill>
                  <a:schemeClr val="bg1"/>
                </a:solidFill>
              </a:rPr>
              <a:t>y</a:t>
            </a:r>
            <a:r>
              <a:rPr lang="en-US" sz="2600" b="1" baseline="-25000" dirty="0" err="1">
                <a:solidFill>
                  <a:schemeClr val="bg1"/>
                </a:solidFill>
              </a:rPr>
              <a:t>t</a:t>
            </a:r>
            <a:r>
              <a:rPr lang="en-US" sz="2600" dirty="0">
                <a:solidFill>
                  <a:schemeClr val="bg1"/>
                </a:solidFill>
              </a:rPr>
              <a:t> = </a:t>
            </a:r>
            <a:r>
              <a:rPr lang="en-US" sz="2600" b="1" dirty="0" err="1">
                <a:solidFill>
                  <a:schemeClr val="bg1"/>
                </a:solidFill>
              </a:rPr>
              <a:t>Zx</a:t>
            </a:r>
            <a:r>
              <a:rPr lang="en-US" sz="2600" b="1" baseline="-25000" dirty="0" err="1">
                <a:solidFill>
                  <a:schemeClr val="bg1"/>
                </a:solidFill>
              </a:rPr>
              <a:t>t</a:t>
            </a:r>
            <a:r>
              <a:rPr lang="en-US" sz="2600" dirty="0">
                <a:solidFill>
                  <a:schemeClr val="bg1"/>
                </a:solidFill>
              </a:rPr>
              <a:t> + </a:t>
            </a:r>
            <a:r>
              <a:rPr lang="en-US" sz="2600" b="1" dirty="0">
                <a:solidFill>
                  <a:schemeClr val="bg1"/>
                </a:solidFill>
              </a:rPr>
              <a:t>a</a:t>
            </a:r>
            <a:r>
              <a:rPr lang="en-US" sz="2600" dirty="0">
                <a:solidFill>
                  <a:schemeClr val="bg1"/>
                </a:solidFill>
              </a:rPr>
              <a:t> + </a:t>
            </a:r>
            <a:r>
              <a:rPr lang="en-US" sz="2600" b="1" dirty="0" err="1">
                <a:solidFill>
                  <a:schemeClr val="bg1"/>
                </a:solidFill>
              </a:rPr>
              <a:t>v</a:t>
            </a:r>
            <a:r>
              <a:rPr lang="en-US" sz="2600" b="1" baseline="-25000" dirty="0" err="1">
                <a:solidFill>
                  <a:schemeClr val="bg1"/>
                </a:solidFill>
              </a:rPr>
              <a:t>t</a:t>
            </a:r>
            <a:r>
              <a:rPr lang="en-US" sz="2600" dirty="0">
                <a:solidFill>
                  <a:schemeClr val="bg1"/>
                </a:solidFill>
              </a:rPr>
              <a:t>, where </a:t>
            </a:r>
            <a:r>
              <a:rPr lang="en-US" sz="2600" b="1" dirty="0" err="1">
                <a:solidFill>
                  <a:schemeClr val="bg1"/>
                </a:solidFill>
              </a:rPr>
              <a:t>v</a:t>
            </a:r>
            <a:r>
              <a:rPr lang="en-US" sz="2600" b="1" baseline="-25000" dirty="0" err="1">
                <a:solidFill>
                  <a:schemeClr val="bg1"/>
                </a:solidFill>
              </a:rPr>
              <a:t>t</a:t>
            </a:r>
            <a:r>
              <a:rPr lang="en-US" sz="2600" dirty="0" err="1">
                <a:solidFill>
                  <a:schemeClr val="bg1"/>
                </a:solidFill>
              </a:rPr>
              <a:t>∼MVN</a:t>
            </a:r>
            <a:r>
              <a:rPr lang="en-US" sz="2600" dirty="0">
                <a:solidFill>
                  <a:schemeClr val="bg1"/>
                </a:solidFill>
              </a:rPr>
              <a:t>(0,</a:t>
            </a:r>
            <a:r>
              <a:rPr lang="en-US" sz="2600" b="1" dirty="0">
                <a:solidFill>
                  <a:schemeClr val="bg1"/>
                </a:solidFill>
              </a:rPr>
              <a:t>R</a:t>
            </a:r>
            <a:r>
              <a:rPr lang="en-US" sz="2600" dirty="0">
                <a:solidFill>
                  <a:schemeClr val="bg1"/>
                </a:solidFill>
              </a:rPr>
              <a:t>)</a:t>
            </a:r>
          </a:p>
          <a:p>
            <a:pPr algn="ctr"/>
            <a:endParaRPr lang="en-US" sz="2600" dirty="0">
              <a:solidFill>
                <a:schemeClr val="bg1"/>
              </a:solidFill>
            </a:endParaRPr>
          </a:p>
          <a:p>
            <a:pPr>
              <a:spcBef>
                <a:spcPts val="0"/>
              </a:spcBef>
              <a:spcAft>
                <a:spcPts val="0"/>
              </a:spcAft>
            </a:pPr>
            <a:r>
              <a:rPr lang="en-US" sz="1800" dirty="0">
                <a:solidFill>
                  <a:schemeClr val="bg1"/>
                </a:solidFill>
              </a:rPr>
              <a:t>			</a:t>
            </a:r>
            <a:r>
              <a:rPr lang="en-US" sz="1800" dirty="0">
                <a:solidFill>
                  <a:srgbClr val="00FF04"/>
                </a:solidFill>
              </a:rPr>
              <a:t>Trend (observation bias)</a:t>
            </a:r>
            <a:r>
              <a:rPr lang="en-US" sz="1800" dirty="0">
                <a:solidFill>
                  <a:srgbClr val="FF0000"/>
                </a:solidFill>
              </a:rPr>
              <a:t>	     </a:t>
            </a:r>
          </a:p>
          <a:p>
            <a:pPr>
              <a:spcBef>
                <a:spcPts val="0"/>
              </a:spcBef>
              <a:spcAft>
                <a:spcPts val="0"/>
              </a:spcAft>
            </a:pPr>
            <a:r>
              <a:rPr lang="en-US" sz="1800" dirty="0">
                <a:solidFill>
                  <a:srgbClr val="FF0000"/>
                </a:solidFill>
              </a:rPr>
              <a:t>						</a:t>
            </a:r>
            <a:r>
              <a:rPr lang="en-US" sz="1800" dirty="0">
                <a:solidFill>
                  <a:srgbClr val="FBFF00"/>
                </a:solidFill>
              </a:rPr>
              <a:t>Separate errors</a:t>
            </a:r>
            <a:endParaRPr lang="en-US" sz="1800" dirty="0">
              <a:solidFill>
                <a:schemeClr val="bg1"/>
              </a:solidFill>
            </a:endParaRPr>
          </a:p>
        </p:txBody>
      </p:sp>
      <p:sp>
        <p:nvSpPr>
          <p:cNvPr id="11" name="Rectangle 10">
            <a:extLst>
              <a:ext uri="{FF2B5EF4-FFF2-40B4-BE49-F238E27FC236}">
                <a16:creationId xmlns:a16="http://schemas.microsoft.com/office/drawing/2014/main" id="{3D8358E9-72FC-8DAC-8DFB-8D50FE24E580}"/>
              </a:ext>
            </a:extLst>
          </p:cNvPr>
          <p:cNvSpPr/>
          <p:nvPr/>
        </p:nvSpPr>
        <p:spPr>
          <a:xfrm>
            <a:off x="2971800" y="3130062"/>
            <a:ext cx="281354" cy="298938"/>
          </a:xfrm>
          <a:prstGeom prst="rect">
            <a:avLst/>
          </a:prstGeom>
          <a:noFill/>
          <a:ln w="28575">
            <a:solidFill>
              <a:srgbClr val="00FF0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879B028-7BE9-F6CD-3997-56FDE72A7302}"/>
              </a:ext>
            </a:extLst>
          </p:cNvPr>
          <p:cNvSpPr/>
          <p:nvPr/>
        </p:nvSpPr>
        <p:spPr>
          <a:xfrm>
            <a:off x="3640015" y="2595557"/>
            <a:ext cx="430823" cy="310841"/>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D3CD2C8-2E2C-CA75-AC1B-5B583BB7980E}"/>
              </a:ext>
            </a:extLst>
          </p:cNvPr>
          <p:cNvSpPr/>
          <p:nvPr/>
        </p:nvSpPr>
        <p:spPr>
          <a:xfrm>
            <a:off x="3549264" y="3124110"/>
            <a:ext cx="398251" cy="310841"/>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8E7BC4C-7039-FC8C-DFC3-2D06F7E25F54}"/>
              </a:ext>
            </a:extLst>
          </p:cNvPr>
          <p:cNvSpPr/>
          <p:nvPr/>
        </p:nvSpPr>
        <p:spPr>
          <a:xfrm>
            <a:off x="5111891" y="3072643"/>
            <a:ext cx="2241345" cy="402009"/>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64239D2-1174-AEB0-1D73-5675E6A8F420}"/>
              </a:ext>
            </a:extLst>
          </p:cNvPr>
          <p:cNvSpPr/>
          <p:nvPr/>
        </p:nvSpPr>
        <p:spPr>
          <a:xfrm>
            <a:off x="5266361" y="2532117"/>
            <a:ext cx="2241345" cy="402009"/>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3676316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ECF52C8-CCA0-FDAF-D57C-D0876D15D7D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92665A4-9082-B515-24D4-F1342DD5567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8514368-F8EE-2378-7828-C5A7FBD42E53}"/>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5F2D05-0E79-899B-35CF-C4136EDE55E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9AA09396-F1FB-0E86-A87C-6DAE10BD90AA}"/>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F028115F-8D43-F19A-CBB4-F4FDF3F3C882}"/>
              </a:ext>
            </a:extLst>
          </p:cNvPr>
          <p:cNvSpPr txBox="1">
            <a:spLocks/>
          </p:cNvSpPr>
          <p:nvPr/>
        </p:nvSpPr>
        <p:spPr>
          <a:xfrm>
            <a:off x="311700" y="1152474"/>
            <a:ext cx="8014153" cy="447862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What am I concerned with?</a:t>
            </a:r>
          </a:p>
          <a:p>
            <a:pPr>
              <a:spcBef>
                <a:spcPts val="0"/>
              </a:spcBef>
              <a:spcAft>
                <a:spcPts val="0"/>
              </a:spcAft>
            </a:pPr>
            <a:r>
              <a:rPr lang="en-US" sz="2600" dirty="0">
                <a:solidFill>
                  <a:schemeClr val="bg1"/>
                </a:solidFill>
              </a:rPr>
              <a:t>	</a:t>
            </a:r>
          </a:p>
          <a:p>
            <a:pPr>
              <a:spcBef>
                <a:spcPts val="0"/>
              </a:spcBef>
              <a:spcAft>
                <a:spcPts val="0"/>
              </a:spcAft>
            </a:pPr>
            <a:r>
              <a:rPr lang="en-US" sz="2600" dirty="0">
                <a:solidFill>
                  <a:schemeClr val="bg1"/>
                </a:solidFill>
              </a:rPr>
              <a:t>	</a:t>
            </a:r>
          </a:p>
          <a:p>
            <a:pPr algn="ctr"/>
            <a:r>
              <a:rPr lang="en-US" sz="2600" b="1" dirty="0" err="1">
                <a:solidFill>
                  <a:schemeClr val="tx1">
                    <a:lumMod val="65000"/>
                  </a:schemeClr>
                </a:solidFill>
              </a:rPr>
              <a:t>x</a:t>
            </a:r>
            <a:r>
              <a:rPr lang="en-US" sz="2600" b="1" baseline="-25000" dirty="0" err="1">
                <a:solidFill>
                  <a:schemeClr val="tx1">
                    <a:lumMod val="65000"/>
                  </a:schemeClr>
                </a:solidFill>
              </a:rPr>
              <a:t>t</a:t>
            </a:r>
            <a:r>
              <a:rPr lang="en-US" sz="2600" dirty="0">
                <a:solidFill>
                  <a:schemeClr val="tx1">
                    <a:lumMod val="65000"/>
                  </a:schemeClr>
                </a:solidFill>
              </a:rPr>
              <a:t> = </a:t>
            </a:r>
            <a:r>
              <a:rPr lang="en-US" sz="2600" b="1" dirty="0">
                <a:solidFill>
                  <a:schemeClr val="tx1">
                    <a:lumMod val="65000"/>
                  </a:schemeClr>
                </a:solidFill>
              </a:rPr>
              <a:t>Bx</a:t>
            </a:r>
            <a:r>
              <a:rPr lang="en-US" sz="2600" b="1" baseline="-25000" dirty="0">
                <a:solidFill>
                  <a:schemeClr val="tx1">
                    <a:lumMod val="65000"/>
                  </a:schemeClr>
                </a:solidFill>
              </a:rPr>
              <a:t>t−1</a:t>
            </a:r>
            <a:r>
              <a:rPr lang="en-US" sz="2600" dirty="0">
                <a:solidFill>
                  <a:schemeClr val="tx1">
                    <a:lumMod val="65000"/>
                  </a:schemeClr>
                </a:solidFill>
              </a:rPr>
              <a:t> + </a:t>
            </a:r>
            <a:r>
              <a:rPr lang="en-US" sz="2600" b="1" dirty="0">
                <a:solidFill>
                  <a:schemeClr val="tx1">
                    <a:lumMod val="65000"/>
                  </a:schemeClr>
                </a:solidFill>
              </a:rPr>
              <a:t>u</a:t>
            </a:r>
            <a:r>
              <a:rPr lang="en-US" sz="2600" dirty="0">
                <a:solidFill>
                  <a:schemeClr val="tx1">
                    <a:lumMod val="65000"/>
                  </a:schemeClr>
                </a:solidFill>
              </a:rPr>
              <a:t> + </a:t>
            </a:r>
            <a:r>
              <a:rPr lang="en-US" sz="2600" b="1" dirty="0" err="1">
                <a:solidFill>
                  <a:schemeClr val="tx1">
                    <a:lumMod val="65000"/>
                  </a:schemeClr>
                </a:solidFill>
              </a:rPr>
              <a:t>w</a:t>
            </a:r>
            <a:r>
              <a:rPr lang="en-US" sz="2600" b="1" baseline="-25000" dirty="0" err="1">
                <a:solidFill>
                  <a:schemeClr val="tx1">
                    <a:lumMod val="65000"/>
                  </a:schemeClr>
                </a:solidFill>
              </a:rPr>
              <a:t>t</a:t>
            </a:r>
            <a:r>
              <a:rPr lang="en-US" sz="2600" dirty="0">
                <a:solidFill>
                  <a:schemeClr val="tx1">
                    <a:lumMod val="65000"/>
                  </a:schemeClr>
                </a:solidFill>
              </a:rPr>
              <a:t>, where </a:t>
            </a:r>
            <a:r>
              <a:rPr lang="en-US" sz="2600" b="1" dirty="0" err="1">
                <a:solidFill>
                  <a:schemeClr val="tx1">
                    <a:lumMod val="65000"/>
                  </a:schemeClr>
                </a:solidFill>
              </a:rPr>
              <a:t>w</a:t>
            </a:r>
            <a:r>
              <a:rPr lang="en-US" sz="2600" b="1" baseline="-25000" dirty="0" err="1">
                <a:solidFill>
                  <a:schemeClr val="tx1">
                    <a:lumMod val="65000"/>
                  </a:schemeClr>
                </a:solidFill>
              </a:rPr>
              <a:t>t</a:t>
            </a:r>
            <a:r>
              <a:rPr lang="en-US" sz="2600" dirty="0" err="1">
                <a:solidFill>
                  <a:schemeClr val="tx1">
                    <a:lumMod val="65000"/>
                  </a:schemeClr>
                </a:solidFill>
              </a:rPr>
              <a:t>∼MVN</a:t>
            </a:r>
            <a:r>
              <a:rPr lang="en-US" sz="2600" dirty="0">
                <a:solidFill>
                  <a:schemeClr val="tx1">
                    <a:lumMod val="65000"/>
                  </a:schemeClr>
                </a:solidFill>
              </a:rPr>
              <a:t>(0,</a:t>
            </a:r>
            <a:r>
              <a:rPr lang="en-US" sz="2600" b="1" dirty="0">
                <a:solidFill>
                  <a:schemeClr val="tx1">
                    <a:lumMod val="65000"/>
                  </a:schemeClr>
                </a:solidFill>
              </a:rPr>
              <a:t>Q</a:t>
            </a:r>
            <a:r>
              <a:rPr lang="en-US" sz="2600" dirty="0">
                <a:solidFill>
                  <a:schemeClr val="tx1">
                    <a:lumMod val="65000"/>
                  </a:schemeClr>
                </a:solidFill>
              </a:rPr>
              <a:t>)</a:t>
            </a:r>
          </a:p>
          <a:p>
            <a:pPr algn="ctr"/>
            <a:r>
              <a:rPr lang="en-US" sz="2600" b="1" dirty="0" err="1">
                <a:solidFill>
                  <a:schemeClr val="tx1">
                    <a:lumMod val="65000"/>
                  </a:schemeClr>
                </a:solidFill>
              </a:rPr>
              <a:t>y</a:t>
            </a:r>
            <a:r>
              <a:rPr lang="en-US" sz="2600" b="1" baseline="-25000" dirty="0" err="1">
                <a:solidFill>
                  <a:schemeClr val="tx1">
                    <a:lumMod val="65000"/>
                  </a:schemeClr>
                </a:solidFill>
              </a:rPr>
              <a:t>t</a:t>
            </a:r>
            <a:r>
              <a:rPr lang="en-US" sz="2600" dirty="0">
                <a:solidFill>
                  <a:schemeClr val="tx1">
                    <a:lumMod val="65000"/>
                  </a:schemeClr>
                </a:solidFill>
              </a:rPr>
              <a:t> = </a:t>
            </a:r>
            <a:r>
              <a:rPr lang="en-US" sz="2600" b="1" dirty="0" err="1">
                <a:solidFill>
                  <a:schemeClr val="tx1">
                    <a:lumMod val="65000"/>
                  </a:schemeClr>
                </a:solidFill>
              </a:rPr>
              <a:t>Zx</a:t>
            </a:r>
            <a:r>
              <a:rPr lang="en-US" sz="2600" b="1" baseline="-25000" dirty="0" err="1">
                <a:solidFill>
                  <a:schemeClr val="tx1">
                    <a:lumMod val="65000"/>
                  </a:schemeClr>
                </a:solidFill>
              </a:rPr>
              <a:t>t</a:t>
            </a:r>
            <a:r>
              <a:rPr lang="en-US" sz="2600" dirty="0">
                <a:solidFill>
                  <a:schemeClr val="tx1">
                    <a:lumMod val="65000"/>
                  </a:schemeClr>
                </a:solidFill>
              </a:rPr>
              <a:t> + </a:t>
            </a:r>
            <a:r>
              <a:rPr lang="en-US" sz="2600" b="1" dirty="0">
                <a:solidFill>
                  <a:schemeClr val="bg1"/>
                </a:solidFill>
              </a:rPr>
              <a:t>a</a:t>
            </a:r>
            <a:r>
              <a:rPr lang="en-US" sz="2600" dirty="0">
                <a:solidFill>
                  <a:schemeClr val="bg1"/>
                </a:solidFill>
              </a:rPr>
              <a:t> </a:t>
            </a:r>
            <a:r>
              <a:rPr lang="en-US" sz="2600" dirty="0">
                <a:solidFill>
                  <a:schemeClr val="tx1">
                    <a:lumMod val="65000"/>
                  </a:schemeClr>
                </a:solidFill>
              </a:rPr>
              <a:t>+ </a:t>
            </a:r>
            <a:r>
              <a:rPr lang="en-US" sz="2600" b="1" dirty="0" err="1">
                <a:solidFill>
                  <a:schemeClr val="tx1">
                    <a:lumMod val="65000"/>
                  </a:schemeClr>
                </a:solidFill>
              </a:rPr>
              <a:t>v</a:t>
            </a:r>
            <a:r>
              <a:rPr lang="en-US" sz="2600" b="1" baseline="-25000" dirty="0" err="1">
                <a:solidFill>
                  <a:schemeClr val="tx1">
                    <a:lumMod val="65000"/>
                  </a:schemeClr>
                </a:solidFill>
              </a:rPr>
              <a:t>t</a:t>
            </a:r>
            <a:r>
              <a:rPr lang="en-US" sz="2600" dirty="0">
                <a:solidFill>
                  <a:schemeClr val="tx1">
                    <a:lumMod val="65000"/>
                  </a:schemeClr>
                </a:solidFill>
              </a:rPr>
              <a:t>, where </a:t>
            </a:r>
            <a:r>
              <a:rPr lang="en-US" sz="2600" b="1" dirty="0" err="1">
                <a:solidFill>
                  <a:schemeClr val="tx1">
                    <a:lumMod val="65000"/>
                  </a:schemeClr>
                </a:solidFill>
              </a:rPr>
              <a:t>v</a:t>
            </a:r>
            <a:r>
              <a:rPr lang="en-US" sz="2600" b="1" baseline="-25000" dirty="0" err="1">
                <a:solidFill>
                  <a:schemeClr val="tx1">
                    <a:lumMod val="65000"/>
                  </a:schemeClr>
                </a:solidFill>
              </a:rPr>
              <a:t>t</a:t>
            </a:r>
            <a:r>
              <a:rPr lang="en-US" sz="2600" dirty="0" err="1">
                <a:solidFill>
                  <a:schemeClr val="tx1">
                    <a:lumMod val="65000"/>
                  </a:schemeClr>
                </a:solidFill>
              </a:rPr>
              <a:t>∼MVN</a:t>
            </a:r>
            <a:r>
              <a:rPr lang="en-US" sz="2600" dirty="0">
                <a:solidFill>
                  <a:schemeClr val="tx1">
                    <a:lumMod val="65000"/>
                  </a:schemeClr>
                </a:solidFill>
              </a:rPr>
              <a:t>(0,</a:t>
            </a:r>
            <a:r>
              <a:rPr lang="en-US" sz="2600" b="1" dirty="0">
                <a:solidFill>
                  <a:schemeClr val="bg1"/>
                </a:solidFill>
              </a:rPr>
              <a:t>R</a:t>
            </a:r>
            <a:r>
              <a:rPr lang="en-US" sz="2600" dirty="0">
                <a:solidFill>
                  <a:schemeClr val="tx1">
                    <a:lumMod val="65000"/>
                  </a:schemeClr>
                </a:solidFill>
              </a:rPr>
              <a:t>)</a:t>
            </a:r>
          </a:p>
          <a:p>
            <a:pPr algn="ctr"/>
            <a:endParaRPr lang="en-US" sz="2600" dirty="0">
              <a:solidFill>
                <a:schemeClr val="bg1"/>
              </a:solidFill>
            </a:endParaRPr>
          </a:p>
          <a:p>
            <a:r>
              <a:rPr lang="en-US" sz="2600" dirty="0">
                <a:solidFill>
                  <a:schemeClr val="bg1"/>
                </a:solidFill>
              </a:rPr>
              <a:t>I am interested in </a:t>
            </a:r>
            <a:r>
              <a:rPr lang="en-US" sz="2600" dirty="0">
                <a:solidFill>
                  <a:srgbClr val="00FF04"/>
                </a:solidFill>
              </a:rPr>
              <a:t>observation bias </a:t>
            </a:r>
            <a:r>
              <a:rPr lang="en-US" sz="2600" dirty="0">
                <a:solidFill>
                  <a:schemeClr val="bg1"/>
                </a:solidFill>
              </a:rPr>
              <a:t>(</a:t>
            </a:r>
            <a:r>
              <a:rPr lang="en-US" sz="2600" b="1" dirty="0">
                <a:solidFill>
                  <a:schemeClr val="bg1"/>
                </a:solidFill>
              </a:rPr>
              <a:t>a</a:t>
            </a:r>
            <a:r>
              <a:rPr lang="en-US" sz="2600" dirty="0">
                <a:solidFill>
                  <a:schemeClr val="bg1"/>
                </a:solidFill>
              </a:rPr>
              <a:t>) and </a:t>
            </a:r>
            <a:r>
              <a:rPr lang="en-US" sz="2600" dirty="0">
                <a:solidFill>
                  <a:srgbClr val="FBFF00"/>
                </a:solidFill>
              </a:rPr>
              <a:t>observation variance </a:t>
            </a:r>
            <a:r>
              <a:rPr lang="en-US" sz="2600" dirty="0">
                <a:solidFill>
                  <a:schemeClr val="bg1"/>
                </a:solidFill>
              </a:rPr>
              <a:t>(</a:t>
            </a:r>
            <a:r>
              <a:rPr lang="en-US" sz="2600" b="1" dirty="0">
                <a:solidFill>
                  <a:schemeClr val="bg1"/>
                </a:solidFill>
              </a:rPr>
              <a:t>R</a:t>
            </a:r>
            <a:r>
              <a:rPr lang="en-US" sz="2600" dirty="0">
                <a:solidFill>
                  <a:schemeClr val="bg1"/>
                </a:solidFill>
              </a:rPr>
              <a:t>)</a:t>
            </a:r>
            <a:endParaRPr lang="en-US" sz="1800" dirty="0">
              <a:solidFill>
                <a:schemeClr val="bg1"/>
              </a:solidFill>
            </a:endParaRP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2" name="Rectangle 1">
            <a:extLst>
              <a:ext uri="{FF2B5EF4-FFF2-40B4-BE49-F238E27FC236}">
                <a16:creationId xmlns:a16="http://schemas.microsoft.com/office/drawing/2014/main" id="{13D64623-B623-7DDD-A10A-07E9F2582CE3}"/>
              </a:ext>
            </a:extLst>
          </p:cNvPr>
          <p:cNvSpPr/>
          <p:nvPr/>
        </p:nvSpPr>
        <p:spPr>
          <a:xfrm>
            <a:off x="2971800" y="3130062"/>
            <a:ext cx="281354" cy="298938"/>
          </a:xfrm>
          <a:prstGeom prst="rect">
            <a:avLst/>
          </a:prstGeom>
          <a:noFill/>
          <a:ln w="28575">
            <a:solidFill>
              <a:srgbClr val="00FF0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2712F23-8BEA-C51E-FEC9-E87B1EA73819}"/>
              </a:ext>
            </a:extLst>
          </p:cNvPr>
          <p:cNvSpPr/>
          <p:nvPr/>
        </p:nvSpPr>
        <p:spPr>
          <a:xfrm>
            <a:off x="6793626" y="3057280"/>
            <a:ext cx="398251" cy="310841"/>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262699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A59A8AF1-CE5B-D404-1C2D-53A67E0155C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94F6BAA-F428-DA41-21E1-A8171F7D3812}"/>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39551CB-9D37-CFD8-E4BE-474C3EA9A1B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B3C4D04-EED8-CD12-0CD6-07A20D0F503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D5D8B713-981E-BEAE-A6F0-37E298E60068}"/>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tx1">
                    <a:lumMod val="50000"/>
                  </a:schemeClr>
                </a:solidFill>
              </a:rPr>
              <a:t>Background</a:t>
            </a:r>
          </a:p>
          <a:p>
            <a:pPr marL="742950" indent="-742950">
              <a:spcBef>
                <a:spcPts val="0"/>
              </a:spcBef>
              <a:buAutoNum type="arabicParenR"/>
            </a:pPr>
            <a:r>
              <a:rPr lang="en-US" sz="4200" dirty="0">
                <a:solidFill>
                  <a:schemeClr val="tx1">
                    <a:lumMod val="50000"/>
                  </a:schemeClr>
                </a:solidFill>
              </a:rPr>
              <a:t>Data</a:t>
            </a:r>
          </a:p>
          <a:p>
            <a:pPr marL="742950" indent="-742950">
              <a:spcBef>
                <a:spcPts val="0"/>
              </a:spcBef>
              <a:buAutoNum type="arabicParenR"/>
            </a:pPr>
            <a:r>
              <a:rPr lang="en-US" sz="4200" dirty="0">
                <a:solidFill>
                  <a:schemeClr val="tx1">
                    <a:lumMod val="50000"/>
                  </a:schemeClr>
                </a:solidFill>
              </a:rPr>
              <a:t>Analysis</a:t>
            </a:r>
          </a:p>
          <a:p>
            <a:pPr marL="742950" indent="-742950">
              <a:spcBef>
                <a:spcPts val="0"/>
              </a:spcBef>
              <a:buAutoNum type="arabicParenR"/>
            </a:pPr>
            <a:r>
              <a:rPr lang="en-US" sz="4200" dirty="0">
                <a:solidFill>
                  <a:schemeClr val="bg1"/>
                </a:solidFill>
              </a:rPr>
              <a:t>Results</a:t>
            </a:r>
          </a:p>
          <a:p>
            <a:pPr marL="742950" indent="-742950">
              <a:spcBef>
                <a:spcPts val="0"/>
              </a:spcBef>
              <a:buAutoNum type="arabicParenR"/>
            </a:pPr>
            <a:r>
              <a:rPr lang="en-US" sz="4200" dirty="0">
                <a:solidFill>
                  <a:schemeClr val="tx1">
                    <a:lumMod val="50000"/>
                  </a:schemeClr>
                </a:solidFill>
              </a:rPr>
              <a:t>Case Studies</a:t>
            </a:r>
          </a:p>
          <a:p>
            <a:pPr marL="742950" indent="-742950">
              <a:spcBef>
                <a:spcPts val="0"/>
              </a:spcBef>
              <a:buAutoNum type="arabicParenR"/>
            </a:pPr>
            <a:r>
              <a:rPr lang="en-US" sz="4200" dirty="0">
                <a:solidFill>
                  <a:schemeClr val="tx1">
                    <a:lumMod val="50000"/>
                  </a:schemeClr>
                </a:solidFill>
              </a:rPr>
              <a:t>Discussion</a:t>
            </a:r>
          </a:p>
        </p:txBody>
      </p:sp>
      <p:sp>
        <p:nvSpPr>
          <p:cNvPr id="8" name="Google Shape;93;p19">
            <a:extLst>
              <a:ext uri="{FF2B5EF4-FFF2-40B4-BE49-F238E27FC236}">
                <a16:creationId xmlns:a16="http://schemas.microsoft.com/office/drawing/2014/main" id="{26D06361-0786-9382-61BA-621FED6BC5DD}"/>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8287764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3BC54FE9-0E8D-1727-C4E0-9BF7F081741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747E424-2F51-7849-5E8D-AE48FBE7373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4B5D2F3E-8357-C41C-56B6-BD4680E3D5F3}"/>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FDABDC0-4937-3215-B2CC-B6BBC4156CA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38D57728-DC30-5EA4-A1B8-2D7F710EC39C}"/>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Results </a:t>
            </a:r>
          </a:p>
          <a:p>
            <a:pPr algn="ctr">
              <a:spcBef>
                <a:spcPts val="0"/>
              </a:spcBef>
            </a:pPr>
            <a:endParaRPr lang="en-US" sz="4200" dirty="0">
              <a:solidFill>
                <a:schemeClr val="bg1"/>
              </a:solidFill>
            </a:endParaRPr>
          </a:p>
        </p:txBody>
      </p:sp>
      <p:sp>
        <p:nvSpPr>
          <p:cNvPr id="8" name="Google Shape;93;p19">
            <a:extLst>
              <a:ext uri="{FF2B5EF4-FFF2-40B4-BE49-F238E27FC236}">
                <a16:creationId xmlns:a16="http://schemas.microsoft.com/office/drawing/2014/main" id="{1EDEECD4-49D5-8272-F5B3-04F4B51FD2D2}"/>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338409727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ED6EDA7-C6EF-F82B-44BC-80BFF9FB487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915755F-B88D-BD15-9111-5741377AAFD2}"/>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936AAEC-746C-4B9A-6F22-7085743C2ED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990B917-7CB3-CA63-477F-4B23ED9C396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8CC4936F-4C5F-6D19-2AF6-3F8DA9154A66}"/>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Chinook </a:t>
            </a:r>
          </a:p>
          <a:p>
            <a:pPr algn="ctr">
              <a:spcBef>
                <a:spcPts val="0"/>
              </a:spcBef>
            </a:pPr>
            <a:endParaRPr lang="en-US" sz="4200" dirty="0">
              <a:solidFill>
                <a:schemeClr val="bg1"/>
              </a:solidFill>
            </a:endParaRPr>
          </a:p>
        </p:txBody>
      </p:sp>
      <p:sp>
        <p:nvSpPr>
          <p:cNvPr id="8" name="Google Shape;93;p19">
            <a:extLst>
              <a:ext uri="{FF2B5EF4-FFF2-40B4-BE49-F238E27FC236}">
                <a16:creationId xmlns:a16="http://schemas.microsoft.com/office/drawing/2014/main" id="{81F7A2E0-0CA8-E568-158F-AD2905E830B9}"/>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68609399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988FEDD-A2B2-A896-B831-7AC0A60631A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57A89CB-80AC-7229-71EE-EC25B31BDA0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CA25492-F5E5-7404-AD8F-A4A6077D1BF3}"/>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B11CF3F-1A47-B101-5CC8-13C6996A4D9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DAC5814F-D136-1CAA-5684-302B55123903}"/>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a:extLst>
              <a:ext uri="{FF2B5EF4-FFF2-40B4-BE49-F238E27FC236}">
                <a16:creationId xmlns:a16="http://schemas.microsoft.com/office/drawing/2014/main" id="{434CA2AA-C50F-E6BF-7231-A0A8E7CD9E34}"/>
              </a:ext>
            </a:extLst>
          </p:cNvPr>
          <p:cNvPicPr>
            <a:picLocks noChangeAspect="1"/>
          </p:cNvPicPr>
          <p:nvPr/>
        </p:nvPicPr>
        <p:blipFill>
          <a:blip r:embed="rId4"/>
          <a:stretch>
            <a:fillRect/>
          </a:stretch>
        </p:blipFill>
        <p:spPr>
          <a:xfrm>
            <a:off x="0" y="353492"/>
            <a:ext cx="8377091" cy="4445525"/>
          </a:xfrm>
          <a:prstGeom prst="rect">
            <a:avLst/>
          </a:prstGeom>
        </p:spPr>
      </p:pic>
    </p:spTree>
    <p:extLst>
      <p:ext uri="{BB962C8B-B14F-4D97-AF65-F5344CB8AC3E}">
        <p14:creationId xmlns:p14="http://schemas.microsoft.com/office/powerpoint/2010/main" val="26554680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3256C3E-1437-900B-AA6A-0046F06E4FB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ADE8402-99A7-0990-6E9F-8F90A6D0ADF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BEDCCFF-6769-A4A5-90F3-BE12258D25B3}"/>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BA2AC4A-6326-49A7-EC3A-EDCCA035A30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F31EBC2B-F6C8-6891-4547-A7177EFC7CD8}"/>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image illustrates a statistical comparison of different methods (Mixed methods, Redd counts, Peak spawner count, and Mark-Recapture) for estimating Chinook salmon populations, with various metrics such as dam counts, peak counts, and population estimates plotted against each other.&#10;&#10;AI-generated content may be incorrect.">
            <a:extLst>
              <a:ext uri="{FF2B5EF4-FFF2-40B4-BE49-F238E27FC236}">
                <a16:creationId xmlns:a16="http://schemas.microsoft.com/office/drawing/2014/main" id="{231F891C-AEE8-0E12-7D0B-231A058371CC}"/>
              </a:ext>
            </a:extLst>
          </p:cNvPr>
          <p:cNvPicPr>
            <a:picLocks noChangeAspect="1"/>
          </p:cNvPicPr>
          <p:nvPr/>
        </p:nvPicPr>
        <p:blipFill>
          <a:blip r:embed="rId4"/>
          <a:stretch>
            <a:fillRect/>
          </a:stretch>
        </p:blipFill>
        <p:spPr>
          <a:xfrm>
            <a:off x="0" y="373366"/>
            <a:ext cx="8467805" cy="4433197"/>
          </a:xfrm>
          <a:prstGeom prst="rect">
            <a:avLst/>
          </a:prstGeom>
        </p:spPr>
      </p:pic>
    </p:spTree>
    <p:extLst>
      <p:ext uri="{BB962C8B-B14F-4D97-AF65-F5344CB8AC3E}">
        <p14:creationId xmlns:p14="http://schemas.microsoft.com/office/powerpoint/2010/main" val="40272879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8CBE127-7D5D-8D03-070A-A070453C5BE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55A40C1-20A0-ECE0-D584-98FC5862901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DFCBDA6-229E-84AB-1D9B-0136A85217C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15D5646-ADE7-F603-9960-F38005C1490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85338638-6CC9-7B12-1344-A2ED2B2054E9}"/>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image depicts a series of charts comparing the populations of various Chinook fish species in different rivers and locations from 1980 to 2024.&#10;&#10;AI-generated content may be incorrect.">
            <a:extLst>
              <a:ext uri="{FF2B5EF4-FFF2-40B4-BE49-F238E27FC236}">
                <a16:creationId xmlns:a16="http://schemas.microsoft.com/office/drawing/2014/main" id="{75EEE84C-6F9B-29E2-3151-E689A8851B3D}"/>
              </a:ext>
            </a:extLst>
          </p:cNvPr>
          <p:cNvPicPr>
            <a:picLocks noChangeAspect="1"/>
          </p:cNvPicPr>
          <p:nvPr/>
        </p:nvPicPr>
        <p:blipFill>
          <a:blip r:embed="rId4"/>
          <a:stretch>
            <a:fillRect/>
          </a:stretch>
        </p:blipFill>
        <p:spPr>
          <a:xfrm>
            <a:off x="0" y="173363"/>
            <a:ext cx="9144000" cy="4796774"/>
          </a:xfrm>
          <a:prstGeom prst="rect">
            <a:avLst/>
          </a:prstGeom>
        </p:spPr>
      </p:pic>
    </p:spTree>
    <p:extLst>
      <p:ext uri="{BB962C8B-B14F-4D97-AF65-F5344CB8AC3E}">
        <p14:creationId xmlns:p14="http://schemas.microsoft.com/office/powerpoint/2010/main" val="17922831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1DEEEE5-9061-638A-EB41-881F0770056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AD82FE2-1CD9-DE38-F919-50AFC02A741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A90BF4E-2CB5-9675-4C88-57227BA8C72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79B3291-64F2-CC01-061F-83EEC9E50BD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D188EB41-9871-028D-6014-952205B85353}"/>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Coho </a:t>
            </a:r>
          </a:p>
          <a:p>
            <a:pPr algn="ctr">
              <a:spcBef>
                <a:spcPts val="0"/>
              </a:spcBef>
            </a:pPr>
            <a:endParaRPr lang="en-US" sz="4200" dirty="0">
              <a:solidFill>
                <a:schemeClr val="bg1"/>
              </a:solidFill>
            </a:endParaRPr>
          </a:p>
        </p:txBody>
      </p:sp>
      <p:sp>
        <p:nvSpPr>
          <p:cNvPr id="8" name="Google Shape;93;p19">
            <a:extLst>
              <a:ext uri="{FF2B5EF4-FFF2-40B4-BE49-F238E27FC236}">
                <a16:creationId xmlns:a16="http://schemas.microsoft.com/office/drawing/2014/main" id="{EB66549D-6C38-059D-74E2-5209385F9225}"/>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20259731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CA5C10F-5A33-228B-4547-E28C5844CFA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B63C08B-CB08-7435-96FE-1DB46BED8A1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590A70C6-2118-227D-FE44-F72154CD9C32}"/>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FE6A99F-6C04-5D6A-0A03-D9AFCEC68BA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4413060D-95A4-9DD1-446A-18345B20768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7" name="Picture 6">
            <a:extLst>
              <a:ext uri="{FF2B5EF4-FFF2-40B4-BE49-F238E27FC236}">
                <a16:creationId xmlns:a16="http://schemas.microsoft.com/office/drawing/2014/main" id="{EC918E65-301A-A71A-E0FD-C6F41FC9E7A3}"/>
              </a:ext>
            </a:extLst>
          </p:cNvPr>
          <p:cNvPicPr>
            <a:picLocks noChangeAspect="1"/>
          </p:cNvPicPr>
          <p:nvPr/>
        </p:nvPicPr>
        <p:blipFill>
          <a:blip r:embed="rId4"/>
          <a:stretch>
            <a:fillRect/>
          </a:stretch>
        </p:blipFill>
        <p:spPr>
          <a:xfrm>
            <a:off x="0" y="353492"/>
            <a:ext cx="8450796" cy="4479940"/>
          </a:xfrm>
          <a:prstGeom prst="rect">
            <a:avLst/>
          </a:prstGeom>
        </p:spPr>
      </p:pic>
    </p:spTree>
    <p:extLst>
      <p:ext uri="{BB962C8B-B14F-4D97-AF65-F5344CB8AC3E}">
        <p14:creationId xmlns:p14="http://schemas.microsoft.com/office/powerpoint/2010/main" val="201425742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A521FCC4-F213-C033-262D-A4CD1B78A16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D739FC8-67B4-0B4A-47DD-1C53E121D44F}"/>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4084B227-75E3-E788-36FD-1B2FFEACDE6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DCFE1D4-E40E-101B-FD6C-B8A442F3FB7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BF38876A-E632-760E-5393-1A65C10587FE}"/>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7" name="Picture 6" descr="The diagram displays various metrics for estimating the population of coho salmon, including dam counts, peak spawner counts, and area under curve values for different monitoring areas, with additional data on hatchery contributions.&#10;&#10;AI-generated content may be incorrect.">
            <a:extLst>
              <a:ext uri="{FF2B5EF4-FFF2-40B4-BE49-F238E27FC236}">
                <a16:creationId xmlns:a16="http://schemas.microsoft.com/office/drawing/2014/main" id="{CF1CDFD2-100C-D0BE-CF2F-39C3EFC471E4}"/>
              </a:ext>
            </a:extLst>
          </p:cNvPr>
          <p:cNvPicPr>
            <a:picLocks noChangeAspect="1"/>
          </p:cNvPicPr>
          <p:nvPr/>
        </p:nvPicPr>
        <p:blipFill>
          <a:blip r:embed="rId4"/>
          <a:stretch>
            <a:fillRect/>
          </a:stretch>
        </p:blipFill>
        <p:spPr>
          <a:xfrm>
            <a:off x="0" y="373365"/>
            <a:ext cx="8517715" cy="4470796"/>
          </a:xfrm>
          <a:prstGeom prst="rect">
            <a:avLst/>
          </a:prstGeom>
        </p:spPr>
      </p:pic>
    </p:spTree>
    <p:extLst>
      <p:ext uri="{BB962C8B-B14F-4D97-AF65-F5344CB8AC3E}">
        <p14:creationId xmlns:p14="http://schemas.microsoft.com/office/powerpoint/2010/main" val="42222115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A1E7AA6-C69A-5EF2-3C43-F32804C430F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8A2F97-9743-6DC8-B0A0-C405DCD33D86}"/>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12BC0BF-454E-B941-B452-2A330BD1AE8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B7F64A8-C421-110E-9078-176327F0726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2F5BAF12-D7CF-EAC4-4141-78E629628F4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7" name="Picture 6" descr="The image displays a series of charts comparing the population trends of various Coho salmon populations from 1980 to 2024.&#10;&#10;AI-generated content may be incorrect.">
            <a:extLst>
              <a:ext uri="{FF2B5EF4-FFF2-40B4-BE49-F238E27FC236}">
                <a16:creationId xmlns:a16="http://schemas.microsoft.com/office/drawing/2014/main" id="{5A96C853-B009-4CEA-24D9-CC01905AC119}"/>
              </a:ext>
            </a:extLst>
          </p:cNvPr>
          <p:cNvPicPr>
            <a:picLocks noChangeAspect="1"/>
          </p:cNvPicPr>
          <p:nvPr/>
        </p:nvPicPr>
        <p:blipFill>
          <a:blip r:embed="rId4"/>
          <a:stretch>
            <a:fillRect/>
          </a:stretch>
        </p:blipFill>
        <p:spPr>
          <a:xfrm>
            <a:off x="0" y="175408"/>
            <a:ext cx="9144000" cy="4792684"/>
          </a:xfrm>
          <a:prstGeom prst="rect">
            <a:avLst/>
          </a:prstGeom>
        </p:spPr>
      </p:pic>
    </p:spTree>
    <p:extLst>
      <p:ext uri="{BB962C8B-B14F-4D97-AF65-F5344CB8AC3E}">
        <p14:creationId xmlns:p14="http://schemas.microsoft.com/office/powerpoint/2010/main" val="137747125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54D5356-484C-4B38-FE55-D867D594FCB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59EDCDC-CD99-111C-D9CC-58428604021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7B635467-F337-3E11-8005-4BF62DED74EC}"/>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C92DD4B-C141-3138-DA55-92B24967800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A5941B2-2538-7EA0-A4EA-276D6952B387}"/>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Steelhead </a:t>
            </a:r>
          </a:p>
          <a:p>
            <a:pPr algn="ctr">
              <a:spcBef>
                <a:spcPts val="0"/>
              </a:spcBef>
            </a:pPr>
            <a:endParaRPr lang="en-US" sz="4200" dirty="0">
              <a:solidFill>
                <a:schemeClr val="bg1"/>
              </a:solidFill>
            </a:endParaRPr>
          </a:p>
        </p:txBody>
      </p:sp>
      <p:sp>
        <p:nvSpPr>
          <p:cNvPr id="8" name="Google Shape;93;p19">
            <a:extLst>
              <a:ext uri="{FF2B5EF4-FFF2-40B4-BE49-F238E27FC236}">
                <a16:creationId xmlns:a16="http://schemas.microsoft.com/office/drawing/2014/main" id="{B17927A5-465C-B2F1-A673-77BCA399CCB7}"/>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4099028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C98C049-E115-FE04-CBF8-D630D60EF1F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591AA96-135A-B9D4-57E8-5DB8B303303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0B02533-AEB8-1BDF-7DAF-3487043DF12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7371C3B-61BF-77FF-3C2A-255E1249E5A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76F0A3D4-7422-6FB3-2F6E-F1C9BC7FAE9D}"/>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0" name="Picture 9">
            <a:extLst>
              <a:ext uri="{FF2B5EF4-FFF2-40B4-BE49-F238E27FC236}">
                <a16:creationId xmlns:a16="http://schemas.microsoft.com/office/drawing/2014/main" id="{FA3F7B5D-5EEA-5CF4-38D9-EBA7F5032CDA}"/>
              </a:ext>
            </a:extLst>
          </p:cNvPr>
          <p:cNvPicPr>
            <a:picLocks noChangeAspect="1"/>
          </p:cNvPicPr>
          <p:nvPr/>
        </p:nvPicPr>
        <p:blipFill>
          <a:blip r:embed="rId4"/>
          <a:stretch>
            <a:fillRect/>
          </a:stretch>
        </p:blipFill>
        <p:spPr>
          <a:xfrm>
            <a:off x="0" y="353492"/>
            <a:ext cx="8425156" cy="4433132"/>
          </a:xfrm>
          <a:prstGeom prst="rect">
            <a:avLst/>
          </a:prstGeom>
        </p:spPr>
      </p:pic>
    </p:spTree>
    <p:extLst>
      <p:ext uri="{BB962C8B-B14F-4D97-AF65-F5344CB8AC3E}">
        <p14:creationId xmlns:p14="http://schemas.microsoft.com/office/powerpoint/2010/main" val="131994490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40567F4-148E-110B-00A7-D90692B08C7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51D2BC9-316E-9929-ADB2-CD6CC6131C6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B3A516F-E85B-2D62-A8C7-14BB75067363}"/>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F0BC650-E58F-EF4E-41F8-DBF104641A67}"/>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942E5FAE-23AA-F0B7-491C-0FFDE8B45A2A}"/>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7" name="Picture 6" descr="The diagram illustrates various methods to estimate the number of steelhead fish in a river system, including dam and redd counts, weir counts, and mark-recapture techniques, along with their respective precision estimates.&#10;&#10;AI-generated content may be incorrect.">
            <a:extLst>
              <a:ext uri="{FF2B5EF4-FFF2-40B4-BE49-F238E27FC236}">
                <a16:creationId xmlns:a16="http://schemas.microsoft.com/office/drawing/2014/main" id="{7FEDA13E-4719-9A05-033E-52A4D1B50718}"/>
              </a:ext>
            </a:extLst>
          </p:cNvPr>
          <p:cNvPicPr>
            <a:picLocks noChangeAspect="1"/>
          </p:cNvPicPr>
          <p:nvPr/>
        </p:nvPicPr>
        <p:blipFill>
          <a:blip r:embed="rId4"/>
          <a:stretch>
            <a:fillRect/>
          </a:stretch>
        </p:blipFill>
        <p:spPr>
          <a:xfrm>
            <a:off x="0" y="387343"/>
            <a:ext cx="8567697" cy="4488054"/>
          </a:xfrm>
          <a:prstGeom prst="rect">
            <a:avLst/>
          </a:prstGeom>
        </p:spPr>
      </p:pic>
    </p:spTree>
    <p:extLst>
      <p:ext uri="{BB962C8B-B14F-4D97-AF65-F5344CB8AC3E}">
        <p14:creationId xmlns:p14="http://schemas.microsoft.com/office/powerpoint/2010/main" val="372388487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7C4198C-6DEC-7291-DA71-6DB7D7E39BF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ECBB01D-D4B8-CA54-377C-4AB41F25039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D8B7DEB-2F11-3240-ECDD-3F7235E92FA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045AF99-DF6F-DE94-D411-670FC97E576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BD7CA0E9-2E3A-2A15-6BAE-B901BF9577F9}"/>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image displays a series of graphs comparing steelhead population trends in various rivers from 1980 to 2024.&#10;&#10;AI-generated content may be incorrect.">
            <a:extLst>
              <a:ext uri="{FF2B5EF4-FFF2-40B4-BE49-F238E27FC236}">
                <a16:creationId xmlns:a16="http://schemas.microsoft.com/office/drawing/2014/main" id="{D8E1A96E-DAD0-540D-EB7D-BD2959EAE760}"/>
              </a:ext>
            </a:extLst>
          </p:cNvPr>
          <p:cNvPicPr>
            <a:picLocks noChangeAspect="1"/>
          </p:cNvPicPr>
          <p:nvPr/>
        </p:nvPicPr>
        <p:blipFill>
          <a:blip r:embed="rId4"/>
          <a:stretch>
            <a:fillRect/>
          </a:stretch>
        </p:blipFill>
        <p:spPr>
          <a:xfrm>
            <a:off x="0" y="167964"/>
            <a:ext cx="9144000" cy="4807571"/>
          </a:xfrm>
          <a:prstGeom prst="rect">
            <a:avLst/>
          </a:prstGeom>
        </p:spPr>
      </p:pic>
    </p:spTree>
    <p:extLst>
      <p:ext uri="{BB962C8B-B14F-4D97-AF65-F5344CB8AC3E}">
        <p14:creationId xmlns:p14="http://schemas.microsoft.com/office/powerpoint/2010/main" val="283264800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A4272D5-21DA-63E8-C642-BCF23000166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6545567-F83D-A0C6-DC42-3C00B7642C9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F7FCAF5-586D-C7AE-E958-4EF7DB28671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D7918D2-E04B-EB4A-E444-C6134B769C2D}"/>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4C45E5A1-FD4F-7575-4C10-5A6AB582B306}"/>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tx1">
                    <a:lumMod val="50000"/>
                  </a:schemeClr>
                </a:solidFill>
              </a:rPr>
              <a:t>Background</a:t>
            </a:r>
          </a:p>
          <a:p>
            <a:pPr marL="742950" indent="-742950">
              <a:spcBef>
                <a:spcPts val="0"/>
              </a:spcBef>
              <a:buAutoNum type="arabicParenR"/>
            </a:pPr>
            <a:r>
              <a:rPr lang="en-US" sz="4200" dirty="0">
                <a:solidFill>
                  <a:schemeClr val="tx1">
                    <a:lumMod val="50000"/>
                  </a:schemeClr>
                </a:solidFill>
              </a:rPr>
              <a:t>Data</a:t>
            </a:r>
          </a:p>
          <a:p>
            <a:pPr marL="742950" indent="-742950">
              <a:spcBef>
                <a:spcPts val="0"/>
              </a:spcBef>
              <a:buAutoNum type="arabicParenR"/>
            </a:pPr>
            <a:r>
              <a:rPr lang="en-US" sz="4200" dirty="0">
                <a:solidFill>
                  <a:schemeClr val="tx1">
                    <a:lumMod val="50000"/>
                  </a:schemeClr>
                </a:solidFill>
              </a:rPr>
              <a:t>Analysis</a:t>
            </a:r>
          </a:p>
          <a:p>
            <a:pPr marL="742950" indent="-742950">
              <a:spcBef>
                <a:spcPts val="0"/>
              </a:spcBef>
              <a:buAutoNum type="arabicParenR"/>
            </a:pPr>
            <a:r>
              <a:rPr lang="en-US" sz="4200" dirty="0">
                <a:solidFill>
                  <a:schemeClr val="tx1">
                    <a:lumMod val="50000"/>
                  </a:schemeClr>
                </a:solidFill>
              </a:rPr>
              <a:t>Results</a:t>
            </a:r>
          </a:p>
          <a:p>
            <a:pPr marL="742950" indent="-742950">
              <a:spcBef>
                <a:spcPts val="0"/>
              </a:spcBef>
              <a:buAutoNum type="arabicParenR"/>
            </a:pPr>
            <a:r>
              <a:rPr lang="en-US" sz="4200" dirty="0">
                <a:solidFill>
                  <a:schemeClr val="bg1"/>
                </a:solidFill>
              </a:rPr>
              <a:t>Case Studies</a:t>
            </a:r>
          </a:p>
          <a:p>
            <a:pPr marL="742950" indent="-742950">
              <a:spcBef>
                <a:spcPts val="0"/>
              </a:spcBef>
              <a:buAutoNum type="arabicParenR"/>
            </a:pPr>
            <a:r>
              <a:rPr lang="en-US" sz="4200" dirty="0">
                <a:solidFill>
                  <a:schemeClr val="tx1">
                    <a:lumMod val="50000"/>
                  </a:schemeClr>
                </a:solidFill>
              </a:rPr>
              <a:t>Discussion</a:t>
            </a:r>
          </a:p>
        </p:txBody>
      </p:sp>
      <p:sp>
        <p:nvSpPr>
          <p:cNvPr id="8" name="Google Shape;93;p19">
            <a:extLst>
              <a:ext uri="{FF2B5EF4-FFF2-40B4-BE49-F238E27FC236}">
                <a16:creationId xmlns:a16="http://schemas.microsoft.com/office/drawing/2014/main" id="{A0F44C05-E494-9AFE-028B-52F7DE5AF7D9}"/>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22034945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0FF01D6B-B074-88EB-59DB-16FF9E6432E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CB6F28D-BE0B-5A00-C04D-4D3F4217D400}"/>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D22A2DC-2097-D7AB-F8CC-48FC8F5BB7F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B8E769C-8986-F9A3-84F2-7276F8B9E135}"/>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C5F6C8FA-C141-2132-3359-29077D5D0368}"/>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Case Studies</a:t>
            </a:r>
          </a:p>
        </p:txBody>
      </p:sp>
      <p:sp>
        <p:nvSpPr>
          <p:cNvPr id="8" name="Google Shape;93;p19">
            <a:extLst>
              <a:ext uri="{FF2B5EF4-FFF2-40B4-BE49-F238E27FC236}">
                <a16:creationId xmlns:a16="http://schemas.microsoft.com/office/drawing/2014/main" id="{4C548E54-FCE1-00A3-535E-18A4620FEE28}"/>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3771608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404E8FE-C200-B131-B368-B5B2A96AC02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77FD546-13EB-BE0D-B84C-6DDC0EF8559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AB3CB56A-4864-5E1B-BF68-F88D72902EA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B2C9D64-6647-9B8B-6414-31F7B4B0450C}"/>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38CAD000-59C6-E4A0-7DA9-9D2C4D7D7323}"/>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4" name="Picture 13" descr="The diagram displays a line chart depicting the estimated and observed data for the Coho salmon population in the North Umpqua River from the years 1990 to 2020.&#10;&#10;AI-generated content may be incorrect.">
            <a:extLst>
              <a:ext uri="{FF2B5EF4-FFF2-40B4-BE49-F238E27FC236}">
                <a16:creationId xmlns:a16="http://schemas.microsoft.com/office/drawing/2014/main" id="{09A045C7-5F9B-6CE8-AAC4-2F2841C8998C}"/>
              </a:ext>
            </a:extLst>
          </p:cNvPr>
          <p:cNvPicPr>
            <a:picLocks noChangeAspect="1"/>
          </p:cNvPicPr>
          <p:nvPr/>
        </p:nvPicPr>
        <p:blipFill>
          <a:blip r:embed="rId4"/>
          <a:stretch>
            <a:fillRect/>
          </a:stretch>
        </p:blipFill>
        <p:spPr>
          <a:xfrm>
            <a:off x="0" y="447171"/>
            <a:ext cx="8310262" cy="4525030"/>
          </a:xfrm>
          <a:prstGeom prst="rect">
            <a:avLst/>
          </a:prstGeom>
        </p:spPr>
      </p:pic>
      <p:sp>
        <p:nvSpPr>
          <p:cNvPr id="12" name="Google Shape;93;p19">
            <a:extLst>
              <a:ext uri="{FF2B5EF4-FFF2-40B4-BE49-F238E27FC236}">
                <a16:creationId xmlns:a16="http://schemas.microsoft.com/office/drawing/2014/main" id="{A1BCD85D-16E0-68B2-1156-23A696529459}"/>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82737422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5104044-AF04-2395-D526-21929BDC69D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103A2A-7FA8-A2A2-C5A5-42C4938EF0A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3D7D4693-5923-EA58-3CC3-151F8DC255A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556C531-9FE9-6882-EAA0-5D36B01EE99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D233DFD1-6C6B-B013-FAD9-807DC3E1CC88}"/>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4" name="Picture 13" descr="The diagram displays a line chart depicting the estimated and observed data for the Coho salmon population in the North Umpqua River from the years 1990 to 2020.&#10;&#10;AI-generated content may be incorrect.">
            <a:extLst>
              <a:ext uri="{FF2B5EF4-FFF2-40B4-BE49-F238E27FC236}">
                <a16:creationId xmlns:a16="http://schemas.microsoft.com/office/drawing/2014/main" id="{CA1C52C7-4BC4-B813-F7D9-10C0EFE87228}"/>
              </a:ext>
            </a:extLst>
          </p:cNvPr>
          <p:cNvPicPr>
            <a:picLocks noChangeAspect="1"/>
          </p:cNvPicPr>
          <p:nvPr/>
        </p:nvPicPr>
        <p:blipFill>
          <a:blip r:embed="rId4"/>
          <a:stretch>
            <a:fillRect/>
          </a:stretch>
        </p:blipFill>
        <p:spPr>
          <a:xfrm>
            <a:off x="3303404" y="1002433"/>
            <a:ext cx="5764132" cy="3138634"/>
          </a:xfrm>
          <a:prstGeom prst="rect">
            <a:avLst/>
          </a:prstGeom>
        </p:spPr>
      </p:pic>
      <p:sp>
        <p:nvSpPr>
          <p:cNvPr id="4" name="Google Shape;93;p19">
            <a:extLst>
              <a:ext uri="{FF2B5EF4-FFF2-40B4-BE49-F238E27FC236}">
                <a16:creationId xmlns:a16="http://schemas.microsoft.com/office/drawing/2014/main" id="{A67FFEBF-EF84-129E-EDA4-52936F046AB2}"/>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B44B2D01-5861-21DA-99A9-F5BF0BFB89F9}"/>
              </a:ext>
            </a:extLst>
          </p:cNvPr>
          <p:cNvSpPr txBox="1"/>
          <p:nvPr/>
        </p:nvSpPr>
        <p:spPr>
          <a:xfrm>
            <a:off x="111600" y="1002433"/>
            <a:ext cx="3156668" cy="923330"/>
          </a:xfrm>
          <a:prstGeom prst="rect">
            <a:avLst/>
          </a:prstGeom>
          <a:noFill/>
        </p:spPr>
        <p:txBody>
          <a:bodyPr wrap="square" rtlCol="0">
            <a:spAutoFit/>
          </a:bodyPr>
          <a:lstStyle/>
          <a:p>
            <a:r>
              <a:rPr lang="en-US" dirty="0">
                <a:solidFill>
                  <a:schemeClr val="bg1"/>
                </a:solidFill>
              </a:rPr>
              <a:t>Surveyed with ‘Dam counts (Video)’</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98749447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F28C0F54-7FDD-B97A-7D29-B73235A4053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E79273D-F273-F71A-F69B-133CF6BCF580}"/>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48970B2-BE9A-77EC-BC5F-60D987D6FB37}"/>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3FEB63E-7380-A3C1-837D-55FFADCCA80C}"/>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F976C71A-6CC4-13BE-67EA-CB59EB9864D5}"/>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4" name="Picture 13" descr="The diagram displays a line chart depicting the estimated and observed data for the Coho salmon population in the North Umpqua River from the years 1990 to 2020.&#10;&#10;AI-generated content may be incorrect.">
            <a:extLst>
              <a:ext uri="{FF2B5EF4-FFF2-40B4-BE49-F238E27FC236}">
                <a16:creationId xmlns:a16="http://schemas.microsoft.com/office/drawing/2014/main" id="{B628D39B-C216-26C4-BB5C-6BF0B8D31CBB}"/>
              </a:ext>
            </a:extLst>
          </p:cNvPr>
          <p:cNvPicPr>
            <a:picLocks noChangeAspect="1"/>
          </p:cNvPicPr>
          <p:nvPr/>
        </p:nvPicPr>
        <p:blipFill>
          <a:blip r:embed="rId4"/>
          <a:stretch>
            <a:fillRect/>
          </a:stretch>
        </p:blipFill>
        <p:spPr>
          <a:xfrm>
            <a:off x="3303404" y="1002433"/>
            <a:ext cx="5764132" cy="3138634"/>
          </a:xfrm>
          <a:prstGeom prst="rect">
            <a:avLst/>
          </a:prstGeom>
        </p:spPr>
      </p:pic>
      <p:sp>
        <p:nvSpPr>
          <p:cNvPr id="4" name="Google Shape;93;p19">
            <a:extLst>
              <a:ext uri="{FF2B5EF4-FFF2-40B4-BE49-F238E27FC236}">
                <a16:creationId xmlns:a16="http://schemas.microsoft.com/office/drawing/2014/main" id="{5D21FD0A-C16A-32B0-FD96-981108824C74}"/>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8331A812-41AE-4B8C-134B-32E8C7D3B257}"/>
              </a:ext>
            </a:extLst>
          </p:cNvPr>
          <p:cNvSpPr txBox="1"/>
          <p:nvPr/>
        </p:nvSpPr>
        <p:spPr>
          <a:xfrm>
            <a:off x="111600" y="1002433"/>
            <a:ext cx="3156668" cy="1477328"/>
          </a:xfrm>
          <a:prstGeom prst="rect">
            <a:avLst/>
          </a:prstGeom>
          <a:noFill/>
        </p:spPr>
        <p:txBody>
          <a:bodyPr wrap="square" rtlCol="0">
            <a:spAutoFit/>
          </a:bodyPr>
          <a:lstStyle/>
          <a:p>
            <a:r>
              <a:rPr lang="en-US" dirty="0">
                <a:solidFill>
                  <a:schemeClr val="bg1"/>
                </a:solidFill>
              </a:rPr>
              <a:t>Surveyed with ‘Dam counts (Video)’</a:t>
            </a:r>
          </a:p>
          <a:p>
            <a:pPr marL="285750" indent="-285750">
              <a:buFontTx/>
              <a:buChar char="-"/>
            </a:pPr>
            <a:endParaRPr lang="en-US" dirty="0">
              <a:solidFill>
                <a:schemeClr val="bg1"/>
              </a:solidFill>
            </a:endParaRPr>
          </a:p>
          <a:p>
            <a:r>
              <a:rPr lang="en-US" dirty="0">
                <a:solidFill>
                  <a:schemeClr val="bg1"/>
                </a:solidFill>
              </a:rPr>
              <a:t>Ideal scenario</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234091459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01A5B1C-BDA3-A465-5E8F-274F6A17403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3BF761C-5849-E0F5-9F4C-6DA00B2AA09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7CC8319-958E-5CF4-831C-045299271696}"/>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735D4D1-5332-42E3-70F7-A57A6FFFD5F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8F68E69B-E41E-0661-25E6-126A31283AF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4" name="Picture 13" descr="The diagram displays a line chart depicting the estimated and observed data for the Coho salmon population in the North Umpqua River from the years 1990 to 2020.&#10;&#10;AI-generated content may be incorrect.">
            <a:extLst>
              <a:ext uri="{FF2B5EF4-FFF2-40B4-BE49-F238E27FC236}">
                <a16:creationId xmlns:a16="http://schemas.microsoft.com/office/drawing/2014/main" id="{C1019C00-4C38-D6C4-CD54-64CEF3936EA7}"/>
              </a:ext>
            </a:extLst>
          </p:cNvPr>
          <p:cNvPicPr>
            <a:picLocks noChangeAspect="1"/>
          </p:cNvPicPr>
          <p:nvPr/>
        </p:nvPicPr>
        <p:blipFill>
          <a:blip r:embed="rId4"/>
          <a:stretch>
            <a:fillRect/>
          </a:stretch>
        </p:blipFill>
        <p:spPr>
          <a:xfrm>
            <a:off x="3303404" y="1002433"/>
            <a:ext cx="5764132" cy="3138634"/>
          </a:xfrm>
          <a:prstGeom prst="rect">
            <a:avLst/>
          </a:prstGeom>
        </p:spPr>
      </p:pic>
      <p:sp>
        <p:nvSpPr>
          <p:cNvPr id="4" name="Google Shape;93;p19">
            <a:extLst>
              <a:ext uri="{FF2B5EF4-FFF2-40B4-BE49-F238E27FC236}">
                <a16:creationId xmlns:a16="http://schemas.microsoft.com/office/drawing/2014/main" id="{0688BE19-372F-60AC-3D5C-E4741B7B9CB7}"/>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6A9FC31A-57A1-4C42-9F57-3EC4078DFCEA}"/>
              </a:ext>
            </a:extLst>
          </p:cNvPr>
          <p:cNvSpPr txBox="1"/>
          <p:nvPr/>
        </p:nvSpPr>
        <p:spPr>
          <a:xfrm>
            <a:off x="111600" y="1002433"/>
            <a:ext cx="3156668" cy="2308324"/>
          </a:xfrm>
          <a:prstGeom prst="rect">
            <a:avLst/>
          </a:prstGeom>
          <a:noFill/>
        </p:spPr>
        <p:txBody>
          <a:bodyPr wrap="square" rtlCol="0">
            <a:spAutoFit/>
          </a:bodyPr>
          <a:lstStyle/>
          <a:p>
            <a:r>
              <a:rPr lang="en-US" dirty="0">
                <a:solidFill>
                  <a:schemeClr val="bg1"/>
                </a:solidFill>
              </a:rPr>
              <a:t>Surveyed with ‘Dam counts (Video)’</a:t>
            </a:r>
          </a:p>
          <a:p>
            <a:pPr marL="285750" indent="-285750">
              <a:buFontTx/>
              <a:buChar char="-"/>
            </a:pPr>
            <a:endParaRPr lang="en-US" dirty="0">
              <a:solidFill>
                <a:schemeClr val="bg1"/>
              </a:solidFill>
            </a:endParaRPr>
          </a:p>
          <a:p>
            <a:r>
              <a:rPr lang="en-US" dirty="0">
                <a:solidFill>
                  <a:schemeClr val="bg1"/>
                </a:solidFill>
              </a:rPr>
              <a:t>Ideal scenario</a:t>
            </a:r>
          </a:p>
          <a:p>
            <a:pPr marL="285750" indent="-285750">
              <a:buFontTx/>
              <a:buChar char="-"/>
            </a:pPr>
            <a:endParaRPr lang="en-US" dirty="0">
              <a:solidFill>
                <a:schemeClr val="bg1"/>
              </a:solidFill>
            </a:endParaRPr>
          </a:p>
          <a:p>
            <a:r>
              <a:rPr lang="en-US" dirty="0">
                <a:solidFill>
                  <a:schemeClr val="bg1"/>
                </a:solidFill>
              </a:rPr>
              <a:t>Many survey methods resemble this behavior</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7931930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B44756E-8D35-49AB-9B88-04A110EA2FE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20E0557-A141-0378-5AAA-6016A07CC0F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D2C888E-033C-BC32-4AB2-FD03073102F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EBAEAA3-0BAF-081F-715F-9F9921BE63D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2C3CB131-03BC-0103-6B5E-6DC9371C7A2C}"/>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4" name="Picture 13" descr="The diagram displays a line chart depicting the estimated and observed data for the Coho salmon population in the North Umpqua River from the years 1990 to 2020.&#10;&#10;AI-generated content may be incorrect.">
            <a:extLst>
              <a:ext uri="{FF2B5EF4-FFF2-40B4-BE49-F238E27FC236}">
                <a16:creationId xmlns:a16="http://schemas.microsoft.com/office/drawing/2014/main" id="{DFA9B4E6-F818-E964-5CE8-164806BF6923}"/>
              </a:ext>
            </a:extLst>
          </p:cNvPr>
          <p:cNvPicPr>
            <a:picLocks noChangeAspect="1"/>
          </p:cNvPicPr>
          <p:nvPr/>
        </p:nvPicPr>
        <p:blipFill>
          <a:blip r:embed="rId4"/>
          <a:stretch>
            <a:fillRect/>
          </a:stretch>
        </p:blipFill>
        <p:spPr>
          <a:xfrm>
            <a:off x="3303404" y="1002433"/>
            <a:ext cx="5764132" cy="3138634"/>
          </a:xfrm>
          <a:prstGeom prst="rect">
            <a:avLst/>
          </a:prstGeom>
        </p:spPr>
      </p:pic>
      <p:sp>
        <p:nvSpPr>
          <p:cNvPr id="4" name="Google Shape;93;p19">
            <a:extLst>
              <a:ext uri="{FF2B5EF4-FFF2-40B4-BE49-F238E27FC236}">
                <a16:creationId xmlns:a16="http://schemas.microsoft.com/office/drawing/2014/main" id="{0F6D4354-A5F2-8B76-42D0-A6E0D88075DA}"/>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53FA133B-FFCC-2429-CA89-0F8D610370A3}"/>
              </a:ext>
            </a:extLst>
          </p:cNvPr>
          <p:cNvSpPr txBox="1"/>
          <p:nvPr/>
        </p:nvSpPr>
        <p:spPr>
          <a:xfrm>
            <a:off x="111600" y="1002433"/>
            <a:ext cx="3156668" cy="2862322"/>
          </a:xfrm>
          <a:prstGeom prst="rect">
            <a:avLst/>
          </a:prstGeom>
          <a:noFill/>
        </p:spPr>
        <p:txBody>
          <a:bodyPr wrap="square" rtlCol="0">
            <a:spAutoFit/>
          </a:bodyPr>
          <a:lstStyle/>
          <a:p>
            <a:r>
              <a:rPr lang="en-US" dirty="0">
                <a:solidFill>
                  <a:schemeClr val="bg1"/>
                </a:solidFill>
              </a:rPr>
              <a:t>Surveyed with ‘Dam counts (Video)’</a:t>
            </a:r>
          </a:p>
          <a:p>
            <a:pPr marL="285750" indent="-285750">
              <a:buFontTx/>
              <a:buChar char="-"/>
            </a:pPr>
            <a:endParaRPr lang="en-US" dirty="0">
              <a:solidFill>
                <a:schemeClr val="bg1"/>
              </a:solidFill>
            </a:endParaRPr>
          </a:p>
          <a:p>
            <a:r>
              <a:rPr lang="en-US" dirty="0">
                <a:solidFill>
                  <a:schemeClr val="bg1"/>
                </a:solidFill>
              </a:rPr>
              <a:t>Ideal scenario</a:t>
            </a:r>
          </a:p>
          <a:p>
            <a:pPr marL="285750" indent="-285750">
              <a:buFontTx/>
              <a:buChar char="-"/>
            </a:pPr>
            <a:endParaRPr lang="en-US" dirty="0">
              <a:solidFill>
                <a:schemeClr val="bg1"/>
              </a:solidFill>
            </a:endParaRPr>
          </a:p>
          <a:p>
            <a:r>
              <a:rPr lang="en-US" dirty="0">
                <a:solidFill>
                  <a:schemeClr val="bg1"/>
                </a:solidFill>
              </a:rPr>
              <a:t>Many survey methods resemble this behavior</a:t>
            </a:r>
          </a:p>
          <a:p>
            <a:pPr marL="285750" indent="-285750">
              <a:buFontTx/>
              <a:buChar char="-"/>
            </a:pPr>
            <a:endParaRPr lang="en-US" dirty="0">
              <a:solidFill>
                <a:schemeClr val="bg1"/>
              </a:solidFill>
            </a:endParaRPr>
          </a:p>
          <a:p>
            <a:r>
              <a:rPr lang="en-US" dirty="0">
                <a:solidFill>
                  <a:schemeClr val="bg1"/>
                </a:solidFill>
              </a:rPr>
              <a:t>No major adjustments necessary</a:t>
            </a:r>
          </a:p>
        </p:txBody>
      </p:sp>
    </p:spTree>
    <p:extLst>
      <p:ext uri="{BB962C8B-B14F-4D97-AF65-F5344CB8AC3E}">
        <p14:creationId xmlns:p14="http://schemas.microsoft.com/office/powerpoint/2010/main" val="363815808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5339CE1-C033-CABD-F4DC-3E4720D79A6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4AC8BC-41C6-3459-4E4D-4D389094B81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4FCD31B-12C0-F90C-D81F-CD4BD682F7B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DA64E55-EB23-A89F-D2D8-C31610B51A2A}"/>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482ED39E-05B5-0126-3957-B1154DEC3694}"/>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image is a line graph depicting the estimated and observed Chinook salmon counts in the North Fork John Day River from 2000 to 2020.&#10;&#10;AI-generated content may be incorrect.">
            <a:extLst>
              <a:ext uri="{FF2B5EF4-FFF2-40B4-BE49-F238E27FC236}">
                <a16:creationId xmlns:a16="http://schemas.microsoft.com/office/drawing/2014/main" id="{E22343E5-C34C-8FD9-2BC7-060003C90E76}"/>
              </a:ext>
            </a:extLst>
          </p:cNvPr>
          <p:cNvPicPr>
            <a:picLocks noChangeAspect="1"/>
          </p:cNvPicPr>
          <p:nvPr/>
        </p:nvPicPr>
        <p:blipFill>
          <a:blip r:embed="rId4"/>
          <a:stretch>
            <a:fillRect/>
          </a:stretch>
        </p:blipFill>
        <p:spPr>
          <a:xfrm>
            <a:off x="1" y="432479"/>
            <a:ext cx="8325852" cy="4537657"/>
          </a:xfrm>
          <a:prstGeom prst="rect">
            <a:avLst/>
          </a:prstGeom>
        </p:spPr>
      </p:pic>
      <p:sp>
        <p:nvSpPr>
          <p:cNvPr id="9" name="Google Shape;93;p19">
            <a:extLst>
              <a:ext uri="{FF2B5EF4-FFF2-40B4-BE49-F238E27FC236}">
                <a16:creationId xmlns:a16="http://schemas.microsoft.com/office/drawing/2014/main" id="{41E0670F-043A-B66C-E857-5EEDD02E5736}"/>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high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84538910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8500D0E4-29D7-2FDC-327B-10C09F17730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14D4F-224A-D29A-49D9-280E2DC7414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21B34D4-3D53-ED56-3C93-CDFBC3A67A3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D097FCF-C794-A414-189C-2570587C420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C36C96AB-B2C3-085E-4C87-859EED96B6A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image is a line graph depicting the estimated and observed Chinook salmon counts in the North Fork John Day River from 2000 to 2020.&#10;&#10;AI-generated content may be incorrect.">
            <a:extLst>
              <a:ext uri="{FF2B5EF4-FFF2-40B4-BE49-F238E27FC236}">
                <a16:creationId xmlns:a16="http://schemas.microsoft.com/office/drawing/2014/main" id="{F66F56B9-7878-9359-B22C-E4649CDF141C}"/>
              </a:ext>
            </a:extLst>
          </p:cNvPr>
          <p:cNvPicPr>
            <a:picLocks noChangeAspect="1"/>
          </p:cNvPicPr>
          <p:nvPr/>
        </p:nvPicPr>
        <p:blipFill>
          <a:blip r:embed="rId4"/>
          <a:stretch>
            <a:fillRect/>
          </a:stretch>
        </p:blipFill>
        <p:spPr>
          <a:xfrm>
            <a:off x="3303404" y="1006760"/>
            <a:ext cx="5764132" cy="3141499"/>
          </a:xfrm>
          <a:prstGeom prst="rect">
            <a:avLst/>
          </a:prstGeom>
        </p:spPr>
      </p:pic>
      <p:sp>
        <p:nvSpPr>
          <p:cNvPr id="4" name="Google Shape;93;p19">
            <a:extLst>
              <a:ext uri="{FF2B5EF4-FFF2-40B4-BE49-F238E27FC236}">
                <a16:creationId xmlns:a16="http://schemas.microsoft.com/office/drawing/2014/main" id="{87A39CCF-F499-F708-E616-D3F6150A14DA}"/>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high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DA305A10-68A7-0A44-4599-0AA310EC7BB8}"/>
              </a:ext>
            </a:extLst>
          </p:cNvPr>
          <p:cNvSpPr txBox="1"/>
          <p:nvPr/>
        </p:nvSpPr>
        <p:spPr>
          <a:xfrm>
            <a:off x="111600" y="1002433"/>
            <a:ext cx="3156668" cy="1200329"/>
          </a:xfrm>
          <a:prstGeom prst="rect">
            <a:avLst/>
          </a:prstGeom>
          <a:noFill/>
        </p:spPr>
        <p:txBody>
          <a:bodyPr wrap="square" rtlCol="0">
            <a:spAutoFit/>
          </a:bodyPr>
          <a:lstStyle/>
          <a:p>
            <a:r>
              <a:rPr lang="en-US" dirty="0">
                <a:solidFill>
                  <a:schemeClr val="bg1"/>
                </a:solidFill>
              </a:rPr>
              <a:t>Surveyed with ‘Total redd counts * Fish per redd estimate’</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179858402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641A6FBF-26B9-0127-2EC7-74DE9E34542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8CB4680-181C-48CD-B747-6D0295481DF8}"/>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5752DCB-DB40-1027-FBFB-AE3DD333014F}"/>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E049F0B-52B6-2BE8-DFB5-34C6CF67D35C}"/>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AC2B2E9C-221E-1450-515F-9391DF7B2300}"/>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image is a line graph depicting the estimated and observed Chinook salmon counts in the North Fork John Day River from 2000 to 2020.&#10;&#10;AI-generated content may be incorrect.">
            <a:extLst>
              <a:ext uri="{FF2B5EF4-FFF2-40B4-BE49-F238E27FC236}">
                <a16:creationId xmlns:a16="http://schemas.microsoft.com/office/drawing/2014/main" id="{26BD017F-1670-95AB-763F-D97A15C881F9}"/>
              </a:ext>
            </a:extLst>
          </p:cNvPr>
          <p:cNvPicPr>
            <a:picLocks noChangeAspect="1"/>
          </p:cNvPicPr>
          <p:nvPr/>
        </p:nvPicPr>
        <p:blipFill>
          <a:blip r:embed="rId4"/>
          <a:stretch>
            <a:fillRect/>
          </a:stretch>
        </p:blipFill>
        <p:spPr>
          <a:xfrm>
            <a:off x="3303404" y="1006760"/>
            <a:ext cx="5764132" cy="3141499"/>
          </a:xfrm>
          <a:prstGeom prst="rect">
            <a:avLst/>
          </a:prstGeom>
        </p:spPr>
      </p:pic>
      <p:sp>
        <p:nvSpPr>
          <p:cNvPr id="4" name="Google Shape;93;p19">
            <a:extLst>
              <a:ext uri="{FF2B5EF4-FFF2-40B4-BE49-F238E27FC236}">
                <a16:creationId xmlns:a16="http://schemas.microsoft.com/office/drawing/2014/main" id="{4C30AD52-3956-DDE7-4C99-C1941977D37E}"/>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high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AA3E119F-720F-AFEC-AD5D-8B71F20E5861}"/>
              </a:ext>
            </a:extLst>
          </p:cNvPr>
          <p:cNvSpPr txBox="1"/>
          <p:nvPr/>
        </p:nvSpPr>
        <p:spPr>
          <a:xfrm>
            <a:off x="111600" y="1002433"/>
            <a:ext cx="3156668" cy="2031325"/>
          </a:xfrm>
          <a:prstGeom prst="rect">
            <a:avLst/>
          </a:prstGeom>
          <a:noFill/>
        </p:spPr>
        <p:txBody>
          <a:bodyPr wrap="square" rtlCol="0">
            <a:spAutoFit/>
          </a:bodyPr>
          <a:lstStyle/>
          <a:p>
            <a:r>
              <a:rPr lang="en-US" dirty="0">
                <a:solidFill>
                  <a:schemeClr val="bg1"/>
                </a:solidFill>
              </a:rPr>
              <a:t>Surveyed with ‘Total redd counts * Fish per redd estimate’</a:t>
            </a:r>
          </a:p>
          <a:p>
            <a:pPr marL="285750" indent="-285750">
              <a:buFontTx/>
              <a:buChar char="-"/>
            </a:pPr>
            <a:endParaRPr lang="en-US" dirty="0">
              <a:solidFill>
                <a:schemeClr val="bg1"/>
              </a:solidFill>
            </a:endParaRPr>
          </a:p>
          <a:p>
            <a:r>
              <a:rPr lang="en-US" dirty="0">
                <a:solidFill>
                  <a:schemeClr val="bg1"/>
                </a:solidFill>
              </a:rPr>
              <a:t>Captures abundance shifts, despite over/under counting</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201649369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C63DAD1-0DD9-4B10-0BC8-D8B93AD1248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8F7D2C2-56D8-07C2-3C6D-2EE5D952DDC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FA8E788-89B3-6D4B-64B5-EB525E40AC31}"/>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84A2FD5-4694-20CD-9671-664AB27F320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5185F701-E2F9-F652-2E3D-69E48854484F}"/>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image is a line graph depicting the estimated and observed Chinook salmon counts in the North Fork John Day River from 2000 to 2020.&#10;&#10;AI-generated content may be incorrect.">
            <a:extLst>
              <a:ext uri="{FF2B5EF4-FFF2-40B4-BE49-F238E27FC236}">
                <a16:creationId xmlns:a16="http://schemas.microsoft.com/office/drawing/2014/main" id="{E71CF34F-1CE1-8E62-E18C-E19CDAB3F5E3}"/>
              </a:ext>
            </a:extLst>
          </p:cNvPr>
          <p:cNvPicPr>
            <a:picLocks noChangeAspect="1"/>
          </p:cNvPicPr>
          <p:nvPr/>
        </p:nvPicPr>
        <p:blipFill>
          <a:blip r:embed="rId4"/>
          <a:stretch>
            <a:fillRect/>
          </a:stretch>
        </p:blipFill>
        <p:spPr>
          <a:xfrm>
            <a:off x="3303404" y="1006760"/>
            <a:ext cx="5764132" cy="3141499"/>
          </a:xfrm>
          <a:prstGeom prst="rect">
            <a:avLst/>
          </a:prstGeom>
        </p:spPr>
      </p:pic>
      <p:sp>
        <p:nvSpPr>
          <p:cNvPr id="4" name="Google Shape;93;p19">
            <a:extLst>
              <a:ext uri="{FF2B5EF4-FFF2-40B4-BE49-F238E27FC236}">
                <a16:creationId xmlns:a16="http://schemas.microsoft.com/office/drawing/2014/main" id="{388E9257-426F-7619-2BEB-3A33918AAA48}"/>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high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FA7E16A8-F406-4760-86BF-F6BD9E630B54}"/>
              </a:ext>
            </a:extLst>
          </p:cNvPr>
          <p:cNvSpPr txBox="1"/>
          <p:nvPr/>
        </p:nvSpPr>
        <p:spPr>
          <a:xfrm>
            <a:off x="111600" y="1002433"/>
            <a:ext cx="3156668" cy="2585323"/>
          </a:xfrm>
          <a:prstGeom prst="rect">
            <a:avLst/>
          </a:prstGeom>
          <a:noFill/>
        </p:spPr>
        <p:txBody>
          <a:bodyPr wrap="square" rtlCol="0">
            <a:spAutoFit/>
          </a:bodyPr>
          <a:lstStyle/>
          <a:p>
            <a:r>
              <a:rPr lang="en-US" dirty="0">
                <a:solidFill>
                  <a:schemeClr val="bg1"/>
                </a:solidFill>
              </a:rPr>
              <a:t>Surveyed with ‘Total redd counts * Fish per redd estimate’</a:t>
            </a:r>
          </a:p>
          <a:p>
            <a:pPr marL="285750" indent="-285750">
              <a:buFontTx/>
              <a:buChar char="-"/>
            </a:pPr>
            <a:endParaRPr lang="en-US" dirty="0">
              <a:solidFill>
                <a:schemeClr val="bg1"/>
              </a:solidFill>
            </a:endParaRPr>
          </a:p>
          <a:p>
            <a:r>
              <a:rPr lang="en-US" dirty="0">
                <a:solidFill>
                  <a:schemeClr val="bg1"/>
                </a:solidFill>
              </a:rPr>
              <a:t>Captures abundance shifts, despite over/under counting</a:t>
            </a:r>
          </a:p>
          <a:p>
            <a:pPr marL="285750" indent="-285750">
              <a:buFontTx/>
              <a:buChar char="-"/>
            </a:pPr>
            <a:endParaRPr lang="en-US" dirty="0">
              <a:solidFill>
                <a:schemeClr val="bg1"/>
              </a:solidFill>
            </a:endParaRPr>
          </a:p>
          <a:p>
            <a:r>
              <a:rPr lang="en-US" dirty="0">
                <a:solidFill>
                  <a:schemeClr val="bg1"/>
                </a:solidFill>
              </a:rPr>
              <a:t>Easily adjustable if bias is known</a:t>
            </a:r>
          </a:p>
        </p:txBody>
      </p:sp>
    </p:spTree>
    <p:extLst>
      <p:ext uri="{BB962C8B-B14F-4D97-AF65-F5344CB8AC3E}">
        <p14:creationId xmlns:p14="http://schemas.microsoft.com/office/powerpoint/2010/main" val="301230649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252EEC65-A822-E9CA-72C0-B999320298B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3BAFE23-1FE6-33C2-DFCE-6EB44C8714C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986996E-CCA9-F79A-9EF3-331CAEA5FD0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EB20FE4-E929-08CC-7563-B8C1D0DEA48F}"/>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A42F155D-A535-EF66-03B7-EF2C3AFB580D}"/>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10" name="Picture 9" descr="The diagram illustrates a trend in Steelhead fish populations in the Upper Grande Ronde River, showing a fluctuating number of fish from 1980 to 2024, with data points for the years 1980, 1990, 2000, and 2010.&#10;&#10;AI-generated content may be incorrect.">
            <a:extLst>
              <a:ext uri="{FF2B5EF4-FFF2-40B4-BE49-F238E27FC236}">
                <a16:creationId xmlns:a16="http://schemas.microsoft.com/office/drawing/2014/main" id="{D1EF32F1-38BC-BB94-AAD0-B09942950334}"/>
              </a:ext>
            </a:extLst>
          </p:cNvPr>
          <p:cNvPicPr>
            <a:picLocks noChangeAspect="1"/>
          </p:cNvPicPr>
          <p:nvPr/>
        </p:nvPicPr>
        <p:blipFill>
          <a:blip r:embed="rId4"/>
          <a:stretch>
            <a:fillRect/>
          </a:stretch>
        </p:blipFill>
        <p:spPr>
          <a:xfrm>
            <a:off x="1" y="430413"/>
            <a:ext cx="8325852" cy="4539723"/>
          </a:xfrm>
          <a:prstGeom prst="rect">
            <a:avLst/>
          </a:prstGeom>
        </p:spPr>
      </p:pic>
      <p:sp>
        <p:nvSpPr>
          <p:cNvPr id="12" name="Google Shape;93;p19">
            <a:extLst>
              <a:ext uri="{FF2B5EF4-FFF2-40B4-BE49-F238E27FC236}">
                <a16:creationId xmlns:a16="http://schemas.microsoft.com/office/drawing/2014/main" id="{01E4482A-AD8F-431C-F62A-F5EE86915453}"/>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Low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94343485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735C8E0-5C5A-E35E-AA65-6796252C941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0EDC925-81D3-2630-74B4-56C5A3248EB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E74032A-973A-41D3-1168-B16404A7436D}"/>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D68A984-929B-9EEC-74D2-CB60B9BC8F37}"/>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27862D4C-2FE1-8D17-AE86-C26F09B63087}"/>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illustrates a trend in Steelhead fish populations in the Upper Grande Ronde River, showing a fluctuating number of fish from 1980 to 2024, with data points for the years 1980, 1990, 2000, and 2010.&#10;&#10;AI-generated content may be incorrect.">
            <a:extLst>
              <a:ext uri="{FF2B5EF4-FFF2-40B4-BE49-F238E27FC236}">
                <a16:creationId xmlns:a16="http://schemas.microsoft.com/office/drawing/2014/main" id="{F2AB52CF-08AB-31D2-6956-5991329D6E93}"/>
              </a:ext>
            </a:extLst>
          </p:cNvPr>
          <p:cNvPicPr>
            <a:picLocks noChangeAspect="1"/>
          </p:cNvPicPr>
          <p:nvPr/>
        </p:nvPicPr>
        <p:blipFill>
          <a:blip r:embed="rId4"/>
          <a:stretch>
            <a:fillRect/>
          </a:stretch>
        </p:blipFill>
        <p:spPr>
          <a:xfrm>
            <a:off x="3302386" y="1002433"/>
            <a:ext cx="5764132" cy="3142929"/>
          </a:xfrm>
          <a:prstGeom prst="rect">
            <a:avLst/>
          </a:prstGeom>
        </p:spPr>
      </p:pic>
      <p:sp>
        <p:nvSpPr>
          <p:cNvPr id="4" name="Google Shape;93;p19">
            <a:extLst>
              <a:ext uri="{FF2B5EF4-FFF2-40B4-BE49-F238E27FC236}">
                <a16:creationId xmlns:a16="http://schemas.microsoft.com/office/drawing/2014/main" id="{90C64372-B1F3-0C68-3B04-9B7B7E2AAF70}"/>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Low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2F190A5C-0ACB-F69A-2D51-236F9D522539}"/>
              </a:ext>
            </a:extLst>
          </p:cNvPr>
          <p:cNvSpPr txBox="1"/>
          <p:nvPr/>
        </p:nvSpPr>
        <p:spPr>
          <a:xfrm>
            <a:off x="111600" y="1002433"/>
            <a:ext cx="3156668" cy="1200329"/>
          </a:xfrm>
          <a:prstGeom prst="rect">
            <a:avLst/>
          </a:prstGeom>
          <a:noFill/>
        </p:spPr>
        <p:txBody>
          <a:bodyPr wrap="square" rtlCol="0">
            <a:spAutoFit/>
          </a:bodyPr>
          <a:lstStyle/>
          <a:p>
            <a:r>
              <a:rPr lang="en-US" dirty="0">
                <a:solidFill>
                  <a:schemeClr val="bg1"/>
                </a:solidFill>
              </a:rPr>
              <a:t>Surveyed with ‘Redd count expansion * Fish per redd estimate’</a:t>
            </a:r>
          </a:p>
          <a:p>
            <a:endParaRPr lang="en-US" dirty="0">
              <a:solidFill>
                <a:schemeClr val="bg1"/>
              </a:solidFill>
            </a:endParaRPr>
          </a:p>
        </p:txBody>
      </p:sp>
    </p:spTree>
    <p:extLst>
      <p:ext uri="{BB962C8B-B14F-4D97-AF65-F5344CB8AC3E}">
        <p14:creationId xmlns:p14="http://schemas.microsoft.com/office/powerpoint/2010/main" val="380174881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BD511179-85AA-2099-4B8C-79ADBE27DF7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3949A28-24F2-7266-DD03-7008659EA5B8}"/>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BA869F43-49D3-3FBD-D186-79EE560971FD}"/>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CEFE27A-74C8-A971-7991-AAB986E3E62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D3F4A1B6-A254-83B2-72D6-35BA5BB3A84C}"/>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illustrates a trend in Steelhead fish populations in the Upper Grande Ronde River, showing a fluctuating number of fish from 1980 to 2024, with data points for the years 1980, 1990, 2000, and 2010.&#10;&#10;AI-generated content may be incorrect.">
            <a:extLst>
              <a:ext uri="{FF2B5EF4-FFF2-40B4-BE49-F238E27FC236}">
                <a16:creationId xmlns:a16="http://schemas.microsoft.com/office/drawing/2014/main" id="{90BFEBAC-B140-7F60-1D4B-99A2D6335B9D}"/>
              </a:ext>
            </a:extLst>
          </p:cNvPr>
          <p:cNvPicPr>
            <a:picLocks noChangeAspect="1"/>
          </p:cNvPicPr>
          <p:nvPr/>
        </p:nvPicPr>
        <p:blipFill>
          <a:blip r:embed="rId4"/>
          <a:stretch>
            <a:fillRect/>
          </a:stretch>
        </p:blipFill>
        <p:spPr>
          <a:xfrm>
            <a:off x="3302386" y="1002433"/>
            <a:ext cx="5764132" cy="3142929"/>
          </a:xfrm>
          <a:prstGeom prst="rect">
            <a:avLst/>
          </a:prstGeom>
        </p:spPr>
      </p:pic>
      <p:sp>
        <p:nvSpPr>
          <p:cNvPr id="4" name="Google Shape;93;p19">
            <a:extLst>
              <a:ext uri="{FF2B5EF4-FFF2-40B4-BE49-F238E27FC236}">
                <a16:creationId xmlns:a16="http://schemas.microsoft.com/office/drawing/2014/main" id="{E752A6AE-E6AF-B15D-9E88-975E6E875B58}"/>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Low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714B0BE5-A223-CF2D-0863-DD5966F5A036}"/>
              </a:ext>
            </a:extLst>
          </p:cNvPr>
          <p:cNvSpPr txBox="1"/>
          <p:nvPr/>
        </p:nvSpPr>
        <p:spPr>
          <a:xfrm>
            <a:off x="111600" y="1002433"/>
            <a:ext cx="3156668" cy="2031325"/>
          </a:xfrm>
          <a:prstGeom prst="rect">
            <a:avLst/>
          </a:prstGeom>
          <a:noFill/>
        </p:spPr>
        <p:txBody>
          <a:bodyPr wrap="square" rtlCol="0">
            <a:spAutoFit/>
          </a:bodyPr>
          <a:lstStyle/>
          <a:p>
            <a:r>
              <a:rPr lang="en-US" dirty="0">
                <a:solidFill>
                  <a:schemeClr val="bg1"/>
                </a:solidFill>
              </a:rPr>
              <a:t>Surveyed with ‘Redd count expansion * Fish per redd estimate’</a:t>
            </a:r>
          </a:p>
          <a:p>
            <a:endParaRPr lang="en-US" dirty="0">
              <a:solidFill>
                <a:schemeClr val="bg1"/>
              </a:solidFill>
            </a:endParaRPr>
          </a:p>
          <a:p>
            <a:r>
              <a:rPr lang="en-US" dirty="0">
                <a:solidFill>
                  <a:schemeClr val="bg1"/>
                </a:solidFill>
              </a:rPr>
              <a:t>Captures general trends over time</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289420560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416789C-0551-7A03-75BB-22E88C5A672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0590D78-4CAE-E446-B256-ED276500EACE}"/>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A9E9E48A-3F66-667C-77C0-A9E1D340AE2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4F2CDF3-310E-0881-1C8E-4614D0B92C7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A2B44F39-92A3-A45A-E051-7B903BB4111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illustrates a trend in Steelhead fish populations in the Upper Grande Ronde River, showing a fluctuating number of fish from 1980 to 2024, with data points for the years 1980, 1990, 2000, and 2010.&#10;&#10;AI-generated content may be incorrect.">
            <a:extLst>
              <a:ext uri="{FF2B5EF4-FFF2-40B4-BE49-F238E27FC236}">
                <a16:creationId xmlns:a16="http://schemas.microsoft.com/office/drawing/2014/main" id="{64BEFB2A-A101-467B-DA65-FB8B4B06A3AD}"/>
              </a:ext>
            </a:extLst>
          </p:cNvPr>
          <p:cNvPicPr>
            <a:picLocks noChangeAspect="1"/>
          </p:cNvPicPr>
          <p:nvPr/>
        </p:nvPicPr>
        <p:blipFill>
          <a:blip r:embed="rId4"/>
          <a:stretch>
            <a:fillRect/>
          </a:stretch>
        </p:blipFill>
        <p:spPr>
          <a:xfrm>
            <a:off x="3302386" y="1002433"/>
            <a:ext cx="5764132" cy="3142929"/>
          </a:xfrm>
          <a:prstGeom prst="rect">
            <a:avLst/>
          </a:prstGeom>
        </p:spPr>
      </p:pic>
      <p:sp>
        <p:nvSpPr>
          <p:cNvPr id="4" name="Google Shape;93;p19">
            <a:extLst>
              <a:ext uri="{FF2B5EF4-FFF2-40B4-BE49-F238E27FC236}">
                <a16:creationId xmlns:a16="http://schemas.microsoft.com/office/drawing/2014/main" id="{484B4A4F-AED1-63C6-498B-9020F2010A99}"/>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Low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E56748DD-6904-0C87-E823-58A2A645C35B}"/>
              </a:ext>
            </a:extLst>
          </p:cNvPr>
          <p:cNvSpPr txBox="1"/>
          <p:nvPr/>
        </p:nvSpPr>
        <p:spPr>
          <a:xfrm>
            <a:off x="111600" y="1002433"/>
            <a:ext cx="3156668" cy="2585323"/>
          </a:xfrm>
          <a:prstGeom prst="rect">
            <a:avLst/>
          </a:prstGeom>
          <a:noFill/>
        </p:spPr>
        <p:txBody>
          <a:bodyPr wrap="square" rtlCol="0">
            <a:spAutoFit/>
          </a:bodyPr>
          <a:lstStyle/>
          <a:p>
            <a:r>
              <a:rPr lang="en-US" dirty="0">
                <a:solidFill>
                  <a:schemeClr val="bg1"/>
                </a:solidFill>
              </a:rPr>
              <a:t>Surveyed with ‘Redd count expansion * Fish per redd estimate’</a:t>
            </a:r>
          </a:p>
          <a:p>
            <a:endParaRPr lang="en-US" dirty="0">
              <a:solidFill>
                <a:schemeClr val="bg1"/>
              </a:solidFill>
            </a:endParaRPr>
          </a:p>
          <a:p>
            <a:r>
              <a:rPr lang="en-US" dirty="0">
                <a:solidFill>
                  <a:schemeClr val="bg1"/>
                </a:solidFill>
              </a:rPr>
              <a:t>Captures general trends over time</a:t>
            </a:r>
          </a:p>
          <a:p>
            <a:pPr marL="285750" indent="-285750">
              <a:buFontTx/>
              <a:buChar char="-"/>
            </a:pPr>
            <a:endParaRPr lang="en-US" dirty="0">
              <a:solidFill>
                <a:schemeClr val="bg1"/>
              </a:solidFill>
            </a:endParaRPr>
          </a:p>
          <a:p>
            <a:r>
              <a:rPr lang="en-US" dirty="0">
                <a:solidFill>
                  <a:schemeClr val="bg1"/>
                </a:solidFill>
              </a:rPr>
              <a:t>Obscures short term shifts</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250367438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12DFB11-C860-2723-FFB5-6019461B09E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DD2BB1E-4F3C-E89A-487D-0D7F45FCCFC6}"/>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4F40546-4C1F-5B91-F6E4-2A201472976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01B0F7E-09FF-FBB1-6B94-BD4CC009FCD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631F30B1-2AA7-4E88-BAF4-DDEE5F0A19A5}"/>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illustrates a trend in Steelhead fish populations in the Upper Grande Ronde River, showing a fluctuating number of fish from 1980 to 2024, with data points for the years 1980, 1990, 2000, and 2010.&#10;&#10;AI-generated content may be incorrect.">
            <a:extLst>
              <a:ext uri="{FF2B5EF4-FFF2-40B4-BE49-F238E27FC236}">
                <a16:creationId xmlns:a16="http://schemas.microsoft.com/office/drawing/2014/main" id="{69D91906-B16D-7D49-30DE-29464BD1ADE4}"/>
              </a:ext>
            </a:extLst>
          </p:cNvPr>
          <p:cNvPicPr>
            <a:picLocks noChangeAspect="1"/>
          </p:cNvPicPr>
          <p:nvPr/>
        </p:nvPicPr>
        <p:blipFill>
          <a:blip r:embed="rId4"/>
          <a:stretch>
            <a:fillRect/>
          </a:stretch>
        </p:blipFill>
        <p:spPr>
          <a:xfrm>
            <a:off x="3302386" y="1002433"/>
            <a:ext cx="5764132" cy="3142929"/>
          </a:xfrm>
          <a:prstGeom prst="rect">
            <a:avLst/>
          </a:prstGeom>
        </p:spPr>
      </p:pic>
      <p:sp>
        <p:nvSpPr>
          <p:cNvPr id="4" name="Google Shape;93;p19">
            <a:extLst>
              <a:ext uri="{FF2B5EF4-FFF2-40B4-BE49-F238E27FC236}">
                <a16:creationId xmlns:a16="http://schemas.microsoft.com/office/drawing/2014/main" id="{E237E9E1-63AC-ED4C-D1D8-4D849E623C96}"/>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Low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ECC32291-F081-D4E6-AB9B-BD1CC4EF6D8A}"/>
              </a:ext>
            </a:extLst>
          </p:cNvPr>
          <p:cNvSpPr txBox="1"/>
          <p:nvPr/>
        </p:nvSpPr>
        <p:spPr>
          <a:xfrm>
            <a:off x="111600" y="1002433"/>
            <a:ext cx="3156668" cy="3139321"/>
          </a:xfrm>
          <a:prstGeom prst="rect">
            <a:avLst/>
          </a:prstGeom>
          <a:noFill/>
        </p:spPr>
        <p:txBody>
          <a:bodyPr wrap="square" rtlCol="0">
            <a:spAutoFit/>
          </a:bodyPr>
          <a:lstStyle/>
          <a:p>
            <a:r>
              <a:rPr lang="en-US" dirty="0">
                <a:solidFill>
                  <a:schemeClr val="bg1"/>
                </a:solidFill>
              </a:rPr>
              <a:t>Surveyed with ‘Redd count expansion * Fish per redd estimate’</a:t>
            </a:r>
          </a:p>
          <a:p>
            <a:endParaRPr lang="en-US" dirty="0">
              <a:solidFill>
                <a:schemeClr val="bg1"/>
              </a:solidFill>
            </a:endParaRPr>
          </a:p>
          <a:p>
            <a:r>
              <a:rPr lang="en-US" dirty="0">
                <a:solidFill>
                  <a:schemeClr val="bg1"/>
                </a:solidFill>
              </a:rPr>
              <a:t>Captures general trends over time</a:t>
            </a:r>
          </a:p>
          <a:p>
            <a:pPr marL="285750" indent="-285750">
              <a:buFontTx/>
              <a:buChar char="-"/>
            </a:pPr>
            <a:endParaRPr lang="en-US" dirty="0">
              <a:solidFill>
                <a:schemeClr val="bg1"/>
              </a:solidFill>
            </a:endParaRPr>
          </a:p>
          <a:p>
            <a:r>
              <a:rPr lang="en-US" dirty="0">
                <a:solidFill>
                  <a:schemeClr val="bg1"/>
                </a:solidFill>
              </a:rPr>
              <a:t>Obscures short term shifts</a:t>
            </a:r>
          </a:p>
          <a:p>
            <a:pPr marL="285750" indent="-285750">
              <a:buFontTx/>
              <a:buChar char="-"/>
            </a:pPr>
            <a:endParaRPr lang="en-US" dirty="0">
              <a:solidFill>
                <a:schemeClr val="bg1"/>
              </a:solidFill>
            </a:endParaRPr>
          </a:p>
          <a:p>
            <a:r>
              <a:rPr lang="en-US" dirty="0">
                <a:solidFill>
                  <a:schemeClr val="bg1"/>
                </a:solidFill>
              </a:rPr>
              <a:t>Difficult to adjust for low precision</a:t>
            </a:r>
          </a:p>
        </p:txBody>
      </p:sp>
    </p:spTree>
    <p:extLst>
      <p:ext uri="{BB962C8B-B14F-4D97-AF65-F5344CB8AC3E}">
        <p14:creationId xmlns:p14="http://schemas.microsoft.com/office/powerpoint/2010/main" val="128213083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E04EF89-4997-397A-342E-182CE692EE7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7CCF684-61B7-7E80-89A9-2A8DBEAEC78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51C56DB-BF06-6895-5499-3289B522D4B7}"/>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42A4E3C-5538-1A06-8CDB-20CC3C69B6CB}"/>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D13987F6-4168-2A76-84CE-1EBB43C99009}"/>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diagram shows the estimated population trend for Chinook along the Clatskanie River from 1980 to 2024, with a steady increase in numbers over the years.&#10;&#10;AI-generated content may be incorrect.">
            <a:extLst>
              <a:ext uri="{FF2B5EF4-FFF2-40B4-BE49-F238E27FC236}">
                <a16:creationId xmlns:a16="http://schemas.microsoft.com/office/drawing/2014/main" id="{4B724796-8BED-6E3D-95FF-668578F2859F}"/>
              </a:ext>
            </a:extLst>
          </p:cNvPr>
          <p:cNvPicPr>
            <a:picLocks noChangeAspect="1"/>
          </p:cNvPicPr>
          <p:nvPr/>
        </p:nvPicPr>
        <p:blipFill>
          <a:blip r:embed="rId4"/>
          <a:stretch>
            <a:fillRect/>
          </a:stretch>
        </p:blipFill>
        <p:spPr>
          <a:xfrm>
            <a:off x="1" y="448401"/>
            <a:ext cx="8325852" cy="4521564"/>
          </a:xfrm>
          <a:prstGeom prst="rect">
            <a:avLst/>
          </a:prstGeom>
        </p:spPr>
      </p:pic>
      <p:sp>
        <p:nvSpPr>
          <p:cNvPr id="9" name="Google Shape;93;p19">
            <a:extLst>
              <a:ext uri="{FF2B5EF4-FFF2-40B4-BE49-F238E27FC236}">
                <a16:creationId xmlns:a16="http://schemas.microsoft.com/office/drawing/2014/main" id="{CE6479FE-4CFC-9A15-C79D-5DF6DE417D1D}"/>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Low precision, high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95846676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6F326BF7-D18B-4D90-6E97-8909003425C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6CCED5C-152A-AAB5-49F7-79DA46A74C2E}"/>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4320193-DC40-F96A-4DD1-76DC494165B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06A36D0-DB9F-10EB-6274-952F8C42F12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CC12CF04-9114-2F6F-C76D-1CB85E250E8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shows the estimated population trend for Chinook along the Clatskanie River from 1980 to 2024, with a steady increase in numbers over the years.&#10;&#10;AI-generated content may be incorrect.">
            <a:extLst>
              <a:ext uri="{FF2B5EF4-FFF2-40B4-BE49-F238E27FC236}">
                <a16:creationId xmlns:a16="http://schemas.microsoft.com/office/drawing/2014/main" id="{92FFA1D5-DB96-2F1E-3EA7-B90D7A571382}"/>
              </a:ext>
            </a:extLst>
          </p:cNvPr>
          <p:cNvPicPr>
            <a:picLocks noChangeAspect="1"/>
          </p:cNvPicPr>
          <p:nvPr/>
        </p:nvPicPr>
        <p:blipFill>
          <a:blip r:embed="rId4"/>
          <a:stretch>
            <a:fillRect/>
          </a:stretch>
        </p:blipFill>
        <p:spPr>
          <a:xfrm>
            <a:off x="3303404" y="997823"/>
            <a:ext cx="5779372" cy="3138634"/>
          </a:xfrm>
          <a:prstGeom prst="rect">
            <a:avLst/>
          </a:prstGeom>
        </p:spPr>
      </p:pic>
      <p:sp>
        <p:nvSpPr>
          <p:cNvPr id="4" name="Google Shape;93;p19">
            <a:extLst>
              <a:ext uri="{FF2B5EF4-FFF2-40B4-BE49-F238E27FC236}">
                <a16:creationId xmlns:a16="http://schemas.microsoft.com/office/drawing/2014/main" id="{503AEDC4-E818-C7D8-9DEE-04C919C9DC9B}"/>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DF9D95D2-39F8-BC5C-5327-D80267BD8C46}"/>
              </a:ext>
            </a:extLst>
          </p:cNvPr>
          <p:cNvSpPr txBox="1"/>
          <p:nvPr/>
        </p:nvSpPr>
        <p:spPr>
          <a:xfrm>
            <a:off x="111600" y="1002433"/>
            <a:ext cx="3156668" cy="1200329"/>
          </a:xfrm>
          <a:prstGeom prst="rect">
            <a:avLst/>
          </a:prstGeom>
          <a:noFill/>
        </p:spPr>
        <p:txBody>
          <a:bodyPr wrap="square" rtlCol="0">
            <a:spAutoFit/>
          </a:bodyPr>
          <a:lstStyle/>
          <a:p>
            <a:r>
              <a:rPr lang="en-US" dirty="0">
                <a:solidFill>
                  <a:schemeClr val="bg1"/>
                </a:solidFill>
              </a:rPr>
              <a:t>Surveyed with ‘Area Under Curve: Population (Total live spawners)’</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342201299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0D6817E-F0CF-028A-6A20-334A6CECAD9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80B229B-1B41-03D9-4FA7-46E0EF677F4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12530923-65C7-C9BB-9905-B2E9191CFC6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DA66BB2-66BD-3855-953D-441343DF23FC}"/>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412D12DE-B000-6866-DFB6-C454FCD7556F}"/>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shows the estimated population trend for Chinook along the Clatskanie River from 1980 to 2024, with a steady increase in numbers over the years.&#10;&#10;AI-generated content may be incorrect.">
            <a:extLst>
              <a:ext uri="{FF2B5EF4-FFF2-40B4-BE49-F238E27FC236}">
                <a16:creationId xmlns:a16="http://schemas.microsoft.com/office/drawing/2014/main" id="{99E7BD50-00BD-E9BB-62A1-EA359B421C27}"/>
              </a:ext>
            </a:extLst>
          </p:cNvPr>
          <p:cNvPicPr>
            <a:picLocks noChangeAspect="1"/>
          </p:cNvPicPr>
          <p:nvPr/>
        </p:nvPicPr>
        <p:blipFill>
          <a:blip r:embed="rId4"/>
          <a:stretch>
            <a:fillRect/>
          </a:stretch>
        </p:blipFill>
        <p:spPr>
          <a:xfrm>
            <a:off x="3303404" y="997823"/>
            <a:ext cx="5779372" cy="3138634"/>
          </a:xfrm>
          <a:prstGeom prst="rect">
            <a:avLst/>
          </a:prstGeom>
        </p:spPr>
      </p:pic>
      <p:sp>
        <p:nvSpPr>
          <p:cNvPr id="4" name="Google Shape;93;p19">
            <a:extLst>
              <a:ext uri="{FF2B5EF4-FFF2-40B4-BE49-F238E27FC236}">
                <a16:creationId xmlns:a16="http://schemas.microsoft.com/office/drawing/2014/main" id="{89500F71-C678-D4C4-32DC-CABD8805D444}"/>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81171153-A3B6-0D44-F334-9DE91FAFADB6}"/>
              </a:ext>
            </a:extLst>
          </p:cNvPr>
          <p:cNvSpPr txBox="1"/>
          <p:nvPr/>
        </p:nvSpPr>
        <p:spPr>
          <a:xfrm>
            <a:off x="111600" y="1002433"/>
            <a:ext cx="3156668" cy="1754326"/>
          </a:xfrm>
          <a:prstGeom prst="rect">
            <a:avLst/>
          </a:prstGeom>
          <a:noFill/>
        </p:spPr>
        <p:txBody>
          <a:bodyPr wrap="square" rtlCol="0">
            <a:spAutoFit/>
          </a:bodyPr>
          <a:lstStyle/>
          <a:p>
            <a:r>
              <a:rPr lang="en-US" dirty="0">
                <a:solidFill>
                  <a:schemeClr val="bg1"/>
                </a:solidFill>
              </a:rPr>
              <a:t>Surveyed with ‘Area Under Curve: Population (Total live spawners)’</a:t>
            </a:r>
          </a:p>
          <a:p>
            <a:pPr marL="285750" indent="-285750">
              <a:buFontTx/>
              <a:buChar char="-"/>
            </a:pPr>
            <a:endParaRPr lang="en-US" dirty="0">
              <a:solidFill>
                <a:schemeClr val="bg1"/>
              </a:solidFill>
            </a:endParaRPr>
          </a:p>
          <a:p>
            <a:r>
              <a:rPr lang="en-US" dirty="0">
                <a:solidFill>
                  <a:schemeClr val="bg1"/>
                </a:solidFill>
              </a:rPr>
              <a:t>Worst case scenario</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242116451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1383B52-34E0-9173-7858-E270C6530DC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FE153A5-7199-EE30-A046-86BD85D40B89}"/>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B83241F-59BE-6DC9-1761-7B41CD94702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8810A09-DDAE-1E65-A802-779E359FD8C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2883B08E-4885-0B3D-2D62-FAC9D2571B32}"/>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shows the estimated population trend for Chinook along the Clatskanie River from 1980 to 2024, with a steady increase in numbers over the years.&#10;&#10;AI-generated content may be incorrect.">
            <a:extLst>
              <a:ext uri="{FF2B5EF4-FFF2-40B4-BE49-F238E27FC236}">
                <a16:creationId xmlns:a16="http://schemas.microsoft.com/office/drawing/2014/main" id="{A97FA444-900B-9802-055D-7D2D7AA5D0BC}"/>
              </a:ext>
            </a:extLst>
          </p:cNvPr>
          <p:cNvPicPr>
            <a:picLocks noChangeAspect="1"/>
          </p:cNvPicPr>
          <p:nvPr/>
        </p:nvPicPr>
        <p:blipFill>
          <a:blip r:embed="rId4"/>
          <a:stretch>
            <a:fillRect/>
          </a:stretch>
        </p:blipFill>
        <p:spPr>
          <a:xfrm>
            <a:off x="3303404" y="997823"/>
            <a:ext cx="5779372" cy="3138634"/>
          </a:xfrm>
          <a:prstGeom prst="rect">
            <a:avLst/>
          </a:prstGeom>
        </p:spPr>
      </p:pic>
      <p:sp>
        <p:nvSpPr>
          <p:cNvPr id="4" name="Google Shape;93;p19">
            <a:extLst>
              <a:ext uri="{FF2B5EF4-FFF2-40B4-BE49-F238E27FC236}">
                <a16:creationId xmlns:a16="http://schemas.microsoft.com/office/drawing/2014/main" id="{8080050C-08D2-CF0D-EDF9-262E24D9FC36}"/>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0F8A94EA-3960-84BD-B9B8-CDAF7FB12BE2}"/>
              </a:ext>
            </a:extLst>
          </p:cNvPr>
          <p:cNvSpPr txBox="1"/>
          <p:nvPr/>
        </p:nvSpPr>
        <p:spPr>
          <a:xfrm>
            <a:off x="111600" y="1002433"/>
            <a:ext cx="3156668" cy="2862322"/>
          </a:xfrm>
          <a:prstGeom prst="rect">
            <a:avLst/>
          </a:prstGeom>
          <a:noFill/>
        </p:spPr>
        <p:txBody>
          <a:bodyPr wrap="square" rtlCol="0">
            <a:spAutoFit/>
          </a:bodyPr>
          <a:lstStyle/>
          <a:p>
            <a:r>
              <a:rPr lang="en-US" dirty="0">
                <a:solidFill>
                  <a:schemeClr val="bg1"/>
                </a:solidFill>
              </a:rPr>
              <a:t>Surveyed with ‘Area Under Curve: Population (Total live spawners)’</a:t>
            </a:r>
          </a:p>
          <a:p>
            <a:pPr marL="285750" indent="-285750">
              <a:buFontTx/>
              <a:buChar char="-"/>
            </a:pPr>
            <a:endParaRPr lang="en-US" dirty="0">
              <a:solidFill>
                <a:schemeClr val="bg1"/>
              </a:solidFill>
            </a:endParaRPr>
          </a:p>
          <a:p>
            <a:r>
              <a:rPr lang="en-US" dirty="0">
                <a:solidFill>
                  <a:schemeClr val="bg1"/>
                </a:solidFill>
              </a:rPr>
              <a:t>Worst case scenario</a:t>
            </a:r>
          </a:p>
          <a:p>
            <a:pPr marL="285750" indent="-285750">
              <a:buFontTx/>
              <a:buChar char="-"/>
            </a:pPr>
            <a:endParaRPr lang="en-US" dirty="0">
              <a:solidFill>
                <a:schemeClr val="bg1"/>
              </a:solidFill>
            </a:endParaRPr>
          </a:p>
          <a:p>
            <a:r>
              <a:rPr lang="en-US" dirty="0">
                <a:solidFill>
                  <a:schemeClr val="bg1"/>
                </a:solidFill>
              </a:rPr>
              <a:t>True and abundance and short-term trends are obscured</a:t>
            </a:r>
          </a:p>
          <a:p>
            <a:pPr marL="285750" indent="-285750">
              <a:buFontTx/>
              <a:buChar char="-"/>
            </a:pPr>
            <a:endParaRPr lang="en-US" dirty="0">
              <a:solidFill>
                <a:schemeClr val="bg1"/>
              </a:solidFill>
            </a:endParaRPr>
          </a:p>
        </p:txBody>
      </p:sp>
    </p:spTree>
    <p:extLst>
      <p:ext uri="{BB962C8B-B14F-4D97-AF65-F5344CB8AC3E}">
        <p14:creationId xmlns:p14="http://schemas.microsoft.com/office/powerpoint/2010/main" val="242820883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B95630A-99D3-6BC1-70D7-FC4C22AB4F9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7F95CBC-3948-79B9-78BD-945620E76E86}"/>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E3CA87A-592C-1222-90CF-5B928162B8D0}"/>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6DF001B-E0D4-86C8-9CD0-53434E4B150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6554CA5A-7E58-1AA3-25AF-072C52BC9AD1}"/>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9" name="Picture 8" descr="The diagram shows the estimated population trend for Chinook along the Clatskanie River from 1980 to 2024, with a steady increase in numbers over the years.&#10;&#10;AI-generated content may be incorrect.">
            <a:extLst>
              <a:ext uri="{FF2B5EF4-FFF2-40B4-BE49-F238E27FC236}">
                <a16:creationId xmlns:a16="http://schemas.microsoft.com/office/drawing/2014/main" id="{961559EC-3CCF-4103-EC7E-75DFB1B9D9B7}"/>
              </a:ext>
            </a:extLst>
          </p:cNvPr>
          <p:cNvPicPr>
            <a:picLocks noChangeAspect="1"/>
          </p:cNvPicPr>
          <p:nvPr/>
        </p:nvPicPr>
        <p:blipFill>
          <a:blip r:embed="rId4"/>
          <a:stretch>
            <a:fillRect/>
          </a:stretch>
        </p:blipFill>
        <p:spPr>
          <a:xfrm>
            <a:off x="3303404" y="997823"/>
            <a:ext cx="5779372" cy="3138634"/>
          </a:xfrm>
          <a:prstGeom prst="rect">
            <a:avLst/>
          </a:prstGeom>
        </p:spPr>
      </p:pic>
      <p:sp>
        <p:nvSpPr>
          <p:cNvPr id="4" name="Google Shape;93;p19">
            <a:extLst>
              <a:ext uri="{FF2B5EF4-FFF2-40B4-BE49-F238E27FC236}">
                <a16:creationId xmlns:a16="http://schemas.microsoft.com/office/drawing/2014/main" id="{88E9F875-D509-9DB3-921A-F491A877260A}"/>
              </a:ext>
            </a:extLst>
          </p:cNvPr>
          <p:cNvSpPr txBox="1">
            <a:spLocks/>
          </p:cNvSpPr>
          <p:nvPr/>
        </p:nvSpPr>
        <p:spPr>
          <a:xfrm>
            <a:off x="-1" y="-75626"/>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Case study: High precision, low bias</a:t>
            </a:r>
          </a:p>
          <a:p>
            <a:pPr>
              <a:spcBef>
                <a:spcPts val="0"/>
              </a:spcBef>
              <a:spcAft>
                <a:spcPts val="0"/>
              </a:spcAft>
            </a:pPr>
            <a:r>
              <a:rPr lang="en-US" sz="2600" dirty="0">
                <a:solidFill>
                  <a:schemeClr val="bg1"/>
                </a:solidFill>
              </a:rPr>
              <a:t>	</a:t>
            </a:r>
            <a:r>
              <a:rPr lang="en-US" sz="1800" dirty="0">
                <a:solidFill>
                  <a:schemeClr val="bg1"/>
                </a:solidFill>
              </a:rPr>
              <a:t>		</a:t>
            </a:r>
          </a:p>
          <a:p>
            <a:pPr>
              <a:spcBef>
                <a:spcPts val="0"/>
              </a:spcBef>
              <a:spcAft>
                <a:spcPts val="0"/>
              </a:spcAft>
            </a:pPr>
            <a:endParaRPr lang="en-US" sz="1800" dirty="0">
              <a:solidFill>
                <a:schemeClr val="bg1"/>
              </a:solidFill>
            </a:endParaRPr>
          </a:p>
        </p:txBody>
      </p:sp>
      <p:sp>
        <p:nvSpPr>
          <p:cNvPr id="7" name="TextBox 6">
            <a:extLst>
              <a:ext uri="{FF2B5EF4-FFF2-40B4-BE49-F238E27FC236}">
                <a16:creationId xmlns:a16="http://schemas.microsoft.com/office/drawing/2014/main" id="{BAB17F6B-A621-732B-5559-4B7E5E3637A9}"/>
              </a:ext>
            </a:extLst>
          </p:cNvPr>
          <p:cNvSpPr txBox="1"/>
          <p:nvPr/>
        </p:nvSpPr>
        <p:spPr>
          <a:xfrm>
            <a:off x="111600" y="1002433"/>
            <a:ext cx="3156668" cy="3416320"/>
          </a:xfrm>
          <a:prstGeom prst="rect">
            <a:avLst/>
          </a:prstGeom>
          <a:noFill/>
        </p:spPr>
        <p:txBody>
          <a:bodyPr wrap="square" rtlCol="0">
            <a:spAutoFit/>
          </a:bodyPr>
          <a:lstStyle/>
          <a:p>
            <a:r>
              <a:rPr lang="en-US" dirty="0">
                <a:solidFill>
                  <a:schemeClr val="bg1"/>
                </a:solidFill>
              </a:rPr>
              <a:t>Surveyed with ‘Area Under Curve: Population (Total live spawners)’</a:t>
            </a:r>
          </a:p>
          <a:p>
            <a:pPr marL="285750" indent="-285750">
              <a:buFontTx/>
              <a:buChar char="-"/>
            </a:pPr>
            <a:endParaRPr lang="en-US" dirty="0">
              <a:solidFill>
                <a:schemeClr val="bg1"/>
              </a:solidFill>
            </a:endParaRPr>
          </a:p>
          <a:p>
            <a:r>
              <a:rPr lang="en-US" dirty="0">
                <a:solidFill>
                  <a:schemeClr val="bg1"/>
                </a:solidFill>
              </a:rPr>
              <a:t>Worst case scenario</a:t>
            </a:r>
          </a:p>
          <a:p>
            <a:pPr marL="285750" indent="-285750">
              <a:buFontTx/>
              <a:buChar char="-"/>
            </a:pPr>
            <a:endParaRPr lang="en-US" dirty="0">
              <a:solidFill>
                <a:schemeClr val="bg1"/>
              </a:solidFill>
            </a:endParaRPr>
          </a:p>
          <a:p>
            <a:r>
              <a:rPr lang="en-US" dirty="0">
                <a:solidFill>
                  <a:schemeClr val="bg1"/>
                </a:solidFill>
              </a:rPr>
              <a:t>True and abundance and short-term trends are obscured</a:t>
            </a:r>
          </a:p>
          <a:p>
            <a:pPr marL="285750" indent="-285750">
              <a:buFontTx/>
              <a:buChar char="-"/>
            </a:pPr>
            <a:endParaRPr lang="en-US" dirty="0">
              <a:solidFill>
                <a:schemeClr val="bg1"/>
              </a:solidFill>
            </a:endParaRPr>
          </a:p>
          <a:p>
            <a:r>
              <a:rPr lang="en-US" dirty="0">
                <a:solidFill>
                  <a:schemeClr val="bg1"/>
                </a:solidFill>
              </a:rPr>
              <a:t>Long-term trends are somewhat discernable</a:t>
            </a:r>
          </a:p>
        </p:txBody>
      </p:sp>
    </p:spTree>
    <p:extLst>
      <p:ext uri="{BB962C8B-B14F-4D97-AF65-F5344CB8AC3E}">
        <p14:creationId xmlns:p14="http://schemas.microsoft.com/office/powerpoint/2010/main" val="109252383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2E4DF15-32B4-3CC0-9A06-9241DD2B36D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A48E8EE-1CF9-B6EC-CB37-FB438266045B}"/>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35E97E5B-24FD-85AC-702E-687F22EA35A0}"/>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9B213F7-26BD-5821-7116-E3629A663163}"/>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3CB8783-F67F-F5AE-1D28-D5BF7FF0CC61}"/>
              </a:ext>
            </a:extLst>
          </p:cNvPr>
          <p:cNvSpPr txBox="1">
            <a:spLocks/>
          </p:cNvSpPr>
          <p:nvPr/>
        </p:nvSpPr>
        <p:spPr>
          <a:xfrm>
            <a:off x="839730" y="80595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742950" indent="-742950">
              <a:spcBef>
                <a:spcPts val="0"/>
              </a:spcBef>
              <a:buAutoNum type="arabicParenR"/>
            </a:pPr>
            <a:r>
              <a:rPr lang="en-US" sz="4200" dirty="0">
                <a:solidFill>
                  <a:schemeClr val="tx1">
                    <a:lumMod val="50000"/>
                  </a:schemeClr>
                </a:solidFill>
              </a:rPr>
              <a:t>Background</a:t>
            </a:r>
          </a:p>
          <a:p>
            <a:pPr marL="742950" indent="-742950">
              <a:spcBef>
                <a:spcPts val="0"/>
              </a:spcBef>
              <a:buAutoNum type="arabicParenR"/>
            </a:pPr>
            <a:r>
              <a:rPr lang="en-US" sz="4200" dirty="0">
                <a:solidFill>
                  <a:schemeClr val="tx1">
                    <a:lumMod val="50000"/>
                  </a:schemeClr>
                </a:solidFill>
              </a:rPr>
              <a:t>Data</a:t>
            </a:r>
          </a:p>
          <a:p>
            <a:pPr marL="742950" indent="-742950">
              <a:spcBef>
                <a:spcPts val="0"/>
              </a:spcBef>
              <a:buAutoNum type="arabicParenR"/>
            </a:pPr>
            <a:r>
              <a:rPr lang="en-US" sz="4200" dirty="0">
                <a:solidFill>
                  <a:schemeClr val="tx1">
                    <a:lumMod val="50000"/>
                  </a:schemeClr>
                </a:solidFill>
              </a:rPr>
              <a:t>Analysis</a:t>
            </a:r>
          </a:p>
          <a:p>
            <a:pPr marL="742950" indent="-742950">
              <a:spcBef>
                <a:spcPts val="0"/>
              </a:spcBef>
              <a:buAutoNum type="arabicParenR"/>
            </a:pPr>
            <a:r>
              <a:rPr lang="en-US" sz="4200" dirty="0">
                <a:solidFill>
                  <a:schemeClr val="tx1">
                    <a:lumMod val="50000"/>
                  </a:schemeClr>
                </a:solidFill>
              </a:rPr>
              <a:t>Results</a:t>
            </a:r>
          </a:p>
          <a:p>
            <a:pPr marL="742950" indent="-742950">
              <a:spcBef>
                <a:spcPts val="0"/>
              </a:spcBef>
              <a:buAutoNum type="arabicParenR"/>
            </a:pPr>
            <a:r>
              <a:rPr lang="en-US" sz="4200" dirty="0">
                <a:solidFill>
                  <a:schemeClr val="tx1">
                    <a:lumMod val="50000"/>
                  </a:schemeClr>
                </a:solidFill>
              </a:rPr>
              <a:t>Case Studies</a:t>
            </a:r>
          </a:p>
          <a:p>
            <a:pPr marL="742950" indent="-742950">
              <a:spcBef>
                <a:spcPts val="0"/>
              </a:spcBef>
              <a:buAutoNum type="arabicParenR"/>
            </a:pPr>
            <a:r>
              <a:rPr lang="en-US" sz="4200" dirty="0">
                <a:solidFill>
                  <a:schemeClr val="bg1"/>
                </a:solidFill>
              </a:rPr>
              <a:t>Discussion</a:t>
            </a:r>
          </a:p>
        </p:txBody>
      </p:sp>
      <p:sp>
        <p:nvSpPr>
          <p:cNvPr id="8" name="Google Shape;93;p19">
            <a:extLst>
              <a:ext uri="{FF2B5EF4-FFF2-40B4-BE49-F238E27FC236}">
                <a16:creationId xmlns:a16="http://schemas.microsoft.com/office/drawing/2014/main" id="{5A3EA8FB-85CB-9500-77F6-CFC98A1F5ACB}"/>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46826450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F4F2DFA2-590B-F46E-E44C-6D65C8B950D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828F977-2FD2-B61E-F276-B01214A99EC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81D77A29-B723-7BCA-77A0-EDB2A3012A50}"/>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2EF557D-D7C5-C331-62F0-B3A71847776F}"/>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38BB27C8-4EFA-651F-2652-D154B34AFF7D}"/>
              </a:ext>
            </a:extLst>
          </p:cNvPr>
          <p:cNvSpPr txBox="1">
            <a:spLocks/>
          </p:cNvSpPr>
          <p:nvPr/>
        </p:nvSpPr>
        <p:spPr>
          <a:xfrm>
            <a:off x="311700" y="2118129"/>
            <a:ext cx="7386958"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lgn="ct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F176B126-48AF-25FB-47F8-755F4D69B446}"/>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Tree>
    <p:extLst>
      <p:ext uri="{BB962C8B-B14F-4D97-AF65-F5344CB8AC3E}">
        <p14:creationId xmlns:p14="http://schemas.microsoft.com/office/powerpoint/2010/main" val="168027388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A1290F2-E7D4-090E-5D8A-A7A49F821A9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4D605EA-F665-62E5-9DFC-233F390FD7F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EF0766F2-CE77-55C7-D9EB-C85152769EF4}"/>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6" name="Rectangle 5">
            <a:extLst>
              <a:ext uri="{FF2B5EF4-FFF2-40B4-BE49-F238E27FC236}">
                <a16:creationId xmlns:a16="http://schemas.microsoft.com/office/drawing/2014/main" id="{3CF95DD4-075A-2718-4525-E9830BCE84B8}"/>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7" name="Google Shape;92;p19">
            <a:extLst>
              <a:ext uri="{FF2B5EF4-FFF2-40B4-BE49-F238E27FC236}">
                <a16:creationId xmlns:a16="http://schemas.microsoft.com/office/drawing/2014/main" id="{E3B61F7B-0E31-0A07-5FBE-437582B69F4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0" marR="0" lvl="0" indent="0" algn="l" defTabSz="685800" rtl="0" eaLnBrk="1" fontAlgn="auto" latinLnBrk="0" hangingPunct="1">
              <a:lnSpc>
                <a:spcPct val="85000"/>
              </a:lnSpc>
              <a:spcBef>
                <a:spcPts val="0"/>
              </a:spcBef>
              <a:spcAft>
                <a:spcPts val="0"/>
              </a:spcAft>
              <a:buClrTx/>
              <a:buSzTx/>
              <a:buFontTx/>
              <a:buNone/>
              <a:tabLst/>
              <a:defRPr/>
            </a:pPr>
            <a:r>
              <a:rPr kumimoji="0" lang="en-US" sz="4200" b="0" i="0" u="none" strike="noStrike" kern="1200" cap="none" spc="-38" normalizeH="0" baseline="0" noProof="0" dirty="0">
                <a:ln>
                  <a:noFill/>
                </a:ln>
                <a:solidFill>
                  <a:srgbClr val="000000"/>
                </a:solidFill>
                <a:effectLst/>
                <a:uLnTx/>
                <a:uFillTx/>
                <a:latin typeface="Century Schoolbook" panose="02040604050505020304"/>
                <a:ea typeface="+mj-ea"/>
                <a:cs typeface="+mj-cs"/>
              </a:rPr>
              <a:t>Discussion</a:t>
            </a:r>
          </a:p>
        </p:txBody>
      </p:sp>
      <p:sp>
        <p:nvSpPr>
          <p:cNvPr id="8" name="Google Shape;93;p19">
            <a:extLst>
              <a:ext uri="{FF2B5EF4-FFF2-40B4-BE49-F238E27FC236}">
                <a16:creationId xmlns:a16="http://schemas.microsoft.com/office/drawing/2014/main" id="{E56BE6BA-A102-FD8D-27E3-34D0032CE419}"/>
              </a:ext>
            </a:extLst>
          </p:cNvPr>
          <p:cNvSpPr txBox="1">
            <a:spLocks/>
          </p:cNvSpPr>
          <p:nvPr/>
        </p:nvSpPr>
        <p:spPr>
          <a:xfrm>
            <a:off x="311700" y="1152474"/>
            <a:ext cx="5196823"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r>
              <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rPr>
              <a:t>Wide variety of survey methods available to biologists</a:t>
            </a: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endParaRPr kumimoji="0" lang="en-US" sz="18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p:txBody>
      </p:sp>
    </p:spTree>
    <p:extLst>
      <p:ext uri="{BB962C8B-B14F-4D97-AF65-F5344CB8AC3E}">
        <p14:creationId xmlns:p14="http://schemas.microsoft.com/office/powerpoint/2010/main" val="17635765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DC9621CF-62D7-48FA-F4C7-7EE88EB758C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F253A4D-9B25-30A2-73A0-3C9DA2F64CA8}"/>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71958D34-ED1E-8293-478B-399195B275C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6" name="Rectangle 5">
            <a:extLst>
              <a:ext uri="{FF2B5EF4-FFF2-40B4-BE49-F238E27FC236}">
                <a16:creationId xmlns:a16="http://schemas.microsoft.com/office/drawing/2014/main" id="{D3AC7DB0-F0C5-91A5-13FE-C72146AE9A0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7" name="Google Shape;92;p19">
            <a:extLst>
              <a:ext uri="{FF2B5EF4-FFF2-40B4-BE49-F238E27FC236}">
                <a16:creationId xmlns:a16="http://schemas.microsoft.com/office/drawing/2014/main" id="{4F927281-C950-9768-CE87-C127FC7F5F5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0" marR="0" lvl="0" indent="0" algn="l" defTabSz="685800" rtl="0" eaLnBrk="1" fontAlgn="auto" latinLnBrk="0" hangingPunct="1">
              <a:lnSpc>
                <a:spcPct val="85000"/>
              </a:lnSpc>
              <a:spcBef>
                <a:spcPts val="0"/>
              </a:spcBef>
              <a:spcAft>
                <a:spcPts val="0"/>
              </a:spcAft>
              <a:buClrTx/>
              <a:buSzTx/>
              <a:buFontTx/>
              <a:buNone/>
              <a:tabLst/>
              <a:defRPr/>
            </a:pPr>
            <a:r>
              <a:rPr kumimoji="0" lang="en-US" sz="4200" b="0" i="0" u="none" strike="noStrike" kern="1200" cap="none" spc="-38" normalizeH="0" baseline="0" noProof="0" dirty="0">
                <a:ln>
                  <a:noFill/>
                </a:ln>
                <a:solidFill>
                  <a:srgbClr val="000000"/>
                </a:solidFill>
                <a:effectLst/>
                <a:uLnTx/>
                <a:uFillTx/>
                <a:latin typeface="Century Schoolbook" panose="02040604050505020304"/>
                <a:ea typeface="+mj-ea"/>
                <a:cs typeface="+mj-cs"/>
              </a:rPr>
              <a:t>Discussion</a:t>
            </a:r>
          </a:p>
        </p:txBody>
      </p:sp>
      <p:sp>
        <p:nvSpPr>
          <p:cNvPr id="8" name="Google Shape;93;p19">
            <a:extLst>
              <a:ext uri="{FF2B5EF4-FFF2-40B4-BE49-F238E27FC236}">
                <a16:creationId xmlns:a16="http://schemas.microsoft.com/office/drawing/2014/main" id="{6A544B00-C89D-1FD7-7DED-39BC2CBCCFD7}"/>
              </a:ext>
            </a:extLst>
          </p:cNvPr>
          <p:cNvSpPr txBox="1">
            <a:spLocks/>
          </p:cNvSpPr>
          <p:nvPr/>
        </p:nvSpPr>
        <p:spPr>
          <a:xfrm>
            <a:off x="311700" y="1152474"/>
            <a:ext cx="5196823"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r>
              <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rPr>
              <a:t>Wide variety of survey methods available to biologists</a:t>
            </a: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endPar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r>
              <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rPr>
              <a:t>Understanding bias and precision is crucial</a:t>
            </a: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endParaRPr kumimoji="0" lang="en-US" sz="18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p:txBody>
      </p:sp>
    </p:spTree>
    <p:extLst>
      <p:ext uri="{BB962C8B-B14F-4D97-AF65-F5344CB8AC3E}">
        <p14:creationId xmlns:p14="http://schemas.microsoft.com/office/powerpoint/2010/main" val="327359548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E49507D4-1962-B2E2-D705-01ABE0A6E6E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6C89CAD-A35C-499A-6700-FB5DEAD351E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361A8EF9-A9B2-580C-9ED1-BFBB7BDA614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6" name="Rectangle 5">
            <a:extLst>
              <a:ext uri="{FF2B5EF4-FFF2-40B4-BE49-F238E27FC236}">
                <a16:creationId xmlns:a16="http://schemas.microsoft.com/office/drawing/2014/main" id="{FBFFD5DD-F817-6120-2CDF-3F6D3106C494}"/>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7" name="Google Shape;92;p19">
            <a:extLst>
              <a:ext uri="{FF2B5EF4-FFF2-40B4-BE49-F238E27FC236}">
                <a16:creationId xmlns:a16="http://schemas.microsoft.com/office/drawing/2014/main" id="{FC951869-8A9F-3B79-9504-580ACA75EAF1}"/>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marL="0" marR="0" lvl="0" indent="0" algn="l" defTabSz="685800" rtl="0" eaLnBrk="1" fontAlgn="auto" latinLnBrk="0" hangingPunct="1">
              <a:lnSpc>
                <a:spcPct val="85000"/>
              </a:lnSpc>
              <a:spcBef>
                <a:spcPts val="0"/>
              </a:spcBef>
              <a:spcAft>
                <a:spcPts val="0"/>
              </a:spcAft>
              <a:buClrTx/>
              <a:buSzTx/>
              <a:buFontTx/>
              <a:buNone/>
              <a:tabLst/>
              <a:defRPr/>
            </a:pPr>
            <a:r>
              <a:rPr kumimoji="0" lang="en-US" sz="4200" b="0" i="0" u="none" strike="noStrike" kern="1200" cap="none" spc="-38" normalizeH="0" baseline="0" noProof="0" dirty="0">
                <a:ln>
                  <a:noFill/>
                </a:ln>
                <a:solidFill>
                  <a:srgbClr val="000000"/>
                </a:solidFill>
                <a:effectLst/>
                <a:uLnTx/>
                <a:uFillTx/>
                <a:latin typeface="Century Schoolbook" panose="02040604050505020304"/>
                <a:ea typeface="+mj-ea"/>
                <a:cs typeface="+mj-cs"/>
              </a:rPr>
              <a:t>Discussion</a:t>
            </a:r>
          </a:p>
        </p:txBody>
      </p:sp>
      <p:sp>
        <p:nvSpPr>
          <p:cNvPr id="8" name="Google Shape;93;p19">
            <a:extLst>
              <a:ext uri="{FF2B5EF4-FFF2-40B4-BE49-F238E27FC236}">
                <a16:creationId xmlns:a16="http://schemas.microsoft.com/office/drawing/2014/main" id="{A5CCA6BC-BC6A-0948-3A93-735B84CDE265}"/>
              </a:ext>
            </a:extLst>
          </p:cNvPr>
          <p:cNvSpPr txBox="1">
            <a:spLocks/>
          </p:cNvSpPr>
          <p:nvPr/>
        </p:nvSpPr>
        <p:spPr>
          <a:xfrm>
            <a:off x="311700" y="1152474"/>
            <a:ext cx="5196823"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r>
              <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rPr>
              <a:t>Wide variety of survey methods available to biologists</a:t>
            </a: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endPar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r>
              <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rPr>
              <a:t>Understanding bias and precision is crucial</a:t>
            </a: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endPar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r>
              <a:rPr kumimoji="0" lang="en-US" sz="2600" b="0" i="0" u="none" strike="noStrike" kern="1200" cap="none" spc="8" normalizeH="0" baseline="0" noProof="0" dirty="0">
                <a:ln>
                  <a:noFill/>
                </a:ln>
                <a:solidFill>
                  <a:srgbClr val="000000"/>
                </a:solidFill>
                <a:effectLst/>
                <a:uLnTx/>
                <a:uFillTx/>
                <a:latin typeface="Century Schoolbook" panose="02040604050505020304"/>
                <a:ea typeface="+mn-ea"/>
                <a:cs typeface="+mn-cs"/>
              </a:rPr>
              <a:t>Interpreting impacts of conservation actions depends on accurate estimates</a:t>
            </a:r>
            <a:endParaRPr kumimoji="0" lang="en-US" sz="18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a:p>
            <a:pPr marL="0" marR="0" lvl="0" indent="0" algn="l" defTabSz="685800" rtl="0" eaLnBrk="1" fontAlgn="auto" latinLnBrk="0" hangingPunct="1">
              <a:lnSpc>
                <a:spcPct val="95000"/>
              </a:lnSpc>
              <a:spcBef>
                <a:spcPts val="0"/>
              </a:spcBef>
              <a:spcAft>
                <a:spcPts val="0"/>
              </a:spcAft>
              <a:buClr>
                <a:srgbClr val="6F6F74"/>
              </a:buClr>
              <a:buSzPct val="80000"/>
              <a:buFont typeface="Arial" pitchFamily="34" charset="0"/>
              <a:buNone/>
              <a:tabLst/>
              <a:defRPr/>
            </a:pPr>
            <a:endParaRPr kumimoji="0" lang="en-US" sz="1800" b="0" i="0" u="none" strike="noStrike" kern="1200" cap="none" spc="8" normalizeH="0" baseline="0" noProof="0" dirty="0">
              <a:ln>
                <a:noFill/>
              </a:ln>
              <a:solidFill>
                <a:srgbClr val="000000"/>
              </a:solidFill>
              <a:effectLst/>
              <a:uLnTx/>
              <a:uFillTx/>
              <a:latin typeface="Century Schoolbook" panose="02040604050505020304"/>
              <a:ea typeface="+mn-ea"/>
              <a:cs typeface="+mn-cs"/>
            </a:endParaRPr>
          </a:p>
        </p:txBody>
      </p:sp>
    </p:spTree>
    <p:extLst>
      <p:ext uri="{BB962C8B-B14F-4D97-AF65-F5344CB8AC3E}">
        <p14:creationId xmlns:p14="http://schemas.microsoft.com/office/powerpoint/2010/main" val="335986309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74A11600-58FF-3BB8-400E-0511682FE10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CFE8C6F-6775-40D8-C032-081144773C01}"/>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03C8F204-4FBC-7507-8B71-36C871613E1A}"/>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5290F9F-D061-7211-35DE-A285A355B165}"/>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7CE58604-B0DE-7684-5A7F-99B723BA2EFB}"/>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E372C666-DF6C-1072-0673-E354170F51D8}"/>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Majority of survey methods analyzed are neither strongly biased nor imprecise</a:t>
            </a:r>
          </a:p>
          <a:p>
            <a:pPr>
              <a:spcBef>
                <a:spcPts val="0"/>
              </a:spcBef>
              <a:spcAft>
                <a:spcPts val="0"/>
              </a:spcAft>
            </a:pPr>
            <a:endParaRPr lang="en-US" sz="2600" dirty="0">
              <a:solidFill>
                <a:schemeClr val="bg1"/>
              </a:solidFill>
            </a:endParaRPr>
          </a:p>
        </p:txBody>
      </p:sp>
    </p:spTree>
    <p:extLst>
      <p:ext uri="{BB962C8B-B14F-4D97-AF65-F5344CB8AC3E}">
        <p14:creationId xmlns:p14="http://schemas.microsoft.com/office/powerpoint/2010/main" val="361538527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FD1C14C-14E8-EFBB-FF15-CD3427283AF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85FC7AF-22FF-7E49-45C0-28F9BC48347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62C5100-8FAD-16A7-7424-5A6C5D103E1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6D3CBC9-AB40-EEE4-528D-6A3A03D5558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9AC940AE-3114-8550-825B-FB1DB19996A0}"/>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865A01D5-3027-526A-017F-D43D7CAE2C25}"/>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Majority of survey methods analyzed are neither strongly biased nor imprecise</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Low precision obscures abundances shifts in the near term</a:t>
            </a:r>
          </a:p>
          <a:p>
            <a:pPr>
              <a:spcBef>
                <a:spcPts val="0"/>
              </a:spcBef>
              <a:spcAft>
                <a:spcPts val="0"/>
              </a:spcAft>
            </a:pPr>
            <a:endParaRPr lang="en-US" sz="2600" dirty="0">
              <a:solidFill>
                <a:schemeClr val="bg1"/>
              </a:solidFill>
            </a:endParaRPr>
          </a:p>
        </p:txBody>
      </p:sp>
    </p:spTree>
    <p:extLst>
      <p:ext uri="{BB962C8B-B14F-4D97-AF65-F5344CB8AC3E}">
        <p14:creationId xmlns:p14="http://schemas.microsoft.com/office/powerpoint/2010/main" val="3739454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B33F46D8-C6D1-CC4B-53F5-34E47DA8B25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A337CA6-E403-C5F5-DFEA-8FA45161D0E0}"/>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AAA9310-8F7C-511C-1BF9-A41DE2C078EC}"/>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DFB4E28-CC8D-630B-5B41-C60DA6B5EAC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A4E6B22B-8B2B-5D8A-EFEA-393A1CFF1EDB}"/>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DF6B2ECB-7028-78B1-E52F-38874C6C1879}"/>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Majority of survey methods analyzed are neither strongly biased nor imprecise</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Low precision obscures abundances shifts in the near term</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High bias creates false impression of abundance</a:t>
            </a:r>
            <a:endParaRPr lang="en-US" sz="1800" dirty="0">
              <a:solidFill>
                <a:schemeClr val="bg1"/>
              </a:solidFill>
            </a:endParaRPr>
          </a:p>
        </p:txBody>
      </p:sp>
    </p:spTree>
    <p:extLst>
      <p:ext uri="{BB962C8B-B14F-4D97-AF65-F5344CB8AC3E}">
        <p14:creationId xmlns:p14="http://schemas.microsoft.com/office/powerpoint/2010/main" val="145928342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043CD3C1-9F2E-8834-257D-2AAB424089D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69881AB-8747-4367-23D9-A92DFA6A2BE8}"/>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2221EC35-4A7E-611A-8093-D67632B50115}"/>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903A392-4200-C30F-3B03-F6F1D774B26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D0AAA23F-0CE6-7C2A-7C62-F63AF2F74736}"/>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3571F119-2F54-3A38-98AD-89650575BBEE}"/>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Patterns of method accuracy occur at level of species</a:t>
            </a:r>
          </a:p>
          <a:p>
            <a:pPr>
              <a:spcBef>
                <a:spcPts val="0"/>
              </a:spcBef>
              <a:spcAft>
                <a:spcPts val="0"/>
              </a:spcAft>
            </a:pPr>
            <a:endParaRPr lang="en-US" sz="2600" dirty="0">
              <a:solidFill>
                <a:schemeClr val="bg1"/>
              </a:solidFill>
            </a:endParaRPr>
          </a:p>
          <a:p>
            <a:pPr>
              <a:spcBef>
                <a:spcPts val="0"/>
              </a:spcBef>
              <a:spcAft>
                <a:spcPts val="0"/>
              </a:spcAft>
            </a:pPr>
            <a:endParaRPr lang="en-US" sz="2600" dirty="0">
              <a:solidFill>
                <a:schemeClr val="bg1"/>
              </a:solidFill>
            </a:endParaRP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398641331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93F34825-FD49-6C41-1766-1D45183BDA2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6275D1-D32E-8B29-8FBC-3989170ABC04}"/>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F7315D44-92A3-FBFE-D4E0-072D97311159}"/>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15D97C8-03E7-703A-D1C9-B772352664BD}"/>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25418B4A-F5B6-3F0D-B3D4-745143A8E2CE}"/>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BCC74F46-52D6-859B-CF89-AFB54D8FDBEA}"/>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Patterns of method accuracy occur at level of species</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The same survey method can exhibit differing levels of precision and bias across species</a:t>
            </a:r>
          </a:p>
          <a:p>
            <a:pPr>
              <a:spcBef>
                <a:spcPts val="0"/>
              </a:spcBef>
              <a:spcAft>
                <a:spcPts val="0"/>
              </a:spcAft>
            </a:pPr>
            <a:endParaRPr lang="en-US" sz="2600" dirty="0">
              <a:solidFill>
                <a:schemeClr val="bg1"/>
              </a:solidFill>
            </a:endParaRPr>
          </a:p>
          <a:p>
            <a:pPr>
              <a:spcBef>
                <a:spcPts val="0"/>
              </a:spcBef>
              <a:spcAft>
                <a:spcPts val="0"/>
              </a:spcAft>
            </a:pPr>
            <a:endParaRPr lang="en-US" sz="2600" dirty="0">
              <a:solidFill>
                <a:schemeClr val="bg1"/>
              </a:solidFill>
            </a:endParaRP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52072859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3EADE084-DC8E-6B62-45CA-C92F8E4753D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D8DC910-E087-34AB-9210-4168115B1D84}"/>
              </a:ext>
            </a:extLst>
          </p:cNvPr>
          <p:cNvPicPr>
            <a:picLocks noChangeAspect="1"/>
          </p:cNvPicPr>
          <p:nvPr/>
        </p:nvPicPr>
        <p:blipFill>
          <a:blip r:embed="rId4"/>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54E42B57-FE22-CE9C-E0A9-B2E6EA661231}"/>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6FB8D7E-E178-55DE-C04A-30D25E27EE6E}"/>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BDF933A1-DD4E-74E8-1D42-6DD4755794CB}"/>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3B4A6BBB-6566-1283-4C1A-6EA77DA1010F}"/>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Patterns of method accuracy occur at level of species</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The same survey method can exhibit differing levels of precision and bias across species</a:t>
            </a:r>
          </a:p>
          <a:p>
            <a:pPr>
              <a:spcBef>
                <a:spcPts val="0"/>
              </a:spcBef>
              <a:spcAft>
                <a:spcPts val="0"/>
              </a:spcAft>
            </a:pPr>
            <a:endParaRPr lang="en-US" sz="2600" dirty="0">
              <a:solidFill>
                <a:schemeClr val="bg1"/>
              </a:solidFill>
            </a:endParaRPr>
          </a:p>
          <a:p>
            <a:pPr>
              <a:spcBef>
                <a:spcPts val="0"/>
              </a:spcBef>
              <a:spcAft>
                <a:spcPts val="0"/>
              </a:spcAft>
            </a:pPr>
            <a:endParaRPr lang="en-US" sz="2600" dirty="0">
              <a:solidFill>
                <a:schemeClr val="bg1"/>
              </a:solidFill>
            </a:endParaRP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1577365457"/>
      </p:ext>
    </p:extLst>
  </p:cSld>
  <p:clrMapOvr>
    <a:masterClrMapping/>
  </p:clrMapOvr>
  <p:extLst>
    <p:ext uri="{6950BFC3-D8DA-4A85-94F7-54DA5524770B}">
      <p188:commentRel xmlns:p188="http://schemas.microsoft.com/office/powerpoint/2018/8/main" r:id="rId3"/>
    </p:ext>
  </p:extLs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4F8E02E2-AC12-E770-6DAC-23BDF0DDE73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9402E39-D231-2DED-0FDE-7C63C5E6EBA2}"/>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76BB18B5-4D29-D978-935C-3036D3F610D8}"/>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4BED9A9-26C5-2D2D-1419-D18D85C3CA30}"/>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E691EDFF-B813-9075-B261-3EF9AD1E28D5}"/>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F00B0BFC-FB90-B357-073C-8A0DC8EA669D}"/>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all methods are universally applicable</a:t>
            </a:r>
          </a:p>
          <a:p>
            <a:pPr>
              <a:spcBef>
                <a:spcPts val="0"/>
              </a:spcBef>
              <a:spcAft>
                <a:spcPts val="0"/>
              </a:spcAft>
            </a:pPr>
            <a:endParaRPr lang="en-US" sz="2600" dirty="0">
              <a:solidFill>
                <a:schemeClr val="bg1"/>
              </a:solidFill>
            </a:endParaRP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252398102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3972C764-102C-3FD9-542D-D213FF475AE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DA82695-2E23-158D-DEE4-F594DBA78E3C}"/>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27586C2-A14B-96F2-CBC7-845D7C3CCD15}"/>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FD7656F4-3D7A-0FE0-8E2A-E5F18C8E59ED}"/>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4EAEEA32-BD6A-892A-0642-0346B20C6749}"/>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5A443FDC-0BCA-A5FA-D7F6-77C5C31F3734}"/>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all methods are universally applicable</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Often employment of method is driven by factors beyond the scope of this work</a:t>
            </a:r>
          </a:p>
          <a:p>
            <a:pPr>
              <a:spcBef>
                <a:spcPts val="0"/>
              </a:spcBef>
              <a:spcAft>
                <a:spcPts val="0"/>
              </a:spcAft>
            </a:pPr>
            <a:endParaRPr lang="en-US" sz="2600" dirty="0">
              <a:solidFill>
                <a:schemeClr val="bg1"/>
              </a:solidFill>
            </a:endParaRP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787233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C50A2235-C8C1-9FDD-E483-966876EE02F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3D4E8CA-0863-BD89-1810-A7F6B7CB29FD}"/>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36B7977F-3020-65DF-D8B0-CF68865E9F45}"/>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3E97A21-2561-4304-5230-DF76DE820201}"/>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59B465A1-A536-2121-ED48-40AB452B237B}"/>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Discussion</a:t>
            </a:r>
          </a:p>
        </p:txBody>
      </p:sp>
      <p:sp>
        <p:nvSpPr>
          <p:cNvPr id="8" name="Google Shape;93;p19">
            <a:extLst>
              <a:ext uri="{FF2B5EF4-FFF2-40B4-BE49-F238E27FC236}">
                <a16:creationId xmlns:a16="http://schemas.microsoft.com/office/drawing/2014/main" id="{07CC4E24-5EB1-629E-59CF-912CDE184A5D}"/>
              </a:ext>
            </a:extLst>
          </p:cNvPr>
          <p:cNvSpPr txBox="1">
            <a:spLocks/>
          </p:cNvSpPr>
          <p:nvPr/>
        </p:nvSpPr>
        <p:spPr>
          <a:xfrm>
            <a:off x="311701" y="1152474"/>
            <a:ext cx="5291578" cy="4120073"/>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Not all methods are universally applicable</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Often employment of method is driven by factors beyond the scope of this work</a:t>
            </a:r>
          </a:p>
          <a:p>
            <a:pPr>
              <a:spcBef>
                <a:spcPts val="0"/>
              </a:spcBef>
              <a:spcAft>
                <a:spcPts val="0"/>
              </a:spcAft>
            </a:pPr>
            <a:endParaRPr lang="en-US" sz="2600" dirty="0">
              <a:solidFill>
                <a:schemeClr val="bg1"/>
              </a:solidFill>
            </a:endParaRPr>
          </a:p>
          <a:p>
            <a:pPr>
              <a:spcBef>
                <a:spcPts val="0"/>
              </a:spcBef>
              <a:spcAft>
                <a:spcPts val="0"/>
              </a:spcAft>
            </a:pPr>
            <a:r>
              <a:rPr lang="en-US" sz="2600" dirty="0">
                <a:solidFill>
                  <a:schemeClr val="bg1"/>
                </a:solidFill>
              </a:rPr>
              <a:t>The best method is the one that can be implemented</a:t>
            </a:r>
          </a:p>
          <a:p>
            <a:pPr>
              <a:spcBef>
                <a:spcPts val="0"/>
              </a:spcBef>
              <a:spcAft>
                <a:spcPts val="0"/>
              </a:spcAft>
            </a:pPr>
            <a:endParaRPr lang="en-US" sz="1800" dirty="0">
              <a:solidFill>
                <a:schemeClr val="bg1"/>
              </a:solidFill>
            </a:endParaRPr>
          </a:p>
        </p:txBody>
      </p:sp>
    </p:spTree>
    <p:extLst>
      <p:ext uri="{BB962C8B-B14F-4D97-AF65-F5344CB8AC3E}">
        <p14:creationId xmlns:p14="http://schemas.microsoft.com/office/powerpoint/2010/main" val="364431326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53">
          <a:extLst>
            <a:ext uri="{FF2B5EF4-FFF2-40B4-BE49-F238E27FC236}">
              <a16:creationId xmlns:a16="http://schemas.microsoft.com/office/drawing/2014/main" id="{B86EC7A3-D04F-90BA-3242-094E668DCB7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104EC2F-6E03-1FAC-AC44-3A1E70625E6F}"/>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C4E342F4-1BE7-B100-DDBE-A4A2102C1FCB}"/>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FD6C905-75E0-00B3-38BE-FAABDA7C874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C4910B4A-4829-39F5-9402-521CB4AFF328}"/>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sp>
        <p:nvSpPr>
          <p:cNvPr id="2" name="Google Shape;54;p13">
            <a:extLst>
              <a:ext uri="{FF2B5EF4-FFF2-40B4-BE49-F238E27FC236}">
                <a16:creationId xmlns:a16="http://schemas.microsoft.com/office/drawing/2014/main" id="{1D778D54-596D-5880-AEE2-8E44A3C043CC}"/>
              </a:ext>
            </a:extLst>
          </p:cNvPr>
          <p:cNvSpPr txBox="1">
            <a:spLocks noGrp="1"/>
          </p:cNvSpPr>
          <p:nvPr>
            <p:ph type="ctrTitle"/>
          </p:nvPr>
        </p:nvSpPr>
        <p:spPr>
          <a:xfrm>
            <a:off x="0" y="529897"/>
            <a:ext cx="8325853" cy="2052600"/>
          </a:xfrm>
          <a:prstGeom prst="rect">
            <a:avLst/>
          </a:prstGeom>
        </p:spPr>
        <p:txBody>
          <a:bodyPr spcFirstLastPara="1" wrap="square" lIns="91425" tIns="91425" rIns="91425" bIns="91425" anchor="b" anchorCtr="0">
            <a:noAutofit/>
          </a:bodyPr>
          <a:lstStyle/>
          <a:p>
            <a:pPr lvl="0">
              <a:spcBef>
                <a:spcPts val="0"/>
              </a:spcBef>
            </a:pPr>
            <a:r>
              <a:rPr lang="en" sz="3600" dirty="0">
                <a:solidFill>
                  <a:schemeClr val="bg1"/>
                </a:solidFill>
              </a:rPr>
              <a:t>Investigating precision and bias of commonly used salmonid abundance survey methods</a:t>
            </a:r>
            <a:br>
              <a:rPr lang="en" sz="3600" dirty="0">
                <a:solidFill>
                  <a:schemeClr val="bg1"/>
                </a:solidFill>
              </a:rPr>
            </a:br>
            <a:br>
              <a:rPr lang="en" sz="3600" dirty="0">
                <a:solidFill>
                  <a:schemeClr val="bg1"/>
                </a:solidFill>
              </a:rPr>
            </a:br>
            <a:endParaRPr sz="3600" dirty="0">
              <a:solidFill>
                <a:schemeClr val="bg1"/>
              </a:solidFill>
            </a:endParaRPr>
          </a:p>
        </p:txBody>
      </p:sp>
      <p:sp>
        <p:nvSpPr>
          <p:cNvPr id="13" name="Rectangle 12">
            <a:extLst>
              <a:ext uri="{FF2B5EF4-FFF2-40B4-BE49-F238E27FC236}">
                <a16:creationId xmlns:a16="http://schemas.microsoft.com/office/drawing/2014/main" id="{D8FE004C-D83C-ED4C-7EDC-DAD1B6451584}"/>
              </a:ext>
            </a:extLst>
          </p:cNvPr>
          <p:cNvSpPr/>
          <p:nvPr/>
        </p:nvSpPr>
        <p:spPr>
          <a:xfrm>
            <a:off x="311700" y="1899684"/>
            <a:ext cx="7769043" cy="216027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oogle Shape;238;p39">
            <a:extLst>
              <a:ext uri="{FF2B5EF4-FFF2-40B4-BE49-F238E27FC236}">
                <a16:creationId xmlns:a16="http://schemas.microsoft.com/office/drawing/2014/main" id="{E3994D2C-7D47-0134-C09A-37783E20328A}"/>
              </a:ext>
            </a:extLst>
          </p:cNvPr>
          <p:cNvPicPr preferRelativeResize="0"/>
          <p:nvPr/>
        </p:nvPicPr>
        <p:blipFill>
          <a:blip r:embed="rId4">
            <a:alphaModFix/>
          </a:blip>
          <a:stretch>
            <a:fillRect/>
          </a:stretch>
        </p:blipFill>
        <p:spPr>
          <a:xfrm>
            <a:off x="3562765" y="1966500"/>
            <a:ext cx="2664673" cy="1221749"/>
          </a:xfrm>
          <a:prstGeom prst="rect">
            <a:avLst/>
          </a:prstGeom>
          <a:noFill/>
          <a:ln>
            <a:noFill/>
          </a:ln>
        </p:spPr>
      </p:pic>
      <p:pic>
        <p:nvPicPr>
          <p:cNvPr id="10" name="Google Shape;239;p39">
            <a:extLst>
              <a:ext uri="{FF2B5EF4-FFF2-40B4-BE49-F238E27FC236}">
                <a16:creationId xmlns:a16="http://schemas.microsoft.com/office/drawing/2014/main" id="{3675B93F-F9A6-4BD1-D0A1-DBC1C6D8261C}"/>
              </a:ext>
            </a:extLst>
          </p:cNvPr>
          <p:cNvPicPr preferRelativeResize="0"/>
          <p:nvPr/>
        </p:nvPicPr>
        <p:blipFill>
          <a:blip r:embed="rId5">
            <a:alphaModFix/>
          </a:blip>
          <a:stretch>
            <a:fillRect/>
          </a:stretch>
        </p:blipFill>
        <p:spPr>
          <a:xfrm>
            <a:off x="435649" y="3438700"/>
            <a:ext cx="3801300" cy="552325"/>
          </a:xfrm>
          <a:prstGeom prst="rect">
            <a:avLst/>
          </a:prstGeom>
          <a:noFill/>
          <a:ln>
            <a:noFill/>
          </a:ln>
        </p:spPr>
      </p:pic>
      <p:pic>
        <p:nvPicPr>
          <p:cNvPr id="11" name="Picture 10">
            <a:extLst>
              <a:ext uri="{FF2B5EF4-FFF2-40B4-BE49-F238E27FC236}">
                <a16:creationId xmlns:a16="http://schemas.microsoft.com/office/drawing/2014/main" id="{178A8FBB-4903-D76B-4458-A352752613A0}"/>
              </a:ext>
            </a:extLst>
          </p:cNvPr>
          <p:cNvPicPr>
            <a:picLocks noChangeAspect="1"/>
          </p:cNvPicPr>
          <p:nvPr/>
        </p:nvPicPr>
        <p:blipFill>
          <a:blip r:embed="rId6"/>
          <a:stretch>
            <a:fillRect/>
          </a:stretch>
        </p:blipFill>
        <p:spPr>
          <a:xfrm>
            <a:off x="6180093" y="3375123"/>
            <a:ext cx="1861648" cy="604799"/>
          </a:xfrm>
          <a:prstGeom prst="rect">
            <a:avLst/>
          </a:prstGeom>
        </p:spPr>
      </p:pic>
      <p:pic>
        <p:nvPicPr>
          <p:cNvPr id="1028" name="Picture 4">
            <a:extLst>
              <a:ext uri="{FF2B5EF4-FFF2-40B4-BE49-F238E27FC236}">
                <a16:creationId xmlns:a16="http://schemas.microsoft.com/office/drawing/2014/main" id="{19308B48-D03A-FC1F-0339-5F6144D112A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2861" y="1980671"/>
            <a:ext cx="995825" cy="1272770"/>
          </a:xfrm>
          <a:prstGeom prst="rect">
            <a:avLst/>
          </a:prstGeom>
          <a:noFill/>
          <a:extLst>
            <a:ext uri="{909E8E84-426E-40DD-AFC4-6F175D3DCCD1}">
              <a14:hiddenFill xmlns:a14="http://schemas.microsoft.com/office/drawing/2010/main">
                <a:solidFill>
                  <a:srgbClr val="FFFFFF"/>
                </a:solidFill>
              </a14:hiddenFill>
            </a:ext>
          </a:extLst>
        </p:spPr>
      </p:pic>
      <p:sp>
        <p:nvSpPr>
          <p:cNvPr id="14" name="Google Shape;237;p39">
            <a:extLst>
              <a:ext uri="{FF2B5EF4-FFF2-40B4-BE49-F238E27FC236}">
                <a16:creationId xmlns:a16="http://schemas.microsoft.com/office/drawing/2014/main" id="{60D7258E-489A-0103-649A-14F715E1BD32}"/>
              </a:ext>
            </a:extLst>
          </p:cNvPr>
          <p:cNvSpPr txBox="1">
            <a:spLocks noGrp="1"/>
          </p:cNvSpPr>
          <p:nvPr>
            <p:ph type="subTitle" idx="1"/>
          </p:nvPr>
        </p:nvSpPr>
        <p:spPr>
          <a:xfrm>
            <a:off x="151200" y="4581785"/>
            <a:ext cx="8325853" cy="630000"/>
          </a:xfrm>
          <a:prstGeom prst="rect">
            <a:avLst/>
          </a:prstGeom>
        </p:spPr>
        <p:txBody>
          <a:bodyPr spcFirstLastPara="1" wrap="square" lIns="91425" tIns="91425" rIns="91425" bIns="91425" anchor="t" anchorCtr="0">
            <a:normAutofit fontScale="92500"/>
          </a:bodyPr>
          <a:lstStyle/>
          <a:p>
            <a:pPr marL="0" lvl="0" indent="0" algn="l" rtl="0">
              <a:spcBef>
                <a:spcPts val="0"/>
              </a:spcBef>
              <a:spcAft>
                <a:spcPts val="0"/>
              </a:spcAft>
              <a:buNone/>
            </a:pPr>
            <a:r>
              <a:rPr lang="en" sz="2400" dirty="0">
                <a:solidFill>
                  <a:schemeClr val="dk1"/>
                </a:solidFill>
              </a:rPr>
              <a:t>Brian McGreal						bmcgreal@uw.edu</a:t>
            </a:r>
            <a:endParaRPr sz="2400" dirty="0">
              <a:solidFill>
                <a:schemeClr val="dk1"/>
              </a:solidFill>
            </a:endParaRPr>
          </a:p>
        </p:txBody>
      </p:sp>
      <p:pic>
        <p:nvPicPr>
          <p:cNvPr id="18" name="Picture 17">
            <a:extLst>
              <a:ext uri="{FF2B5EF4-FFF2-40B4-BE49-F238E27FC236}">
                <a16:creationId xmlns:a16="http://schemas.microsoft.com/office/drawing/2014/main" id="{30F6FD01-2A64-62B1-6DD8-0BD5AAFE4BC9}"/>
              </a:ext>
            </a:extLst>
          </p:cNvPr>
          <p:cNvPicPr>
            <a:picLocks noChangeAspect="1"/>
          </p:cNvPicPr>
          <p:nvPr/>
        </p:nvPicPr>
        <p:blipFill>
          <a:blip r:embed="rId8"/>
          <a:stretch>
            <a:fillRect/>
          </a:stretch>
        </p:blipFill>
        <p:spPr>
          <a:xfrm>
            <a:off x="919080" y="1993582"/>
            <a:ext cx="1324074" cy="1272769"/>
          </a:xfrm>
          <a:prstGeom prst="rect">
            <a:avLst/>
          </a:prstGeom>
        </p:spPr>
      </p:pic>
      <p:pic>
        <p:nvPicPr>
          <p:cNvPr id="16" name="Picture 15" descr="The image depicts the US Geological Survey (USGS) logo, symbolizing their commitment to science for a changing world.&#10;&#10;AI-generated content may be incorrect.">
            <a:extLst>
              <a:ext uri="{FF2B5EF4-FFF2-40B4-BE49-F238E27FC236}">
                <a16:creationId xmlns:a16="http://schemas.microsoft.com/office/drawing/2014/main" id="{9D297DE7-611B-EE71-921B-135EC19984D2}"/>
              </a:ext>
            </a:extLst>
          </p:cNvPr>
          <p:cNvPicPr>
            <a:picLocks noChangeAspect="1"/>
          </p:cNvPicPr>
          <p:nvPr/>
        </p:nvPicPr>
        <p:blipFill>
          <a:blip r:embed="rId9"/>
          <a:stretch>
            <a:fillRect/>
          </a:stretch>
        </p:blipFill>
        <p:spPr>
          <a:xfrm>
            <a:off x="4402612" y="3380998"/>
            <a:ext cx="1629426" cy="598924"/>
          </a:xfrm>
          <a:prstGeom prst="rect">
            <a:avLst/>
          </a:prstGeom>
        </p:spPr>
      </p:pic>
      <p:pic>
        <p:nvPicPr>
          <p:cNvPr id="17" name="Picture 16" descr="The image depicts the Oregon State University emblem, featuring a bear and the university's acronym, surrounded by the year 1868.&#10;&#10;AI-generated content may be incorrect.">
            <a:extLst>
              <a:ext uri="{FF2B5EF4-FFF2-40B4-BE49-F238E27FC236}">
                <a16:creationId xmlns:a16="http://schemas.microsoft.com/office/drawing/2014/main" id="{64AE957C-7165-B86A-5E94-1E888582D972}"/>
              </a:ext>
            </a:extLst>
          </p:cNvPr>
          <p:cNvPicPr>
            <a:picLocks noChangeAspect="1"/>
          </p:cNvPicPr>
          <p:nvPr/>
        </p:nvPicPr>
        <p:blipFill>
          <a:blip r:embed="rId10"/>
          <a:stretch>
            <a:fillRect/>
          </a:stretch>
        </p:blipFill>
        <p:spPr>
          <a:xfrm>
            <a:off x="6374910" y="1980672"/>
            <a:ext cx="1211897" cy="1272769"/>
          </a:xfrm>
          <a:prstGeom prst="rect">
            <a:avLst/>
          </a:prstGeom>
        </p:spPr>
      </p:pic>
    </p:spTree>
    <p:extLst>
      <p:ext uri="{BB962C8B-B14F-4D97-AF65-F5344CB8AC3E}">
        <p14:creationId xmlns:p14="http://schemas.microsoft.com/office/powerpoint/2010/main" val="285515783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92AEF6D9-EB5A-BFCD-F67A-C7225BD82B8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9953A8F-7E9E-683A-7DA0-405C4B413CCA}"/>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9015C08D-8C61-9CA8-F9A6-9ABBDC5F7E4E}"/>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7CE4A8F-52C6-379E-3957-650817227BD9}"/>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92;p19">
            <a:extLst>
              <a:ext uri="{FF2B5EF4-FFF2-40B4-BE49-F238E27FC236}">
                <a16:creationId xmlns:a16="http://schemas.microsoft.com/office/drawing/2014/main" id="{539FF5CE-C3E7-CCEA-E1F1-DBC7BADE886A}"/>
              </a:ext>
            </a:extLst>
          </p:cNvPr>
          <p:cNvSpPr txBox="1">
            <a:spLocks/>
          </p:cNvSpPr>
          <p:nvPr/>
        </p:nvSpPr>
        <p:spPr>
          <a:xfrm>
            <a:off x="311700" y="445025"/>
            <a:ext cx="8520600" cy="572700"/>
          </a:xfrm>
          <a:prstGeom prst="rect">
            <a:avLst/>
          </a:prstGeom>
        </p:spPr>
        <p:txBody>
          <a:bodyPr spcFirstLastPara="1" vert="horz" wrap="square" lIns="91425" tIns="91425" rIns="91425" bIns="91425" rtlCol="0" anchor="t" anchorCtr="0">
            <a:noAutofit/>
          </a:bodyPr>
          <a:lstStyle>
            <a:lvl1pPr algn="l" defTabSz="685800" rtl="0" eaLnBrk="1" latinLnBrk="0" hangingPunct="1">
              <a:lnSpc>
                <a:spcPct val="85000"/>
              </a:lnSpc>
              <a:spcBef>
                <a:spcPct val="0"/>
              </a:spcBef>
              <a:buNone/>
              <a:defRPr sz="5400" kern="1200" spc="-38" baseline="0">
                <a:solidFill>
                  <a:schemeClr val="tx1"/>
                </a:solidFill>
                <a:latin typeface="+mj-lt"/>
                <a:ea typeface="+mj-ea"/>
                <a:cs typeface="+mj-cs"/>
              </a:defRPr>
            </a:lvl1pPr>
          </a:lstStyle>
          <a:p>
            <a:pPr>
              <a:spcBef>
                <a:spcPts val="0"/>
              </a:spcBef>
            </a:pPr>
            <a:r>
              <a:rPr lang="en-US" sz="4200" dirty="0">
                <a:solidFill>
                  <a:schemeClr val="bg1"/>
                </a:solidFill>
              </a:rPr>
              <a:t>Modeling approach</a:t>
            </a:r>
          </a:p>
        </p:txBody>
      </p:sp>
      <p:sp>
        <p:nvSpPr>
          <p:cNvPr id="8" name="Google Shape;93;p19">
            <a:extLst>
              <a:ext uri="{FF2B5EF4-FFF2-40B4-BE49-F238E27FC236}">
                <a16:creationId xmlns:a16="http://schemas.microsoft.com/office/drawing/2014/main" id="{2FE7AE96-7710-D4DA-0690-343EF9236E4B}"/>
              </a:ext>
            </a:extLst>
          </p:cNvPr>
          <p:cNvSpPr txBox="1">
            <a:spLocks/>
          </p:cNvSpPr>
          <p:nvPr/>
        </p:nvSpPr>
        <p:spPr>
          <a:xfrm>
            <a:off x="311700" y="1152474"/>
            <a:ext cx="8014153" cy="3883759"/>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r>
              <a:rPr lang="en-US" sz="2600" dirty="0">
                <a:solidFill>
                  <a:schemeClr val="bg1"/>
                </a:solidFill>
              </a:rPr>
              <a:t>Specifying matrices properly is crucial</a:t>
            </a:r>
          </a:p>
          <a:p>
            <a:pPr>
              <a:spcBef>
                <a:spcPts val="0"/>
              </a:spcBef>
              <a:spcAft>
                <a:spcPts val="0"/>
              </a:spcAft>
            </a:pPr>
            <a:r>
              <a:rPr lang="en-US" sz="2600" dirty="0">
                <a:solidFill>
                  <a:schemeClr val="bg1"/>
                </a:solidFill>
              </a:rPr>
              <a:t>	</a:t>
            </a:r>
          </a:p>
          <a:p>
            <a:pPr>
              <a:spcBef>
                <a:spcPts val="0"/>
              </a:spcBef>
              <a:spcAft>
                <a:spcPts val="0"/>
              </a:spcAft>
            </a:pPr>
            <a:r>
              <a:rPr lang="en-US" sz="1800" dirty="0">
                <a:solidFill>
                  <a:schemeClr val="bg1"/>
                </a:solidFill>
              </a:rPr>
              <a:t>		</a:t>
            </a:r>
          </a:p>
          <a:p>
            <a:pPr>
              <a:spcBef>
                <a:spcPts val="0"/>
              </a:spcBef>
              <a:spcAft>
                <a:spcPts val="0"/>
              </a:spcAft>
            </a:pPr>
            <a:endParaRPr lang="en-US" sz="1800" dirty="0">
              <a:solidFill>
                <a:schemeClr val="bg1"/>
              </a:solidFill>
            </a:endParaRPr>
          </a:p>
        </p:txBody>
      </p:sp>
      <p:pic>
        <p:nvPicPr>
          <p:cNvPr id="9" name="Picture 8">
            <a:extLst>
              <a:ext uri="{FF2B5EF4-FFF2-40B4-BE49-F238E27FC236}">
                <a16:creationId xmlns:a16="http://schemas.microsoft.com/office/drawing/2014/main" id="{FCC12785-2E4B-BCA8-73F2-EE5ACA66306D}"/>
              </a:ext>
            </a:extLst>
          </p:cNvPr>
          <p:cNvPicPr>
            <a:picLocks noChangeAspect="1"/>
          </p:cNvPicPr>
          <p:nvPr/>
        </p:nvPicPr>
        <p:blipFill>
          <a:blip r:embed="rId4"/>
          <a:stretch>
            <a:fillRect/>
          </a:stretch>
        </p:blipFill>
        <p:spPr>
          <a:xfrm>
            <a:off x="360054" y="1846813"/>
            <a:ext cx="8467740" cy="1643791"/>
          </a:xfrm>
          <a:prstGeom prst="rect">
            <a:avLst/>
          </a:prstGeom>
        </p:spPr>
      </p:pic>
      <p:pic>
        <p:nvPicPr>
          <p:cNvPr id="10" name="Picture 9">
            <a:extLst>
              <a:ext uri="{FF2B5EF4-FFF2-40B4-BE49-F238E27FC236}">
                <a16:creationId xmlns:a16="http://schemas.microsoft.com/office/drawing/2014/main" id="{97A590F9-C3B1-860B-2C19-78006A7CA5E6}"/>
              </a:ext>
            </a:extLst>
          </p:cNvPr>
          <p:cNvPicPr>
            <a:picLocks noChangeAspect="1"/>
          </p:cNvPicPr>
          <p:nvPr/>
        </p:nvPicPr>
        <p:blipFill>
          <a:blip r:embed="rId5"/>
          <a:stretch>
            <a:fillRect/>
          </a:stretch>
        </p:blipFill>
        <p:spPr>
          <a:xfrm>
            <a:off x="1668475" y="3772808"/>
            <a:ext cx="5943600" cy="659765"/>
          </a:xfrm>
          <a:prstGeom prst="rect">
            <a:avLst/>
          </a:prstGeom>
        </p:spPr>
      </p:pic>
    </p:spTree>
    <p:extLst>
      <p:ext uri="{BB962C8B-B14F-4D97-AF65-F5344CB8AC3E}">
        <p14:creationId xmlns:p14="http://schemas.microsoft.com/office/powerpoint/2010/main" val="92911835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30F2C567-AA9E-57C5-E4A8-5348CF3F531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82E7603-827F-A5A0-3B31-B30F7B95E902}"/>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6B63940-5F44-47D1-5DCE-05AAF10D67AC}"/>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7573247-ED40-1138-FF17-3223EC49AC1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E6699BAE-15BA-3005-05F3-3E7F214E3883}"/>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is image is a graph displaying various factors such as Chinook Bias and Variance, grouped data like Dam counts and Peak spawner count, and measures of bias and variance, plotted against a scale from -5 to +5.&#10;&#10;AI-generated content may be incorrect.">
            <a:extLst>
              <a:ext uri="{FF2B5EF4-FFF2-40B4-BE49-F238E27FC236}">
                <a16:creationId xmlns:a16="http://schemas.microsoft.com/office/drawing/2014/main" id="{2F0016B9-B74E-0087-4DB6-F2F314760529}"/>
              </a:ext>
            </a:extLst>
          </p:cNvPr>
          <p:cNvPicPr>
            <a:picLocks noChangeAspect="1"/>
          </p:cNvPicPr>
          <p:nvPr/>
        </p:nvPicPr>
        <p:blipFill>
          <a:blip r:embed="rId4"/>
          <a:stretch>
            <a:fillRect/>
          </a:stretch>
        </p:blipFill>
        <p:spPr>
          <a:xfrm>
            <a:off x="0" y="160621"/>
            <a:ext cx="9144000" cy="4822257"/>
          </a:xfrm>
          <a:prstGeom prst="rect">
            <a:avLst/>
          </a:prstGeom>
        </p:spPr>
      </p:pic>
    </p:spTree>
    <p:extLst>
      <p:ext uri="{BB962C8B-B14F-4D97-AF65-F5344CB8AC3E}">
        <p14:creationId xmlns:p14="http://schemas.microsoft.com/office/powerpoint/2010/main" val="273494443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3282835B-D4CF-6AB3-547F-8DE558F8E49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7A86B63-5A44-74FD-DA08-5859E5C0BB07}"/>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6587BA01-F0BC-8264-BE27-E327C7821160}"/>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F751F5B-874E-A24F-FC0C-9F09BDCF1876}"/>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65888776-A3BE-097E-441A-5DD26A463868}"/>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diagram illustrates a comparison of coho salmon monitoring data, highlighting the differences in bias and variance between monitoring area under curve and peak spawner count, with a scale ranging from -2 to 2.&#10;&#10;AI-generated content may be incorrect.">
            <a:extLst>
              <a:ext uri="{FF2B5EF4-FFF2-40B4-BE49-F238E27FC236}">
                <a16:creationId xmlns:a16="http://schemas.microsoft.com/office/drawing/2014/main" id="{D32B328F-F446-5C20-D6CA-4A7846D48419}"/>
              </a:ext>
            </a:extLst>
          </p:cNvPr>
          <p:cNvPicPr>
            <a:picLocks noChangeAspect="1"/>
          </p:cNvPicPr>
          <p:nvPr/>
        </p:nvPicPr>
        <p:blipFill>
          <a:blip r:embed="rId4"/>
          <a:stretch>
            <a:fillRect/>
          </a:stretch>
        </p:blipFill>
        <p:spPr>
          <a:xfrm>
            <a:off x="0" y="164550"/>
            <a:ext cx="9144000" cy="4814400"/>
          </a:xfrm>
          <a:prstGeom prst="rect">
            <a:avLst/>
          </a:prstGeom>
        </p:spPr>
      </p:pic>
    </p:spTree>
    <p:extLst>
      <p:ext uri="{BB962C8B-B14F-4D97-AF65-F5344CB8AC3E}">
        <p14:creationId xmlns:p14="http://schemas.microsoft.com/office/powerpoint/2010/main" val="41820099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Shape 53">
          <a:extLst>
            <a:ext uri="{FF2B5EF4-FFF2-40B4-BE49-F238E27FC236}">
              <a16:creationId xmlns:a16="http://schemas.microsoft.com/office/drawing/2014/main" id="{D3E75E29-361D-6BB7-1B96-5AB386E81CE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AD1F1BA-6F95-1338-6704-F76418D720B6}"/>
              </a:ext>
            </a:extLst>
          </p:cNvPr>
          <p:cNvPicPr>
            <a:picLocks noChangeAspect="1"/>
          </p:cNvPicPr>
          <p:nvPr/>
        </p:nvPicPr>
        <p:blipFill>
          <a:blip r:embed="rId3"/>
          <a:stretch>
            <a:fillRect/>
          </a:stretch>
        </p:blipFill>
        <p:spPr>
          <a:xfrm>
            <a:off x="0" y="-398761"/>
            <a:ext cx="9144000" cy="6098976"/>
          </a:xfrm>
          <a:prstGeom prst="rect">
            <a:avLst/>
          </a:prstGeom>
        </p:spPr>
      </p:pic>
      <p:sp>
        <p:nvSpPr>
          <p:cNvPr id="5" name="Rectangle 4">
            <a:extLst>
              <a:ext uri="{FF2B5EF4-FFF2-40B4-BE49-F238E27FC236}">
                <a16:creationId xmlns:a16="http://schemas.microsoft.com/office/drawing/2014/main" id="{73DE971C-89D3-80F2-6B23-0189543F5A21}"/>
              </a:ext>
            </a:extLst>
          </p:cNvPr>
          <p:cNvSpPr/>
          <p:nvPr/>
        </p:nvSpPr>
        <p:spPr>
          <a:xfrm>
            <a:off x="-296110" y="-226565"/>
            <a:ext cx="9872770" cy="5857662"/>
          </a:xfrm>
          <a:prstGeom prst="rect">
            <a:avLst/>
          </a:prstGeom>
          <a:solidFill>
            <a:schemeClr val="tx1">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1C41DE6-8F4B-F7A6-A391-0E7B3A20A9E2}"/>
              </a:ext>
            </a:extLst>
          </p:cNvPr>
          <p:cNvSpPr/>
          <p:nvPr/>
        </p:nvSpPr>
        <p:spPr>
          <a:xfrm>
            <a:off x="8325853" y="-106224"/>
            <a:ext cx="818147" cy="5513901"/>
          </a:xfrm>
          <a:prstGeom prst="rect">
            <a:avLst/>
          </a:prstGeom>
          <a:solidFill>
            <a:schemeClr val="bg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93;p19">
            <a:extLst>
              <a:ext uri="{FF2B5EF4-FFF2-40B4-BE49-F238E27FC236}">
                <a16:creationId xmlns:a16="http://schemas.microsoft.com/office/drawing/2014/main" id="{0617C468-0F5E-3BF9-D94D-35903EB4AEAF}"/>
              </a:ext>
            </a:extLst>
          </p:cNvPr>
          <p:cNvSpPr txBox="1">
            <a:spLocks/>
          </p:cNvSpPr>
          <p:nvPr/>
        </p:nvSpPr>
        <p:spPr>
          <a:xfrm>
            <a:off x="311700" y="1152475"/>
            <a:ext cx="5041057" cy="3416400"/>
          </a:xfrm>
          <a:prstGeom prst="rect">
            <a:avLst/>
          </a:prstGeom>
        </p:spPr>
        <p:txBody>
          <a:bodyPr spcFirstLastPara="1" vert="horz" wrap="square" lIns="91425" tIns="91425" rIns="91425" bIns="91425" rtlCol="0" anchor="t" anchorCtr="0">
            <a:normAutofit/>
          </a:bodyPr>
          <a:lstStyle>
            <a:lvl1pPr marL="0" indent="0" algn="l" defTabSz="685800" rtl="0" eaLnBrk="1" latinLnBrk="0" hangingPunct="1">
              <a:lnSpc>
                <a:spcPct val="95000"/>
              </a:lnSpc>
              <a:spcBef>
                <a:spcPts val="1050"/>
              </a:spcBef>
              <a:spcAft>
                <a:spcPts val="150"/>
              </a:spcAft>
              <a:buClr>
                <a:schemeClr val="accent1"/>
              </a:buClr>
              <a:buSzPct val="80000"/>
              <a:buFont typeface="Arial" pitchFamily="34" charset="0"/>
              <a:buNone/>
              <a:defRPr sz="1650" kern="1200" spc="8" baseline="0">
                <a:solidFill>
                  <a:schemeClr val="tx1">
                    <a:lumMod val="75000"/>
                  </a:schemeClr>
                </a:solidFill>
                <a:latin typeface="+mn-lt"/>
                <a:ea typeface="+mn-ea"/>
                <a:cs typeface="+mn-cs"/>
              </a:defRPr>
            </a:lvl1pPr>
            <a:lvl2pPr marL="3429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2pPr>
            <a:lvl3pPr marL="685800" indent="0" algn="ctr" defTabSz="685800" rtl="0" eaLnBrk="1" latinLnBrk="0" hangingPunct="1">
              <a:lnSpc>
                <a:spcPct val="90000"/>
              </a:lnSpc>
              <a:spcBef>
                <a:spcPts val="225"/>
              </a:spcBef>
              <a:spcAft>
                <a:spcPts val="225"/>
              </a:spcAft>
              <a:buClr>
                <a:schemeClr val="accent1"/>
              </a:buClr>
              <a:buFont typeface="Wingdings 2" pitchFamily="18" charset="2"/>
              <a:buNone/>
              <a:defRPr sz="1650" kern="1200">
                <a:solidFill>
                  <a:schemeClr val="tx1">
                    <a:lumMod val="85000"/>
                    <a:lumOff val="15000"/>
                  </a:schemeClr>
                </a:solidFill>
                <a:latin typeface="+mn-lt"/>
                <a:ea typeface="+mn-ea"/>
                <a:cs typeface="+mn-cs"/>
              </a:defRPr>
            </a:lvl3pPr>
            <a:lvl4pPr marL="10287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4pPr>
            <a:lvl5pPr marL="13716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5pPr>
            <a:lvl6pPr marL="17145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6pPr>
            <a:lvl7pPr marL="20574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7pPr>
            <a:lvl8pPr marL="24003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8pPr>
            <a:lvl9pPr marL="2743200" indent="0" algn="ctr" defTabSz="685800" rtl="0" eaLnBrk="1" latinLnBrk="0" hangingPunct="1">
              <a:lnSpc>
                <a:spcPct val="90000"/>
              </a:lnSpc>
              <a:spcBef>
                <a:spcPts val="225"/>
              </a:spcBef>
              <a:spcAft>
                <a:spcPts val="225"/>
              </a:spcAft>
              <a:buClr>
                <a:schemeClr val="accent1"/>
              </a:buClr>
              <a:buFont typeface="Wingdings 2" pitchFamily="18" charset="2"/>
              <a:buNone/>
              <a:defRPr sz="1500" kern="1200">
                <a:solidFill>
                  <a:schemeClr val="tx1">
                    <a:lumMod val="85000"/>
                    <a:lumOff val="15000"/>
                  </a:schemeClr>
                </a:solidFill>
                <a:latin typeface="+mn-lt"/>
                <a:ea typeface="+mn-ea"/>
                <a:cs typeface="+mn-cs"/>
              </a:defRPr>
            </a:lvl9pPr>
          </a:lstStyle>
          <a:p>
            <a:pPr>
              <a:spcBef>
                <a:spcPts val="0"/>
              </a:spcBef>
              <a:spcAft>
                <a:spcPts val="0"/>
              </a:spcAft>
            </a:pPr>
            <a:endParaRPr lang="en-US" sz="1900" dirty="0">
              <a:solidFill>
                <a:schemeClr val="bg1"/>
              </a:solidFill>
            </a:endParaRPr>
          </a:p>
        </p:txBody>
      </p:sp>
      <p:pic>
        <p:nvPicPr>
          <p:cNvPr id="4" name="Picture 3" descr="The diagram displays a comparison of Steelhead fish counts (redd and dam) against different levels of bias (negative to positive values), suggesting a relationship between bias and fish count variability.&#10;&#10;AI-generated content may be incorrect.">
            <a:extLst>
              <a:ext uri="{FF2B5EF4-FFF2-40B4-BE49-F238E27FC236}">
                <a16:creationId xmlns:a16="http://schemas.microsoft.com/office/drawing/2014/main" id="{CB992E78-14B3-E713-0AB2-6A4BEC0E623A}"/>
              </a:ext>
            </a:extLst>
          </p:cNvPr>
          <p:cNvPicPr>
            <a:picLocks noChangeAspect="1"/>
          </p:cNvPicPr>
          <p:nvPr/>
        </p:nvPicPr>
        <p:blipFill>
          <a:blip r:embed="rId4"/>
          <a:stretch>
            <a:fillRect/>
          </a:stretch>
        </p:blipFill>
        <p:spPr>
          <a:xfrm>
            <a:off x="0" y="176779"/>
            <a:ext cx="9144000" cy="4789942"/>
          </a:xfrm>
          <a:prstGeom prst="rect">
            <a:avLst/>
          </a:prstGeom>
        </p:spPr>
      </p:pic>
    </p:spTree>
    <p:extLst>
      <p:ext uri="{BB962C8B-B14F-4D97-AF65-F5344CB8AC3E}">
        <p14:creationId xmlns:p14="http://schemas.microsoft.com/office/powerpoint/2010/main" val="366228539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TM03457515[[fn=View]]</Template>
  <TotalTime>9404</TotalTime>
  <Words>2143</Words>
  <Application>Microsoft Office PowerPoint</Application>
  <PresentationFormat>On-screen Show (16:9)</PresentationFormat>
  <Paragraphs>454</Paragraphs>
  <Slides>110</Slides>
  <Notes>110</Notes>
  <HiddenSlides>11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110</vt:i4>
      </vt:variant>
    </vt:vector>
  </HeadingPairs>
  <TitlesOfParts>
    <vt:vector size="114" baseType="lpstr">
      <vt:lpstr>Arial</vt:lpstr>
      <vt:lpstr>Century Schoolbook</vt:lpstr>
      <vt:lpstr>Wingdings 2</vt:lpstr>
      <vt:lpstr>View</vt:lpstr>
      <vt:lpstr>Investigating precision and bias of commonly used salmonid abundance survey methods  </vt:lpstr>
      <vt:lpstr>Investigating precision and bias of commonly used salmonid abundance survey methods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Investigating precision and bias of commonly used salmonid abundance survey methods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Brian E McGreal</cp:lastModifiedBy>
  <cp:revision>78</cp:revision>
  <dcterms:modified xsi:type="dcterms:W3CDTF">2026-10-22T06:23:43Z</dcterms:modified>
</cp:coreProperties>
</file>