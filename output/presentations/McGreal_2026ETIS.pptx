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omments/modernComment_148_81A864E1.xml" ContentType="application/vnd.ms-powerpoint.comments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comments/modernComment_219_5E04AFD1.xml" ContentType="application/vnd.ms-powerpoint.comments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21"/>
  </p:notesMasterIdLst>
  <p:sldIdLst>
    <p:sldId id="296" r:id="rId2"/>
    <p:sldId id="403" r:id="rId3"/>
    <p:sldId id="368" r:id="rId4"/>
    <p:sldId id="529" r:id="rId5"/>
    <p:sldId id="528" r:id="rId6"/>
    <p:sldId id="341" r:id="rId7"/>
    <p:sldId id="405" r:id="rId8"/>
    <p:sldId id="404" r:id="rId9"/>
    <p:sldId id="428" r:id="rId10"/>
    <p:sldId id="429" r:id="rId11"/>
    <p:sldId id="430" r:id="rId12"/>
    <p:sldId id="342" r:id="rId13"/>
    <p:sldId id="431" r:id="rId14"/>
    <p:sldId id="416" r:id="rId15"/>
    <p:sldId id="420" r:id="rId16"/>
    <p:sldId id="299" r:id="rId17"/>
    <p:sldId id="419" r:id="rId18"/>
    <p:sldId id="418" r:id="rId19"/>
    <p:sldId id="421" r:id="rId20"/>
    <p:sldId id="441" r:id="rId21"/>
    <p:sldId id="343" r:id="rId22"/>
    <p:sldId id="432" r:id="rId23"/>
    <p:sldId id="433" r:id="rId24"/>
    <p:sldId id="435" r:id="rId25"/>
    <p:sldId id="436" r:id="rId26"/>
    <p:sldId id="317" r:id="rId27"/>
    <p:sldId id="318" r:id="rId28"/>
    <p:sldId id="319" r:id="rId29"/>
    <p:sldId id="320" r:id="rId30"/>
    <p:sldId id="321" r:id="rId31"/>
    <p:sldId id="499" r:id="rId32"/>
    <p:sldId id="322" r:id="rId33"/>
    <p:sldId id="442" r:id="rId34"/>
    <p:sldId id="324" r:id="rId35"/>
    <p:sldId id="530" r:id="rId36"/>
    <p:sldId id="344" r:id="rId37"/>
    <p:sldId id="325" r:id="rId38"/>
    <p:sldId id="440" r:id="rId39"/>
    <p:sldId id="498" r:id="rId40"/>
    <p:sldId id="438" r:id="rId41"/>
    <p:sldId id="439" r:id="rId42"/>
    <p:sldId id="437" r:id="rId43"/>
    <p:sldId id="326" r:id="rId44"/>
    <p:sldId id="457" r:id="rId45"/>
    <p:sldId id="328" r:id="rId46"/>
    <p:sldId id="329" r:id="rId47"/>
    <p:sldId id="331" r:id="rId48"/>
    <p:sldId id="531" r:id="rId49"/>
    <p:sldId id="345" r:id="rId50"/>
    <p:sldId id="338" r:id="rId51"/>
    <p:sldId id="545" r:id="rId52"/>
    <p:sldId id="371" r:id="rId53"/>
    <p:sldId id="546" r:id="rId54"/>
    <p:sldId id="370" r:id="rId55"/>
    <p:sldId id="547" r:id="rId56"/>
    <p:sldId id="392" r:id="rId57"/>
    <p:sldId id="399" r:id="rId58"/>
    <p:sldId id="400" r:id="rId59"/>
    <p:sldId id="374" r:id="rId60"/>
    <p:sldId id="532" r:id="rId61"/>
    <p:sldId id="346" r:id="rId62"/>
    <p:sldId id="510" r:id="rId63"/>
    <p:sldId id="445" r:id="rId64"/>
    <p:sldId id="459" r:id="rId65"/>
    <p:sldId id="500" r:id="rId66"/>
    <p:sldId id="554" r:id="rId67"/>
    <p:sldId id="483" r:id="rId68"/>
    <p:sldId id="484" r:id="rId69"/>
    <p:sldId id="501" r:id="rId70"/>
    <p:sldId id="555" r:id="rId71"/>
    <p:sldId id="486" r:id="rId72"/>
    <p:sldId id="487" r:id="rId73"/>
    <p:sldId id="502" r:id="rId74"/>
    <p:sldId id="548" r:id="rId75"/>
    <p:sldId id="534" r:id="rId76"/>
    <p:sldId id="506" r:id="rId77"/>
    <p:sldId id="549" r:id="rId78"/>
    <p:sldId id="550" r:id="rId79"/>
    <p:sldId id="507" r:id="rId80"/>
    <p:sldId id="513" r:id="rId81"/>
    <p:sldId id="527" r:id="rId82"/>
    <p:sldId id="526" r:id="rId83"/>
    <p:sldId id="525" r:id="rId84"/>
    <p:sldId id="551" r:id="rId85"/>
    <p:sldId id="508" r:id="rId86"/>
    <p:sldId id="514" r:id="rId87"/>
    <p:sldId id="524" r:id="rId88"/>
    <p:sldId id="523" r:id="rId89"/>
    <p:sldId id="552" r:id="rId90"/>
    <p:sldId id="503" r:id="rId91"/>
    <p:sldId id="515" r:id="rId92"/>
    <p:sldId id="522" r:id="rId93"/>
    <p:sldId id="521" r:id="rId94"/>
    <p:sldId id="520" r:id="rId95"/>
    <p:sldId id="553" r:id="rId96"/>
    <p:sldId id="509" r:id="rId97"/>
    <p:sldId id="516" r:id="rId98"/>
    <p:sldId id="519" r:id="rId99"/>
    <p:sldId id="518" r:id="rId100"/>
    <p:sldId id="517" r:id="rId101"/>
    <p:sldId id="533" r:id="rId102"/>
    <p:sldId id="357" r:id="rId103"/>
    <p:sldId id="359" r:id="rId104"/>
    <p:sldId id="367" r:id="rId105"/>
    <p:sldId id="492" r:id="rId106"/>
    <p:sldId id="463" r:id="rId107"/>
    <p:sldId id="536" r:id="rId108"/>
    <p:sldId id="535" r:id="rId109"/>
    <p:sldId id="496" r:id="rId110"/>
    <p:sldId id="538" r:id="rId111"/>
    <p:sldId id="537" r:id="rId112"/>
    <p:sldId id="539" r:id="rId113"/>
    <p:sldId id="541" r:id="rId114"/>
    <p:sldId id="540" r:id="rId115"/>
    <p:sldId id="497" r:id="rId116"/>
    <p:sldId id="340" r:id="rId117"/>
    <p:sldId id="542" r:id="rId118"/>
    <p:sldId id="543" r:id="rId119"/>
    <p:sldId id="544" r:id="rId1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B0BED2-DCF0-D752-F2C4-F17733FEE147}" name="Brian E McGreal" initials="BM" userId="S::bmcgreal@uw.edu::500ccbb3-e957-4a38-850c-c0c2fd4a68d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F00"/>
    <a:srgbClr val="00FF04"/>
    <a:srgbClr val="FF8400"/>
    <a:srgbClr val="04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956" autoAdjust="0"/>
  </p:normalViewPr>
  <p:slideViewPr>
    <p:cSldViewPr snapToGrid="0">
      <p:cViewPr varScale="1">
        <p:scale>
          <a:sx n="82" d="100"/>
          <a:sy n="82" d="100"/>
        </p:scale>
        <p:origin x="772" y="48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/Relationships>
</file>

<file path=ppt/comments/modernComment_148_81A864E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039B60D-DE02-4468-A4A2-92B70966D270}" authorId="{4DB0BED2-DCF0-D752-F2C4-F17733FEE147}" created="2025-11-05T17:08:25.048">
    <pc:sldMkLst xmlns:pc="http://schemas.microsoft.com/office/powerpoint/2013/main/command">
      <pc:docMk/>
      <pc:sldMk cId="2175296737" sldId="328"/>
    </pc:sldMkLst>
    <p188:txBody>
      <a:bodyPr/>
      <a:lstStyle/>
      <a:p>
        <a:r>
          <a:rPr lang="en-US"/>
          <a:t>Something more here? Highlight groups? I tried this before..</a:t>
        </a:r>
      </a:p>
    </p188:txBody>
  </p188:cm>
</p188:cmLst>
</file>

<file path=ppt/comments/modernComment_219_5E04AF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5987102-0C7C-4A31-A305-79B1C1F27BB5}" authorId="{4DB0BED2-DCF0-D752-F2C4-F17733FEE147}" created="2026-10-22T06:23:34.484">
    <pc:sldMkLst xmlns:pc="http://schemas.microsoft.com/office/powerpoint/2013/main/command">
      <pc:docMk/>
      <pc:sldMk cId="1577365457" sldId="537"/>
    </pc:sldMkLst>
    <p188:txBody>
      <a:bodyPr/>
      <a:lstStyle/>
      <a:p>
        <a:r>
          <a:rPr lang="en-US"/>
          <a:t>Something more here?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CD7DE-C3B7-6F17-99EA-83BB9CF34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CC87EC-3880-11A3-FC32-4D2121F22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4F5491-41AF-7432-7E0D-BAFCDB400A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1032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2FED314-83EE-6F29-072A-8756C090E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7CE917-32B9-4B53-B755-229E3589F7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EBE36E4-DB09-27A5-DBBC-6E3DE2C63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7527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F1A75AF-F139-8498-6DFE-6FE5D19ED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D843EF1-A2D2-50FC-F375-08328B057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95C222B-E222-AC81-0C57-D1F54DB5A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3125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5BB8511-BF53-7C74-F729-A17F32B24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259ABE-F2C3-ADE9-1822-0E9686128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F0D9305-D759-F213-CC92-6FA83E1638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724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464E55-DCC3-42C4-BB51-64DD87172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B603A1B-ECCB-78EC-057D-41AECA8DFE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25D9BE-05A1-6A29-5801-73748F12F3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87215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76E2080-1789-5574-1F8D-BCF51B95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6DFCF12-80C2-D1D8-5541-3C4C7C95E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A22C6DD-1D90-1412-0179-0CD5EDA718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21823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B3B300F-CF1F-540F-70A8-29212E91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DB5BD4-1C8D-137E-854D-08D03DBF7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EF69597-D941-7CDE-83A4-D171B4F25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9871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3901E86-20DF-19FB-4EBD-746E87A65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7CBFED-44C1-A120-AE38-AF6EEDEA94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9833E5-2D86-8C19-171E-D32DAABC5A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973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939050-1BC0-B5B6-474A-8EFA1E0D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301E135-F32E-6137-FD05-5B8B3A5CF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B9591A-6FFC-188C-E43E-4731864A8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Ecologically crucial species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Marine nutrients found in trees in central Idaho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16202900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6CDCFCA-EA30-E25B-AA5E-09683AF11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7E7704E-E41F-82C4-01F9-CE23159E2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A313050-6B70-4186-5B6E-47B2317490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 - Kwantlen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0881974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F8FFA2-A465-034F-BAE8-52A9703D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6B05F0B-D6F0-9FA4-2F9A-70000FDF7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B84D75E-9D6B-3C74-7E31-BE6888B47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8640872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C994C-5491-AE10-F5E1-D23552AF3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99392B8-6915-2AC7-283B-5869E6C4B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326FC01-C283-BC7D-B1C9-5922A899B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8426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AD5D8E4-4B7A-E517-8FF8-3D24B5C6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80002AC-7E1A-98A3-487C-1D6228003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0715729-6FF8-7BFF-15B1-C741FED89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30943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075C57-39FF-C940-EA28-40B3C2773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9E6D257-8631-03DE-591E-66996D6B5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8053B-7D22-4E04-9E29-4CED23B237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92719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BC5438-3362-C007-85C6-8AB543DD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9E82869-C94B-729A-2E9B-3EA458510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C2FACF3-6BF9-9D7B-9E2E-1E9778B42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75618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F44126-9054-C47B-5598-521A7B5C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3E981E-4902-5638-4047-4AABB6BBEB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9AD769-CE8D-F7EE-7F3B-58134DF5F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9804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15023A5-2CE4-81C4-1726-4AADA5BE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2CEE777-6C95-9A63-44A0-3D2217D21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DE8C1-AC03-6CD7-8D97-C2959F46B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0991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28AB6B7-9392-186C-3A65-B41E7D82D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4512CBD-F761-82DC-FB3F-9103730AC5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EB536C1-D1D3-4E9E-698A-9C83B0E6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49613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1C5F918-356D-8506-C99E-A5974AC4D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0AED09-9F5A-FAEF-48BA-27076F7C7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BD3109A-90EC-7E7F-C761-74CC2F429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7227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AC5A7-21E0-D291-17E6-7D8CDEFB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BD477E-2E99-D31E-A7EC-376B1DA1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06064A5-6A71-F9B4-6038-83AC78903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92043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6144E4C-CB20-9570-F494-DB45E666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D594524-C411-4779-FFDF-886C25ED8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9233A0B-4670-7ABF-8BE9-F4E728943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1924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62DD149-744B-77DE-BA25-2CE5B69E4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C6B4B0-22AE-570B-8948-EB048BD13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1A1DD8-77BC-9D5C-62D4-FD6BFFA192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49503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D29C935-FACA-D4B3-3395-4B8C3407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A757821-D1DF-D291-F823-ADEEFC60C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A55DA9D-0A0F-C805-CF81-2004934803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33631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B07D456-3845-6903-5395-05AF7E5A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58AAE1F-A69B-2F7C-60AE-8EE45A532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6078338-125C-AE4D-52B6-2277D603FE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5914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1891AA7-3E44-40B2-BAFA-110513DC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50CAD9B-13CA-F254-9E88-5B1C207CA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1DC6CDD-AB92-382D-E44E-ED970BAB6D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65595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3B8742-C937-D9A5-8B8D-E156269CC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5951750-3012-F9DD-6562-E853CB0EFE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16667E2-4608-A904-FE29-6CA3993A62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Net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3896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EB0527-8601-007E-202D-922BFF846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566D7BD-9080-D044-9384-A99DF47887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A91FC5E-8B55-5FA9-C24C-D58024109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Snorkel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26933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C0BA6DA-19BD-783D-8508-B65456E31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3444537-506E-E8B5-C184-E3C63231CF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61DA722-26EC-B6AF-541C-C1E16B1C7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47600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1C56159-5097-D46E-3B0D-904C3C58A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865057F-CA6B-04F2-9B8B-B60ACD1819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CD18A4-F9BE-49E4-E962-A9B01ABA6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PIT tag (passive integrated transponder)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37790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8465D1-12E8-94EA-290A-961C47BC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1F10493-E052-DDCD-719A-7A935E530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AB4113-EF72-BE86-36AF-088D5E809F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Aerial Survey (AK)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846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115E6C1-3970-88B0-BF03-04E7D795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5805BB-02DB-7F6E-E7B6-F9497118FE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EEBDB5-935E-8FD7-20B3-4B34C7DF1F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70601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0695230-A505-3CB7-1455-67AE8895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DAF8EE9-C34A-EA7C-9D9C-6FE67DE1E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1A5ECD-DEB9-3B19-20FE-477CFB84D4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0597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EF53767-BCCD-ABCC-C299-7F7079DA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97809E4-D524-14F4-5D48-28863542FA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AD88DC-F431-E27A-3EEB-144CFCED5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5458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605FD3-7BB1-61FC-D539-A25F6AF42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D1FFFDE-CC5F-98F9-911A-D6CA03F8F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9F5D43-B6FA-80CD-9320-72D717CB1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88312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3609022-3BB8-0ACA-1A18-7D657CB1E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AB2EBC9-95F4-E1B7-7E49-CB591BA1EB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A84DC4E-BE4B-489A-7144-39B762E4B7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41836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552606B-31C7-AB6E-8FFA-6C234E9A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6B39904-0BE4-77A1-F5BB-9C6505DD68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873211-5F5E-7B98-46D3-D730D463B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186541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764DEB9-DB0A-15AE-72FC-BF7D61723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FDF683C-D6F4-253E-7C34-01629DD63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88C5BD2-5C13-5E5B-2665-108664798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27529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1FFB1BA-C6F9-4981-9DC7-E5336ABE9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50F96CD-A25B-17C3-0C1A-F40B3EC8D3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9DB330B-0A1A-2E31-1734-B26CF1C32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2408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AF78738-9C4F-45B6-CF81-3748BA204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EB347C-8EB2-AC94-6442-BFA55E45CB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9C9E1F8-4CCF-275C-32C6-8F2364BDFB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016451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6AF4A55-22EF-54A6-5F89-B4ABCDD3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A4FC02-A6D7-2305-E9CB-0FECD0FFB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25824-7AE8-82AC-20B4-6A27C70C21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2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8A49C98-0370-5D0D-1BDC-AABF7606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4C03D06-216D-7281-4363-31DF0D2FD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E09A1DF-016E-3BFA-2979-3850A23AB3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085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11D36AD-196A-56EF-129A-7901A56B2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7D2CCD-5AD3-40C7-ED8D-8FF86DA9EC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9F8407C-5D69-A517-D3C2-057805DB2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525537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B9A3016-7B55-A3B6-36B4-949825BE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88E1C96-129C-3537-E5F5-9336CE110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CB41531-833B-2A24-D6B1-6B41AE7899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54897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315E26-8D27-3BC3-1FFD-9764BEA54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B9CADE-7E9B-0171-B107-86A7208A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71B6ABE-365B-EFC2-5D32-ED26B1975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54870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34925A-1344-B903-4822-6DD1C7B8D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FBCF362-B8BF-B84E-7095-611571C5EF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C90946D-39F7-EFC6-7506-44E407669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14345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B5DB378-0FAF-D8AE-AC11-EDF08D37E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0BC6314-1305-C354-02CB-08A66B293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E298B56-260E-8C16-02A0-40723C6A0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56607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15B59BD-6A57-A5AD-6949-3AC008F0A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1339DE5-AC60-4E5E-3AAE-489F44A0D8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F75AF54-D896-798D-C35A-D9B35CA9E7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6482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A91E32-2BAE-928F-5951-38F4BFDE8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07A4E83-1A2A-3ED0-47B7-215C949588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7BD8A00-7324-427F-81B6-679FA7AC1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465433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282F08-D775-C5AF-E2A3-6C510A91F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8AA17AF-144E-E6C7-3EF6-6F64671BE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E82442-40CE-9DCE-CCEB-7663F2A564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5579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BF39697-137E-434C-1BC8-0CEAE7F10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08ADA34-CE02-78FB-A88E-1BB71E454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24A1211-14FE-4D76-1578-BCAAFBF85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74312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43646E9-0181-109C-71D5-E64F97A1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F0E897-2FA6-95BE-26BB-D4DAD8CD6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E04A72D-8694-FD8C-7912-652F078704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93574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97E240B-9F1A-591B-00CF-5451FCC09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7A754FB-F5EF-BAA3-118F-5A92A9066B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CB543D-3077-B38E-B1B1-9859513A9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815398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DD7B4F-8024-0912-61DB-19D19FA6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E75D158-6537-5366-01EE-63F820CBF3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79ADB32-A2F7-9443-B006-832CDF8ED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914053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5ECF603-8047-A527-18AB-2AF27134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303DC34-E3D6-8681-1663-7A01F1BB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DA8CC08-7347-AE15-3C91-1B77AFCD7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19347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29A65E3-B5C5-BB3A-0E35-53E5EDF6A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2C33AA-9C57-0C23-B8E1-7CA3CA4F7E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1BE25C3-26EF-C2CC-990B-4778C86637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87504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EF3ADA8-E61B-0D19-5C36-DD815AD1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A3C9A8-3217-F572-65E0-9377206C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21767-1500-8181-EA1A-93BB746395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331735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6A1933D-B43B-08C9-E212-EC7B7876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1C41621-C38A-B71A-FEF8-E93D1FFEEF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DFB3374-DA47-5FC4-60AE-2438A4325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112862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914829-E1AB-5E78-CBA6-4C66EFACB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A0C6809-4F50-4B9E-05AD-0BF25F84E3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EB6E96-CE88-B7B6-08B2-23407B112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19580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426E35F-6C07-EC28-B0FA-938A5010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4F0E9C3-798F-43CF-16CD-7C6B02A6B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F644694-61D2-D7DC-25D2-9969D0E357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159811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4C4B52B-F1BB-AB40-7454-7BCAC0957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73B2546-A228-D461-1030-62168EC9FA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96681B5-4A43-A616-37E7-2BE91B2130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366554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7A17B3B-0131-DB89-F76D-D1D2382C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035507C-8C98-6D1F-A78D-7F351D08C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17626B-E107-109F-8C5B-4633ABACA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370536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CD656BC-7DC6-750F-C49D-55D3843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CA09C19-D43B-3000-4219-5E8CBA29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0DD01BE-E5FC-4BCC-D26C-3AEA2F10D5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442657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8D135A4-3764-9F29-0654-6DF5DD438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4BF0EB4-7579-B8E2-7015-E1640471D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D832B07-04FC-67C9-E551-9E6CC0F83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47404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6F788E-73F4-2B9B-4F2A-96A7D19D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D880702-9EFA-3532-746D-477D5A6BC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AAB9A27-0737-8BE9-7FAF-3B19CDC1C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17538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14EFB-396C-8893-A274-F30D82A47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18ED5D9-803A-32CB-2F2C-78ED39FCDB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9AAEBD7-920D-7A2D-3403-2E686BEC6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0558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7D4884B-CC32-D5D6-F0DB-99D8D3B88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65BD4CA-E6A1-D27C-83FD-111AB99106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C85EAFE-08FD-AD4A-4799-BBDC69BFD8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686461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C97B9D1-7690-0DA3-9C9F-981A89C49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A35520F-C038-853B-E108-136C27990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B691D7A-7F53-BAD9-EC26-A47EEC1EF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7271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0E5EC0-D159-9CEA-56CF-4F973FD8D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6E74671-7813-1B06-0B09-15D2679CA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FD34B0-DB66-FD05-9E53-370E0677F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1763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E61F8F3-89C6-7263-E9A7-37C09F521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7B38A0B-7FC9-1076-CEA3-6392252075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CD2ED88-9BA7-57F0-7533-5928DD7678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775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F4B6810-A5AD-1548-2D41-1D203914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CB82B6A-854D-90DB-2230-60D831D5C5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F75001-BC6F-E545-80C5-872ADAA02A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914319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47609AF-9201-A804-9D31-4CC27E0C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FE22FD9-C7D4-5535-B600-7586AA5ED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86C37DA-A58B-5299-85E6-FDC914FF15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705873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1E796E-72A1-97FA-D00F-6BB8998AB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2458589-94BC-C330-E7E7-B1543C6DA9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C60CC-221D-F1E8-693F-94DC1B0197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6521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F025F02-4922-0AA8-3EC3-A89BC506B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35A4F4-D306-BFE8-6CEF-8D2D08BE6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73E1B3-F698-D2C1-62FC-87EEC1D0B9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576151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C42450D-C016-633D-1624-50F85F6F5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F338895-9F20-C5ED-7754-3FBAF8A9EB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5E8ECE2-C73D-6684-38A1-93455D5BA3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2916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6C2D2D-AFF8-3F09-68FA-080F2AB8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255D6D2-6EEE-186D-6A53-5DB5F185CA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0304367-C911-2AE8-D132-2B791936A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31609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9C5E88-32EA-AA70-97CB-795CEB0F4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036FD23-8CC8-A3DE-73C9-1DFCEBC2D2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D6C1AC9-5EC4-EC0B-D1A6-431AF24D34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326033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EDA7224-8E11-F631-B260-E6DEFD6B7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36A633-CCA9-D2A9-BABC-58A4811AF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504A81E-E81D-48F0-F76A-F7ED3241C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215264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6E41981-C51D-1EDE-E14D-FD63A7EAF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C663A3A-4AC8-19AC-D078-A77F3FF7A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FB2AB09-BDE1-D4C7-76CC-963EC7239B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777033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A47BFBF-8AB2-9C98-E1BB-2F9DD81B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42A7269-E4BE-D596-DC28-294091743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812A505-BDCA-495E-3CC9-2345811AE8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689207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BAA0A3-192B-E437-6306-690FA594F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56C4286-68D6-9C8D-F7A0-25154B107A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5684A-9FD5-703B-9A24-390671A2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022031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A24D51D-652B-F5FD-894F-5BF3D2E79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2ACD4FD-2937-C51C-E60B-4401B02FE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7A79A5-35A5-7C8C-F999-6C48D4FEF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780050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702DBC-55D5-71C5-2DBF-DA11530DB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9ADE1DB-1E8C-605F-C708-A091BB42A4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741508-8303-E887-78D6-BF39E0B2F3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828677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ADE312-C6C8-E95A-15F2-D76712AD0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3A664F4-34E0-3AAC-D883-274A06025F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E6447AF-8F4E-EF31-5DD1-21D2AC593D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96531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79FA251-8ED4-586D-61CD-ED30EEA3E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B4B65AE-B97E-7C99-6484-845B9466A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980172B-527E-2F65-50D8-9335F0224B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562156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96C007F-0187-5EB4-A49B-7896AC6C4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134B21C-2FDE-E36D-1AEB-47386D821D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3ECFCE1-C913-B65D-105C-89A8C6A8D9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850813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4D6B0CC-E477-4B9B-1E33-B468BAB47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A1F56B4-4672-8E5A-2E20-614513D309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CB2F116-36AD-BF28-077E-D3126668E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92510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A81E4-4882-BAA0-065D-BBE8ECA3C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F566C63-80EE-971C-38A3-E396FA5254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DF82817-E411-1885-EC3D-DDFDD850C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170191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2D7268-B6E2-E355-766E-1E811ED63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D385DD-5B63-A606-3BF0-60D031102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E7D9988-8375-575E-5A93-756F55A5F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48402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DB06089-A11F-5455-8CBF-984341B18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8126381-F8E5-F82F-E041-E29F542A5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3827EB-ED38-DA2F-3F4B-9B33D1DAB3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358306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F33524B-EC5C-4E76-4404-CDE2BA36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ED54B8-3078-F0C9-A265-4B3C15D55A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95546F-BA12-671C-D9AF-5272A0F622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747882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8FD357-4C80-F5D3-D9A0-8F67FA15E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DC1DEF1-8D68-46EA-4988-B320080F61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9F52D4-C2BB-5590-5A71-EF5B7BB816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54577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8FF15F-CECC-23BD-49F0-6A3C7FF0A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8AF9CC1-61DA-DDE9-923B-1E7C34488A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5653234-EA12-6D92-276D-40BF95A13B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0645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67F7DE-7399-0BA5-08D5-65AD473FE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16545BB-9BAD-2567-818D-27940AA60E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F6C1F96-25A7-6CB1-0779-7D32BACC1A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93228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AE512BE-5323-66B5-9E37-E02325DD8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25A8580-9EEF-5068-8C92-C55EA64517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9095FE0-D0F6-86DF-B739-EFAF613E2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950776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8DB032-6F97-76D4-E064-ABCE305A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723829F-2575-AB2D-D306-05971EC99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D133455-1139-C193-CB1D-484B9D19DC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904583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BC3F162-1BCA-FD5E-DBC2-E670792F7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B9444EC-2100-8137-BF9A-256B6FE29F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E25EDE-3892-7D38-008C-D4D90A487A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21471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60C857A-971F-209B-7D18-DEEC83CCA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576B0EF-C75A-1194-26E8-B4F794EF97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F391B8C-E290-E745-2894-1C3910F6F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73287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AD46E7F-A50C-301B-E406-F54742786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95D237A-45D1-9802-2A32-06A22020D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F17B11F-76B4-2643-8118-DB31EB4D2F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7747875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F020F11-4BD1-7561-D1C0-6EBA0AFB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893C440-83AF-6355-0D7A-41C9FC083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1DD5B2-C0B1-F2AD-7AD9-3187D403F4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764016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4E8CE1-CEAA-CB82-6D4A-7E32CC0BD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8918521-8681-0A90-8722-DA41859464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570FD9-15BA-FEBE-7C47-DB798CD799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081107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9057AA-AE9E-1AF6-67AD-9C996CB7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717E8C5-4247-BCB7-BAE9-D918013F74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43A088-B0CE-743C-B916-472A81DA1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581212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8D121CA-6D64-C580-CDB4-D5E231342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4C7F2BF-2384-D068-9D30-D3DF48E029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F9B661C-6095-EF84-5DC1-B24A3960F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570435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81A8A34-441F-B342-383C-77F914B4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236942-3027-1070-0C12-EAA14E211B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479E6BF-4529-FCA0-9734-01B3372BB6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503377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6685D3D-E1E7-5D4B-CAF0-AF7C68F8E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B8791CE-EA7E-65C9-DAC8-7A6F9C31A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188E232-ADF9-957E-9D45-345D72E4A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514828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23B705E-2123-AFB5-F660-1E1EE7E6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5C65AC-5AF1-6E96-7F54-43C123D60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7B756E0-8A14-8950-7D52-56C61DB95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417701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30D06F-7846-1533-2F10-D20B1917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2C0321A-53C5-4AFF-CD72-645FA03A0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8273209-57E7-E1AB-08EE-1506B450A3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377340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35047B2-2938-86A2-5205-7B5F9914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FFD0562-45FA-7901-DA72-1320222FEA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40276D-9B61-1AEB-A3C1-1BC4456882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74194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4F1EFAD-640F-2BAE-F5AA-FE863081F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AF2C0FA-C05C-BA66-4607-A314E2DFB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1172FDC-88C1-2E45-94FE-D348083B2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147311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B64E2DD-BB95-CDC3-CA73-12FA2A95D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0493BFB-786A-3D7E-1667-320279D774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33B9389-5599-EEB1-F5FD-81E93CD57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69554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AD15ED4-9CB3-C41D-B590-028F2413E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34C2CA4-7902-19E4-C231-73C56CD3BF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F17EE5D-2582-0888-0323-847804694D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8069032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8AE81EF-640B-E03D-CF80-B711EC5A8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D41AC3C-17D8-E2FB-49E6-7A52318F24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E7609AA-969E-54DE-FCF4-88BC5EF254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07069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26FBE6C-092F-A5D3-ABC9-E8ECF6369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6C1775-3731-E41E-0E8B-D8A97C0DE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8ECB3B3-6662-D752-12CC-3FBD778D7E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221472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5DF6F9F-6A47-8023-8E8C-7DAB8A435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7FC3398-0D03-408C-C59E-76A8B8CF0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911EB38-53E0-39A0-F83F-584B948C1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986430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A5D65A8-FB19-1FC0-0D91-413D2BF48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A193E81-46C1-3DAB-2127-742EE3482D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578AB37-84A9-E53B-A103-12C84C635D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771093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C62C34A-C6F5-C0E0-35C0-243CAB55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785B69C-5B01-05E4-2C02-C590FC1BD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093B91F-D9AB-09CC-0255-AB7AB80CD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65817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2787D3-14C8-1045-DDF9-D7F2F5ABB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61D365-F4D1-EE7E-D5A5-5204D0A46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4772939-3FC5-70AB-6950-E120AD92A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594863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FF5A94A-D1D3-829D-337E-73C6697ED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2E8D434-28F4-56A6-5818-D6E32899E4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A91481-0FC4-E0EC-144C-797529F306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720696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DEBA3E-A147-5DE6-027C-465AC0451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62DD48E-6C1F-FDE5-37FF-2268361A6E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E438F45-571B-889E-4558-1E7FDC57DE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86911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A22F49-D541-D552-0585-19C2D6D01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9A966E6-FCB4-D953-205A-92D4B54BA9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C3AC927-B957-B464-36B6-D66C68C11C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7322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6077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787399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9533041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4727398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206825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1485067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46112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699557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4663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9738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7963382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3436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6.jpg"/><Relationship Id="rId10" Type="http://schemas.openxmlformats.org/officeDocument/2006/relationships/image" Target="../media/image20.jpg"/><Relationship Id="rId4" Type="http://schemas.openxmlformats.org/officeDocument/2006/relationships/image" Target="../media/image19.jpg"/><Relationship Id="rId9" Type="http://schemas.openxmlformats.org/officeDocument/2006/relationships/image" Target="../media/image17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48_81A864E1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1.jp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jp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jp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jp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219_5E04AFD1.xml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2D7C91-B872-AC1F-6685-68A0F0505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693684-4F5E-C0D6-90B3-906863F7C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E34490-A770-2089-1BD5-38B2B277FA6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15B9D-FF37-A9B1-71B2-5C34AB8274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B4C9B47-AC18-D027-2DD8-22588A535F0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BB289D2-2CAA-5E86-7A2A-45A5B017707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9131" y="3355077"/>
            <a:ext cx="568862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 dirty="0">
                <a:solidFill>
                  <a:schemeClr val="bg1"/>
                </a:solidFill>
              </a:rPr>
              <a:t>Investigating precision and bias of commonly used salmonid abundance survey methods</a:t>
            </a:r>
            <a:br>
              <a:rPr lang="en" dirty="0">
                <a:solidFill>
                  <a:schemeClr val="bg1"/>
                </a:solidFill>
              </a:rPr>
            </a:br>
            <a:br>
              <a:rPr lang="en" sz="2700" dirty="0">
                <a:solidFill>
                  <a:schemeClr val="bg1"/>
                </a:solidFill>
              </a:rPr>
            </a:br>
            <a:endParaRPr sz="2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694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0E155D5-0A52-3FD4-321F-74BE3393B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C1ADF1-E84F-8FD6-63E0-69709A0DF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453BA76-B119-E364-F9B8-8956813769E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75BBBC-F98A-73E1-B8E6-04C2D75A2C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CA3DBDE-8BE6-1D60-C835-78DC1FEC08C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D02A42C-F66D-EF4C-9113-32E655EE138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Investigating precision and bias of commonly used salmonid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E796C9-BB3B-4C45-C12A-55B2F9DD416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0ED0D8DC-DCA6-37F2-04F0-5B096B86686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BF74C0A2-C3DF-8599-2CB0-84BAC9DCEE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E43B1-46C1-7B77-7F81-4075DF413F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72F50A0-5C1D-6C54-9B05-A54B052D2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F87C0CCB-BAF6-7873-BF1A-0F26725289E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32A83CC-5AC1-88C6-DC7D-740945BC10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F1478362-9E63-DD30-4961-5A8EF74B2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080FD3C7-4CC4-9BEA-5A9B-10F1526620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88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5D77DDE-B6C7-9F94-A052-7054239E8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C1A87-F769-B04F-3CD1-AE81C47B2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018A5B-AF99-A522-2BE9-909CB2544BC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15A7EB-CD7F-3A41-D20D-271A5D24DF4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C0B9039-7D10-B440-526F-42EA64F35BA0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6ADEEEA-E410-8199-E474-6984F9CCAF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3646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F37F664-A1B6-538E-F81D-45B87E67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A30A37-15B4-7FE3-CAD5-CDBA72998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254203A-267C-0720-6BDA-8D97D27D91B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910FAC-9585-4461-B9CC-0A91BB8A798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6173F91-3C66-7894-356D-A9350988AF45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F975431-3F99-30AE-0CD4-6B6C639C854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5516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6EA7A056-1991-2066-9DFF-5961B15D9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546985-B3B2-EFE4-7FA7-4AD649B7C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75C8A65-7653-D5A0-F51F-475C961791A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3F6FA7-FFE5-ABEB-CEF8-9BCA868B2D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A2F24D8-7622-3EB9-D7A6-7835F1A0EFF0}"/>
              </a:ext>
            </a:extLst>
          </p:cNvPr>
          <p:cNvSpPr txBox="1">
            <a:spLocks/>
          </p:cNvSpPr>
          <p:nvPr/>
        </p:nvSpPr>
        <p:spPr>
          <a:xfrm>
            <a:off x="-97373" y="1910560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E4096EF-6D9D-7A6D-794E-C044BA2B802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3010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FD179C5-A645-9742-2820-06C8672E1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50BE27-2016-B8D2-2FBD-8C34D39E2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2DF907-7CBA-20B4-96C1-DAAE2894B26F}"/>
              </a:ext>
            </a:extLst>
          </p:cNvPr>
          <p:cNvSpPr/>
          <p:nvPr/>
        </p:nvSpPr>
        <p:spPr>
          <a:xfrm>
            <a:off x="-364385" y="-157447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840F7E-FD94-4B4C-078C-F44B5C8F03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E2DEFC9-6B7E-79EF-5BE6-B708A8BAD959}"/>
              </a:ext>
            </a:extLst>
          </p:cNvPr>
          <p:cNvSpPr txBox="1">
            <a:spLocks/>
          </p:cNvSpPr>
          <p:nvPr/>
        </p:nvSpPr>
        <p:spPr>
          <a:xfrm>
            <a:off x="1818021" y="2078026"/>
            <a:ext cx="4793794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92CF1F8-36F4-3191-B350-E4ACBC7D723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7997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E2CA9B-1E83-0BEC-6CE7-A43BAEE6F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DE3B7-C4DA-1DD7-CBD9-15EC2F277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CC56B4-E3D6-3C9C-BA6D-6CCFAF89220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FAA03-D9C5-3437-3608-CCAE23444BF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36653C-FC4F-3831-A229-B8C9CFE0F2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600F444-5CB7-41C5-3FB0-283B3DA03CD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0DC92D-D8A0-104C-4007-72F182376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932" y="1152475"/>
            <a:ext cx="6677989" cy="375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5A573E-D18A-CA8D-159E-D63F1CEA28F2}"/>
              </a:ext>
            </a:extLst>
          </p:cNvPr>
          <p:cNvSpPr txBox="1"/>
          <p:nvPr/>
        </p:nvSpPr>
        <p:spPr>
          <a:xfrm>
            <a:off x="610205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Animalia</a:t>
            </a:r>
          </a:p>
        </p:txBody>
      </p:sp>
    </p:spTree>
    <p:extLst>
      <p:ext uri="{BB962C8B-B14F-4D97-AF65-F5344CB8AC3E}">
        <p14:creationId xmlns:p14="http://schemas.microsoft.com/office/powerpoint/2010/main" val="3987523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CF8BDA-8592-D04F-6FD3-B7656A122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B23CCD-0D1B-B44A-0657-9FCD73138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82EA130-52D3-61B3-95B1-CC65E17A711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494873-7608-EB8E-7BDA-52B741B600E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00C4E8B-B3E1-C348-AF2F-A3BEA62A54D9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5CA128-5CB0-4A25-E64B-4186C3F0075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385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E057C8-A6C9-5E54-F3BC-620D7FC9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DC6DAB-3B42-A9BE-F854-9131DE600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4FF10F4-866C-882F-2BC6-9FEA78AFF69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67A799-98FB-26A5-A7B5-950C31C431E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8F7B752-EF95-2408-C0E4-A718EBECAC3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99203F-F2B8-7B1D-4B09-896BC00058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852F6C-02B5-E436-8248-819FCCBEC46D}"/>
              </a:ext>
            </a:extLst>
          </p:cNvPr>
          <p:cNvSpPr txBox="1"/>
          <p:nvPr/>
        </p:nvSpPr>
        <p:spPr>
          <a:xfrm>
            <a:off x="73660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Jean Beaufort</a:t>
            </a:r>
          </a:p>
        </p:txBody>
      </p:sp>
    </p:spTree>
    <p:extLst>
      <p:ext uri="{BB962C8B-B14F-4D97-AF65-F5344CB8AC3E}">
        <p14:creationId xmlns:p14="http://schemas.microsoft.com/office/powerpoint/2010/main" val="293076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4CDD967-B9A7-7244-5127-9A0CF54B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D5AAC8-E9FE-9291-FFCA-03B549DFC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5C2A9D5-FE8E-4516-C41E-15EF6F350B9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608C30-FE4A-5E5F-C5A6-FD1710463A4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9CE50E6-7F72-9B6A-2158-9824D3C184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09ADB9-7287-EDAE-5BFB-A697F0A5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1BCBA6-F331-C1EB-1339-6C2D7A1ED5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4192EC-999F-8464-3EDE-8CA2F7DFA6F7}"/>
              </a:ext>
            </a:extLst>
          </p:cNvPr>
          <p:cNvSpPr txBox="1"/>
          <p:nvPr/>
        </p:nvSpPr>
        <p:spPr>
          <a:xfrm>
            <a:off x="312821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Robert Jago</a:t>
            </a:r>
          </a:p>
        </p:txBody>
      </p:sp>
    </p:spTree>
    <p:extLst>
      <p:ext uri="{BB962C8B-B14F-4D97-AF65-F5344CB8AC3E}">
        <p14:creationId xmlns:p14="http://schemas.microsoft.com/office/powerpoint/2010/main" val="11840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927027F-E349-1B31-8156-BD946885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96EBCE-40A9-B51C-DCCF-B6E8A688A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D6E9B6F-9A1C-4C88-672E-E96F1F5126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B93A8-FF29-DA1C-D5AD-D39D8E982C3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D0C06F-44DC-A5D6-F343-D309A3D7B92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19FD38-2112-AF21-C83D-ECBD5082FC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9A8769-B956-5458-341E-3DADED24276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08035E-6018-BF88-CCD9-72D35E3376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583" r="53720"/>
          <a:stretch>
            <a:fillRect/>
          </a:stretch>
        </p:blipFill>
        <p:spPr>
          <a:xfrm>
            <a:off x="5519820" y="1320521"/>
            <a:ext cx="2095500" cy="33213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24B0674-1585-46A0-95AE-37384C5A1D0F}"/>
              </a:ext>
            </a:extLst>
          </p:cNvPr>
          <p:cNvSpPr txBox="1"/>
          <p:nvPr/>
        </p:nvSpPr>
        <p:spPr>
          <a:xfrm>
            <a:off x="5519820" y="464184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</a:t>
            </a:r>
            <a:r>
              <a:rPr lang="en-US" sz="1000" dirty="0" err="1">
                <a:solidFill>
                  <a:schemeClr val="bg1">
                    <a:lumMod val="65000"/>
                    <a:lumOff val="35000"/>
                  </a:schemeClr>
                </a:solidFill>
              </a:rPr>
              <a:t>CoastAlaska</a:t>
            </a:r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 News</a:t>
            </a:r>
          </a:p>
        </p:txBody>
      </p:sp>
    </p:spTree>
    <p:extLst>
      <p:ext uri="{BB962C8B-B14F-4D97-AF65-F5344CB8AC3E}">
        <p14:creationId xmlns:p14="http://schemas.microsoft.com/office/powerpoint/2010/main" val="1108277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666D5F6-6B83-FE7F-23E0-A58742E5C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741B87-7744-DA6B-BDB0-C91064C17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3F39E5A-F4E3-1500-5A28-A2A609003C7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3956D0-3A71-F869-16B3-E26BCDDC6A6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A40F0A5-0F48-E56D-E64A-1C3713069E0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593D35-A63F-3BA1-8738-08F6EAE13D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5434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BAF18B-351B-6CB9-CE77-8430827B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713EA3-4E73-8331-3D5F-020796E6B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4ED670-BB75-3EF8-226A-488FC22630A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CC26D1-946D-EDBD-0156-75CE409FE5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E0689B-191E-EB57-C814-49ACF8D229EC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Not great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13D84-3D9C-7E5D-3829-CBC8AC3DCD7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184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B20C72-CF4E-0BA8-41A3-273CD8D2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29C71A-7ADC-72F2-5726-9614D8E6A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CF7DD40-3B15-F8F4-B215-7ED9B4A45A3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21B7D-5071-4B9C-D5D6-96BFB8AA2B7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14EFB66-5E50-9EE2-D0DC-69C60604359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62ADB55-CE9E-435D-72F1-C08D74A017F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340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4ABA57-5EBC-A11E-67A2-4E2670CF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28AC4A-DD8A-BAA1-016C-47F3BB7D1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B1DCF0-E655-721B-7A32-9DDC8A87E11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DC9359-88C2-38BD-F682-AF27669E965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12743D6-351C-F1AE-E7D4-2B53DF0F4AD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2D91632-0D34-A681-EBB8-9EA25C51574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8724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9CC4BE1-7C47-B0F1-1B3F-F5924CB25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754284-58D8-FF50-3F6E-7D1BF3C6D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E7654A-24B1-4AAE-1BAD-CAFF9FC126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9E0EF6-A66F-50CF-EFD4-306DCDD09F59}"/>
              </a:ext>
            </a:extLst>
          </p:cNvPr>
          <p:cNvSpPr/>
          <p:nvPr/>
        </p:nvSpPr>
        <p:spPr>
          <a:xfrm>
            <a:off x="-91439" y="-106224"/>
            <a:ext cx="9235440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290FBA-F905-FDD0-F73D-7011A9A35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8975" y="0"/>
            <a:ext cx="5826050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99C85D-A989-AA16-4976-A1B6CB7F6C13}"/>
              </a:ext>
            </a:extLst>
          </p:cNvPr>
          <p:cNvSpPr txBox="1"/>
          <p:nvPr/>
        </p:nvSpPr>
        <p:spPr>
          <a:xfrm>
            <a:off x="5589825" y="493183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NOAA Fisheries</a:t>
            </a:r>
          </a:p>
        </p:txBody>
      </p:sp>
    </p:spTree>
    <p:extLst>
      <p:ext uri="{BB962C8B-B14F-4D97-AF65-F5344CB8AC3E}">
        <p14:creationId xmlns:p14="http://schemas.microsoft.com/office/powerpoint/2010/main" val="446311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161133-FEB4-9328-BFCC-FBAE422B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672A73-FFFF-832A-D454-E2902860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6413E7-0351-007E-209C-8252F724243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88BEE-CA13-924E-CF2A-6B95D62B19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4F5C2A3-B4CB-FBC3-D1CD-9B1D6633528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5C86FCF-7134-5862-FCEC-C52E7ABF16C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755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E96831B-7333-B903-C3F7-379847C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6DD6B3-350E-AB06-C206-4B579D7FD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13B227-0A3B-B58E-8117-4F685A44239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9B3C6-8D14-9641-8669-D17F899C223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76D907-CFF2-CE45-82FA-2188759A23C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C27567-3A0A-DF47-30EF-8EA5CA803F5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55686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3A55A7-64FF-9275-1CCB-172E1BFD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4E3B0A-8D55-764B-990D-F9A80BA12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1CF7696-EE9C-5B83-C4B1-7AF235834F9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52C3E-C52D-BBEF-371F-7483CB996D7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D5E8AAB-F85F-9357-080E-F8A33BED072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80C721-37DB-DE0C-B728-9393C5D458B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7324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785AF92-952F-F46A-C1AB-D8838B2C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88C337-657F-A2D6-4825-E297FCEF3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A649D-2F49-C0F0-4AB2-55A803D3EE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6268FB-FEB0-A2BF-8E96-D5C8BC9C558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45ED82-DD93-B691-FD82-4228C7AD892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C7839EB-F544-B44C-489F-237D006BE2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Ongoing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8744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C9854B5-3485-1635-C6A7-AFB06698D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47F6C1-B46C-B982-CDD3-7DEAD6ABE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5D14ED-2464-64C6-BFDD-1762FEF2FEA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D39E2-C163-756B-3214-EDF482AAE7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12039D-A23F-B542-3C05-7E43F66226AE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salmon aren’t doing great?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A17C81-8C8F-DEE1-C442-8836918681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7510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D674D1-68EA-32CA-4083-BC2E424E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9FBFC4-491C-DB15-7A09-15D299E29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A2E718-0E76-BC66-026D-769C5D66E0D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C700AE-2BEA-A27F-ED67-14D3D12B75A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5D06E59-EB87-B90E-C618-D2F017FCEE92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CC14CA-F7FE-D6CC-6F04-E6E625ED93C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29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AEC761D-1BD9-5334-423C-FBE504005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140D7E-C8D7-A24B-D94A-A1C9D3CFD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826050-7569-4F4E-655F-6402CF410EF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C2271C-AFA3-0371-3A68-821F5177526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689D1CC-EBEF-66C0-42DA-AB3088C17C30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E0F00E9-26D2-948D-00C1-AE3C0FA668A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3794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69F3FA7-90B0-D74F-3729-2A3BD6A8C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2DEC1E-92BB-37B4-B16E-3AE2C8534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A59C6CA-7B36-3E47-9D71-CB09D1EB681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D111B9-3826-390B-3397-10125CA993D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2F16A25-1D63-0723-13BE-89309908A727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about the rest…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92C4BB0-73E8-5948-A458-A85CF40CDE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1165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9A2E10F-D4A4-C620-3614-CF14502D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1E89D-DB86-2BCA-3178-7F40AE289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D138474-47F7-6788-FE98-6779B6AC806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484D4F-E4D3-021E-1F54-9632A53BE6D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E67E0E-D7C0-3973-94C3-BEFBD0F3DDC3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about the rest…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 using a variety of methods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3C02814-A657-09BC-2938-8241CB02B0F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7685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20BEC43-A1F7-0A1A-FAED-34E2D23E4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2A6BB9-A3BC-6AF1-20F9-4258D1C5C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93D2FEE-ED6B-E6A7-43AD-76BA0AB0A65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2C5D8-D7D1-2343-45BC-FDB1FCDBE60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23BD5BE-51D7-878B-6BBD-07A527ABD5A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C175CE-BA84-82BB-1C53-9E9C76E0D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9634"/>
            <a:ext cx="4677410" cy="31197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96B8FE-C255-8080-6D3C-D061F2444E3A}"/>
              </a:ext>
            </a:extLst>
          </p:cNvPr>
          <p:cNvSpPr txBox="1"/>
          <p:nvPr/>
        </p:nvSpPr>
        <p:spPr>
          <a:xfrm>
            <a:off x="5451232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US Bureau of Land Management</a:t>
            </a:r>
          </a:p>
        </p:txBody>
      </p:sp>
    </p:spTree>
    <p:extLst>
      <p:ext uri="{BB962C8B-B14F-4D97-AF65-F5344CB8AC3E}">
        <p14:creationId xmlns:p14="http://schemas.microsoft.com/office/powerpoint/2010/main" val="3121375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81DCC8B-A42E-9135-31F0-6D9045556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E9B7B4-D83D-AD4F-180D-C409C6B3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B40C205-2560-8D3D-3688-5D66DD5B991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8549A6-83F9-8E1F-6683-F8041A4C5CF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36A5D2B-023C-070E-0C7A-576D40E0DBB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AF8165-9D3B-4F2C-BCA5-3ECB7FF38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0498"/>
            <a:ext cx="4677410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9DEE3B-1543-80DD-E1CD-F8D49642605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National Parks Gallery</a:t>
            </a:r>
          </a:p>
        </p:txBody>
      </p:sp>
    </p:spTree>
    <p:extLst>
      <p:ext uri="{BB962C8B-B14F-4D97-AF65-F5344CB8AC3E}">
        <p14:creationId xmlns:p14="http://schemas.microsoft.com/office/powerpoint/2010/main" val="1746546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9EE9CDD-4FDD-021A-E5B9-3D5693D2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E3F45-FE25-952B-BDAF-0BA63087F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FE2CC7-A73E-5C13-689B-E1FF0E7645D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40932B-58FA-5A9F-EDD3-9E46B57CE30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DC4EAC5-24BB-2CF0-8E2C-B93B332E007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D7DF2-0D68-4BBA-E4FB-5B92DD94F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5450" y="1730498"/>
            <a:ext cx="3687326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7F2DC3-82AE-DF9A-C694-6AE32FE17B3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020707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6BE824B-8B05-B1CD-7445-80A58161A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70940D-0A6F-CF20-E385-3223C52F9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28D5E4-F780-D84E-6C48-67245AB9469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EC5F3A-3C6F-868E-7C4F-4853B42C488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1BCEB2-0B0E-BF20-8FFE-0CE65CB9FDE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95B603-3444-66F7-AC1D-0FE28EC26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7452"/>
            <a:ext cx="4697986" cy="31289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369C33-CA5A-C0E9-C8F5-E8F6939FF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004" y="1730498"/>
            <a:ext cx="4638996" cy="31258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48C858-FA5E-E7AF-A6A6-4CBB8C51AC3A}"/>
              </a:ext>
            </a:extLst>
          </p:cNvPr>
          <p:cNvSpPr txBox="1"/>
          <p:nvPr/>
        </p:nvSpPr>
        <p:spPr>
          <a:xfrm>
            <a:off x="5495194" y="48392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US Fish and Wildlife Service</a:t>
            </a:r>
          </a:p>
        </p:txBody>
      </p:sp>
    </p:spTree>
    <p:extLst>
      <p:ext uri="{BB962C8B-B14F-4D97-AF65-F5344CB8AC3E}">
        <p14:creationId xmlns:p14="http://schemas.microsoft.com/office/powerpoint/2010/main" val="27981588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F6DECE7-DE15-DCD0-DDA0-ABE9919A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BED95C-96C8-D786-F0F2-BAE7B335D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3C11058-FF1E-D3FF-3DCF-3AADE68E662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7D370A-0240-CB04-D92F-48310CBEC7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7184D47-68E5-8D6B-E8F9-EDB91A0AF5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996561-24DA-93FF-63AD-97C8CF280E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9144000" cy="3302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0625D-776D-C285-09D5-FAD46CD70CC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Nic McPhee</a:t>
            </a:r>
          </a:p>
        </p:txBody>
      </p:sp>
    </p:spTree>
    <p:extLst>
      <p:ext uri="{BB962C8B-B14F-4D97-AF65-F5344CB8AC3E}">
        <p14:creationId xmlns:p14="http://schemas.microsoft.com/office/powerpoint/2010/main" val="4208655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E998FD6-6C14-5859-8BB1-5C3BB1BAF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FC5451-798E-5DDD-3DF4-9AF22DE26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226C42-49FB-3373-BDAD-1F33B5F2158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CDE2E7-2134-B1A6-CB17-5DD4D84FBB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8EA9FB-5D36-433F-AD1F-95B2C58B41E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96E1CE-85CE-F366-2447-7EB47DFDE209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U.S. National Archives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C26DFF-9F52-81D1-1ED4-65563329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211" y="1740703"/>
            <a:ext cx="3723804" cy="316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340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714EAE-B293-5BFF-009E-678B484E8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28499B-8D97-4125-79E7-B1BA1DC3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E26D8F-CC6D-514F-ACC6-2C29BC3A3D6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A9A8E0-9DB2-A6FA-11C3-6756C7378E8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D13643-B848-7EF5-DFA0-093456FD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3713871" cy="1341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6B7CCA-12B5-1CF3-1B77-68433D3176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3871" y="1673411"/>
            <a:ext cx="1791209" cy="15199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75EA7-C577-7829-6F0C-6AAF75C9D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5080" y="1673411"/>
            <a:ext cx="2814783" cy="18829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1A6C10-9E06-CA91-5ED0-A555C56039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972985"/>
            <a:ext cx="2823025" cy="1882936"/>
          </a:xfrm>
          <a:prstGeom prst="rect">
            <a:avLst/>
          </a:prstGeom>
        </p:spPr>
      </p:pic>
      <p:sp>
        <p:nvSpPr>
          <p:cNvPr id="14" name="Google Shape;92;p19">
            <a:extLst>
              <a:ext uri="{FF2B5EF4-FFF2-40B4-BE49-F238E27FC236}">
                <a16:creationId xmlns:a16="http://schemas.microsoft.com/office/drawing/2014/main" id="{1FD8B541-CAFA-9CE5-FA56-AA835EB2E1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3BC717A-560C-254C-8918-3A16C48E5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5475" y="2964414"/>
            <a:ext cx="2794387" cy="1882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C395CD-7508-5FB3-A485-508C77808C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93079" y="2964414"/>
            <a:ext cx="2818937" cy="18774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C294CE-1F97-9DC6-63DF-272AB15E20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56935" y="2964414"/>
            <a:ext cx="2213693" cy="18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204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678B2C9-8E5D-E056-71BF-E7001A9A0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6AE35E-C6A4-8458-34F7-2362DCD51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ACD1FF-8D5B-169E-B1E8-81D3B0B53C0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314807-8BCA-15F3-034C-C84692BD9D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372266A-C62B-8BC2-80E8-DA6B9651CF6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comparable are these counts?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99FAFBD-2F6D-CE66-FB63-E487D070C34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946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8F85342-A6EF-0A85-6612-CAC14A761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9DCBC-3C79-BAB8-8E05-E656A353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E4B57A-DC62-1393-97F8-50B18A301B9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A02231-493F-BC1E-62CF-A2AD6084F90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546BF8-86CB-A301-8AAF-1C3617CBA9D5}"/>
              </a:ext>
            </a:extLst>
          </p:cNvPr>
          <p:cNvSpPr txBox="1">
            <a:spLocks/>
          </p:cNvSpPr>
          <p:nvPr/>
        </p:nvSpPr>
        <p:spPr>
          <a:xfrm>
            <a:off x="311700" y="1654392"/>
            <a:ext cx="8014153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Research goal: Evaluate salmon survey methods for precision and directional bias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4805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3A8088-DB8A-5F51-4ED5-E99250031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49D916-F325-904E-F4DE-2D21DA78A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22C65B-1D76-09BA-E1BE-E577EBACE1D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5454BF-A8FF-7DEF-383D-81EC55E8D5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BA1B360-834C-5CDE-0EB2-8BC4EEEAFC62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D2BF03D-8853-D64D-96F0-C89B0D725C6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4510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74EDD75F-25B6-6761-6ACD-BD252E77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0429ED-B8CC-9854-6459-6BEDB77DF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04A674-9C34-12E2-6F52-CE3D5B83955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3F6877-3417-6400-F43E-381936AA64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79B32EE-9FF4-4997-84D6-3D8D3ACD45F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D4AC916-0000-B932-D1C9-5C9ACFEC60E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842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4A5C11-5440-97F7-3A19-6479DEA9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53C42-0907-44E5-07FE-29212C5C3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0098A7-03D4-41FC-A22B-540DE497E9E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E1205-5EEE-5F6C-645B-CC239D1F514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8F33363-2C62-EDC0-85C6-CFDE6E74BB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FB916A-7A56-4257-8DEF-E8C44FFC9B9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041057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5049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29C3318-986F-BD84-0B8F-C48767711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B14478-1253-BEC8-321F-D9BA7D337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A22B17-9425-5105-8332-0E1AFA6D70D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CAD3D1-A912-4B08-ABBE-F50E704A39D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97A6F3A-37DC-5836-4AC6-14D0550151B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D3FB0AA-A77F-48FC-6E89-3A6AE8834F6D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2685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91FAB3-20AD-EFCF-C84C-FC7C8F338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2A2E7E-1F96-D7B7-8AFA-A83BDDE25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630719-FA08-9792-A859-F0CF167A826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814CAC-0921-6F46-1BD8-4111EE8BDA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121C85C-5BB6-C928-36A4-47DA789ACCB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FDB709-21B6-D284-7D99-BE395FA005A0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0155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0A9154B-7F7B-6AD3-6ADB-7970DC948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4892AB-78E0-A2EE-C56C-F67B8F03B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5E08BE-6EBD-0C18-F806-91CC4FAC8F0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AC3D22-F43F-2D6B-F959-574DDA4571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62B433D-DAC1-29DC-7A92-F22CFA2216D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BA2A337-F1A8-9986-A896-90FF40E75FD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70382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56490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0F7F6E5-8D4A-631D-EAFC-4B6D232DD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02B624-3FF3-570D-E342-4D5414277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CB3B01A-0D50-271B-59CB-B0D847DAE12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EB03B8-03A6-0E9D-AE68-86F20368D5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D32749-3087-6F37-7C43-7526F93C6D0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C65D16D-AA3A-BE10-F4F4-1509C8FBCE8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296569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595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014541-6EC0-27E3-A613-A71BA026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5D4034-345F-CED1-134B-EAF4726CB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A44FD1-2BAF-713D-5BBB-6D46DA406F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0785B0-2D33-DC51-16EF-2AAB81DC47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FA7986E-EFD7-1F67-B810-A46D86683824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7380337-088D-ED6E-F14B-AE45A8C77244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504038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31 survey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06630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7355048-7985-F5CF-933B-6AF844EA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5C6F66-F872-5ED8-A8EB-09A55B64C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9C6280C-5004-1046-656E-83B85BD62A4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92A6C9-6AAD-6A71-AF89-2AF5BF5CB99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CFBF47C-AAD2-6451-777F-F59B66D6DA9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Observed time series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ADD8A1-5870-6847-88F2-226BCD50C2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07" y="1136579"/>
            <a:ext cx="7009970" cy="385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8628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16329A1-7228-3981-7A74-55F361E0E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B85503-D62C-D411-115E-DEB8D6A53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714EA49-37AA-54B7-8A52-6E097AFC55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151DBC-C60A-6686-1202-2C45A367F6B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90FE531-DDF8-E52D-F82F-B9E5CC4697B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2F8420-596E-E88C-48F3-1C0FF04A7951}"/>
              </a:ext>
            </a:extLst>
          </p:cNvPr>
          <p:cNvSpPr/>
          <p:nvPr/>
        </p:nvSpPr>
        <p:spPr>
          <a:xfrm>
            <a:off x="0" y="106926"/>
            <a:ext cx="8325853" cy="492964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73A4B2-7CAE-7EDA-E2DC-F4941EAC3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6926"/>
            <a:ext cx="3605503" cy="49296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3FDAA1-8FD5-824B-49EA-E2E46B4E1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5503" y="106926"/>
            <a:ext cx="3318970" cy="4929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8401A-B3B6-CCCA-A99B-D10E6DB11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4473" y="973437"/>
            <a:ext cx="1246851" cy="319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128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86B2480-7E5A-0854-A4E2-E04F81A8A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48A201-567D-6AB2-7647-2E6B308E5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AA48769-6952-6E49-365E-EF732C8BF30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0F8037-1B2B-5EB4-4D82-EB0F872F3FB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1526852-566B-92FE-487B-C38D1F6650B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Survey methods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AE5069-7FC2-E75F-DD7F-6F1F9FD50F51}"/>
              </a:ext>
            </a:extLst>
          </p:cNvPr>
          <p:cNvSpPr/>
          <p:nvPr/>
        </p:nvSpPr>
        <p:spPr>
          <a:xfrm>
            <a:off x="1039900" y="1557563"/>
            <a:ext cx="6246054" cy="2186326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and black list with black text&#10;&#10;AI-generated content may be incorrect.">
            <a:extLst>
              <a:ext uri="{FF2B5EF4-FFF2-40B4-BE49-F238E27FC236}">
                <a16:creationId xmlns:a16="http://schemas.microsoft.com/office/drawing/2014/main" id="{ED234CCC-6FE7-9E53-C92E-EAD4AF26228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84" t="10374" r="11557" b="47352"/>
          <a:stretch>
            <a:fillRect/>
          </a:stretch>
        </p:blipFill>
        <p:spPr>
          <a:xfrm>
            <a:off x="1039899" y="1557563"/>
            <a:ext cx="3123027" cy="2059716"/>
          </a:xfrm>
          <a:prstGeom prst="rect">
            <a:avLst/>
          </a:prstGeom>
        </p:spPr>
      </p:pic>
      <p:pic>
        <p:nvPicPr>
          <p:cNvPr id="8" name="Picture 7" descr="A white and black list with black text&#10;&#10;AI-generated content may be incorrect.">
            <a:extLst>
              <a:ext uri="{FF2B5EF4-FFF2-40B4-BE49-F238E27FC236}">
                <a16:creationId xmlns:a16="http://schemas.microsoft.com/office/drawing/2014/main" id="{76944918-0FFA-629E-DD3C-5166B4F5D5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875" t="52090" r="10665" b="3037"/>
          <a:stretch>
            <a:fillRect/>
          </a:stretch>
        </p:blipFill>
        <p:spPr>
          <a:xfrm>
            <a:off x="4162926" y="1557563"/>
            <a:ext cx="3123027" cy="218632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78510A2-7B68-7048-BCDC-6879F22EFEBF}"/>
              </a:ext>
            </a:extLst>
          </p:cNvPr>
          <p:cNvSpPr/>
          <p:nvPr/>
        </p:nvSpPr>
        <p:spPr>
          <a:xfrm>
            <a:off x="4572000" y="1557418"/>
            <a:ext cx="12573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2967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39CAE77-D9AA-F73D-5E65-58828572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189A80-47AE-A424-EB6B-ADE056FA4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BCAA42-2B74-EDE9-72AD-08D26678FC8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56EEB5-CAE2-C8CA-90C8-63A7AD1CAD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B532A17-60EB-79CB-0F52-D0B53EDEAAB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Survey methods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12F83F-1F7C-65BD-504A-6C18D4E92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594" y="1189921"/>
            <a:ext cx="5956365" cy="383823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CB516F2-6B1E-41F0-A6BF-0C44F6396741}"/>
              </a:ext>
            </a:extLst>
          </p:cNvPr>
          <p:cNvSpPr/>
          <p:nvPr/>
        </p:nvSpPr>
        <p:spPr>
          <a:xfrm>
            <a:off x="1552575" y="1876425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2DC088-C489-3854-22F2-D6F71D2D6608}"/>
              </a:ext>
            </a:extLst>
          </p:cNvPr>
          <p:cNvSpPr/>
          <p:nvPr/>
        </p:nvSpPr>
        <p:spPr>
          <a:xfrm>
            <a:off x="1552575" y="2715329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BEF23C-B7AB-5D3F-4D2A-DB4FBD2B2B30}"/>
              </a:ext>
            </a:extLst>
          </p:cNvPr>
          <p:cNvSpPr/>
          <p:nvPr/>
        </p:nvSpPr>
        <p:spPr>
          <a:xfrm>
            <a:off x="1552575" y="3602831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2B97AA-64C5-127F-BD35-468A0938E45E}"/>
              </a:ext>
            </a:extLst>
          </p:cNvPr>
          <p:cNvSpPr/>
          <p:nvPr/>
        </p:nvSpPr>
        <p:spPr>
          <a:xfrm>
            <a:off x="1552575" y="4490333"/>
            <a:ext cx="209550" cy="1524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206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1D9AC4E-FEB7-D116-3BAD-174221E6E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CB01FA-6069-5EFF-998A-891E74556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80ABC2-8AF6-47B7-97B4-9A63ECE6452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62C2F0-F819-C542-8AEF-7F108084C9B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090F10-6D81-6774-61EA-D6DC82AEC30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Survey methods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C970C7-4389-D5DB-0F67-4916FAE45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593" y="1189921"/>
            <a:ext cx="5956365" cy="383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208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A470C0C-9C83-08AB-0A1F-7506139AF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72AD13-26D7-E47B-72BB-CDAC87CAD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3D605C-4458-F3FD-DD6C-51824D4BE15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E960A4-12D2-65EA-3A63-17CB7DD1382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802A580-3D19-F752-516C-9C3FBEBF8DD2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904556-4328-3593-6F92-52899DB8420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4071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0784720-26A8-32ED-CED3-A6E47096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B1AA1B-B580-82C1-1F60-1FBD027BA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BDA99D8-33C5-B7CB-67B1-CD33A8B1CF0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1AFDD8-3715-43C9-F05C-16B1556BF8D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EE1FCB-F79E-EF98-411C-DBE5176DF3C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Analysis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42B472-66EB-2FFC-AC52-A7CB5A8836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3671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F2C6B0-9165-7037-8560-F6F79FD28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18ACD3-0326-22C1-723B-FF4E0D3B4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F1077A-44DD-70CD-2D15-E49CB06BEE1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472A79-0AC5-559E-7B1B-017D4B31605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BDEC21C-CA9E-2AD9-0D97-B00D75EE3FC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75BED9-E453-E25D-C407-390240A1612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8171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D4BF78D-697F-20AA-44F4-DE080530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9F3B6E-8A0C-BB91-3A41-BC73DCDA5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39ACA97-3AE1-1421-9797-67D5587FDD7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8A3600-CCF1-0ED0-8CF5-EE0BCB7D58E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910C7B-DA53-BF8F-0A4E-C9EA61851A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A0BB776-84CA-2D31-62EA-6020A53B252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</a:endParaRP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5362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13A6FB6-8A09-A53F-5CCD-275450BF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F22BDA-B4F9-4406-16D4-8CC2019B2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5F25AB3-0F63-1A27-BDDC-D9C2D5AC8C3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2E005F-AEB6-F00B-E6E1-557613ADEF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75D2F95-478B-52F1-C59F-EC3C887166F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2F183A-28ED-9C8F-76BF-CD2BFF01807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y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=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Zx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+ 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</a:rPr>
              <a:t>a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+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, where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 err="1">
                <a:solidFill>
                  <a:schemeClr val="tx1">
                    <a:lumMod val="50000"/>
                  </a:schemeClr>
                </a:solidFill>
              </a:rPr>
              <a:t>∼MVN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(0,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</a:rPr>
              <a:t>R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69960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3BE49E2-41F3-E61E-3BB8-239628487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E92623-59E3-AB1E-8DD2-4DF52F1B3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07C0DA-4343-C149-2290-ACE1EF1C708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0423B-5B8A-14C9-E18A-76CFBD205DA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E3CD6E2-2F28-5293-3B1F-E6F85753478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6256C5C-B56A-CB23-5EC6-05F7750495E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In English?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71315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81A9F10-C7BD-7D54-2499-8C5B3442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7FEEB4-FFA7-26F8-A69C-5D5A7A8A0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6A7889C-9FB1-98CF-9CDA-62F083A01E1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2E1D2-CEFA-E148-73E5-A3DC0C798C2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A1C5A18-F3A0-5CF3-C85B-7F08ED4BD6F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AB8CF60-15E4-FFD8-725A-0890B8CF97D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</a:endParaRP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5130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CBD9524-C5F3-617C-C34A-E04841B23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AE5319-BF24-528B-EBA0-96985C63B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C905F97-6639-541A-DDAF-79FD176C7BC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A845F7-B9FE-0B80-2C77-05108B6A214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1452ED4-17F6-78A4-E6C3-0727DF45734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606334E-8E3D-5D67-8B5A-BD1D9A4E781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tx1">
                  <a:lumMod val="50000"/>
                </a:schemeClr>
              </a:solidFill>
            </a:endParaRP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35139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4C3E2C1-3DBF-FC65-3FF1-8D2139C6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50AC7-7AFE-A866-17C6-7B648AE56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A3C2754-AC1A-6B16-E43E-F071E3DBC51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918E8-5006-28B1-9AC3-49EDB0C3DF1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79B89F1-0ED6-882F-E17C-C4677C33B3A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056BAB9-E55C-E265-5538-FE42048F51A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34307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DF5F180-0D80-700E-001F-FF80110B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735B55-0C7C-4AFA-0C7E-CFF0763D7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483554-0211-11D9-0004-34FA8B44FFC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64FFB-9F89-92AF-BAEE-0B5F8A1F28E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4491E5-F958-AD72-67BD-0215CFD1915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B8A211A-F4DD-95E9-5091-9EE03E4B95FE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rgbClr val="0400FF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  <a:r>
              <a:rPr lang="en-US" sz="2600" dirty="0">
                <a:solidFill>
                  <a:srgbClr val="00FF04"/>
                </a:solidFill>
              </a:rPr>
              <a:t>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</a:rPr>
              <a:t>	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EE09F-5A4E-E9BA-9262-590E456D9164}"/>
              </a:ext>
            </a:extLst>
          </p:cNvPr>
          <p:cNvSpPr/>
          <p:nvPr/>
        </p:nvSpPr>
        <p:spPr>
          <a:xfrm>
            <a:off x="5381624" y="3057525"/>
            <a:ext cx="1009651" cy="381000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4297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E433CD-26FD-7447-DFD9-ECE2395AB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F2BFF-5202-21FC-890C-140D5CE06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1E7A16-08F4-BCD4-6ECA-F4546BD81BF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9F6CE0-D4E5-A38F-0966-667D219E332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7900E4-20D5-E145-A0F5-9A5FA4538B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E03CEC1-2F74-7E94-9333-9AAB2260076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bg1"/>
                </a:solidFill>
              </a:rPr>
              <a:t>Observation = Abundance + 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  <a:r>
              <a:rPr lang="en-US" sz="2600" dirty="0">
                <a:solidFill>
                  <a:srgbClr val="00FF04"/>
                </a:solidFill>
              </a:rPr>
              <a:t>Accuracy</a:t>
            </a:r>
            <a:r>
              <a:rPr lang="en-US" sz="1800" dirty="0">
                <a:solidFill>
                  <a:srgbClr val="FF0000"/>
                </a:solidFill>
              </a:rPr>
              <a:t>	   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</a:rPr>
              <a:t>						</a:t>
            </a:r>
            <a:r>
              <a:rPr lang="en-US" sz="2600" dirty="0">
                <a:solidFill>
                  <a:srgbClr val="FBFF00"/>
                </a:solidFill>
              </a:rPr>
              <a:t>Precision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E7BC4C-7039-FC8C-DFC3-2D06F7E25F54}"/>
              </a:ext>
            </a:extLst>
          </p:cNvPr>
          <p:cNvSpPr/>
          <p:nvPr/>
        </p:nvSpPr>
        <p:spPr>
          <a:xfrm>
            <a:off x="6724650" y="3011696"/>
            <a:ext cx="885761" cy="40200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99509D-65BE-8140-5CE1-C229864E7D73}"/>
              </a:ext>
            </a:extLst>
          </p:cNvPr>
          <p:cNvSpPr/>
          <p:nvPr/>
        </p:nvSpPr>
        <p:spPr>
          <a:xfrm>
            <a:off x="5381624" y="3057525"/>
            <a:ext cx="1009651" cy="381000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7631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ECF52C8-CCA0-FDAF-D57C-D0876D15D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2665A4-9082-B515-24D4-F1342DD55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8514368-F8EE-2378-7828-C5A7FBD42E5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5F2D05-0E79-899B-35CF-C4136EDE55E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A09396-F1FB-0E86-A87C-6DAE10BD90A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28115F-8D43-F19A-CBB4-F4FDF3F3C882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447862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What am I concerned with?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Abundance = Prior year abundance + Randomness</a:t>
            </a:r>
          </a:p>
          <a:p>
            <a:pPr algn="ctr"/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Observation = Abundance + </a:t>
            </a:r>
            <a:r>
              <a:rPr lang="en-US" sz="2600" dirty="0">
                <a:solidFill>
                  <a:schemeClr val="bg1"/>
                </a:solidFill>
              </a:rPr>
              <a:t>Offset + Error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r>
              <a:rPr lang="en-US" sz="2600" dirty="0">
                <a:solidFill>
                  <a:schemeClr val="bg1"/>
                </a:solidFill>
              </a:rPr>
              <a:t>I am interested in </a:t>
            </a:r>
            <a:r>
              <a:rPr lang="en-US" sz="2600" dirty="0">
                <a:solidFill>
                  <a:srgbClr val="00FF04"/>
                </a:solidFill>
              </a:rPr>
              <a:t>accuracy </a:t>
            </a:r>
            <a:r>
              <a:rPr lang="en-US" sz="2600" dirty="0">
                <a:solidFill>
                  <a:schemeClr val="bg1"/>
                </a:solidFill>
              </a:rPr>
              <a:t>(offset) and </a:t>
            </a:r>
            <a:r>
              <a:rPr lang="en-US" sz="2600" dirty="0">
                <a:solidFill>
                  <a:srgbClr val="FBFF00"/>
                </a:solidFill>
              </a:rPr>
              <a:t>precision</a:t>
            </a:r>
            <a:r>
              <a:rPr lang="en-US" sz="2600" dirty="0">
                <a:solidFill>
                  <a:schemeClr val="bg1"/>
                </a:solidFill>
              </a:rPr>
              <a:t>(error)</a:t>
            </a: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553D3E-01A9-5A7D-DA76-F94FCB4BB401}"/>
              </a:ext>
            </a:extLst>
          </p:cNvPr>
          <p:cNvSpPr/>
          <p:nvPr/>
        </p:nvSpPr>
        <p:spPr>
          <a:xfrm>
            <a:off x="5381624" y="3057525"/>
            <a:ext cx="1009651" cy="381000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91AB59-5B43-D60E-C926-D791BEB07514}"/>
              </a:ext>
            </a:extLst>
          </p:cNvPr>
          <p:cNvSpPr/>
          <p:nvPr/>
        </p:nvSpPr>
        <p:spPr>
          <a:xfrm>
            <a:off x="6724650" y="3011696"/>
            <a:ext cx="885761" cy="40200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2699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59A8AF1-CE5B-D404-1C2D-53A67E015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4F6BAA-F428-DA41-21E1-A8171F7D3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9551CB-9D37-CFD8-E4BE-474C3EA9A1B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3C4D04-EED8-CD12-0CD6-07A20D0F503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5D8B713-981E-BEAE-A6F0-37E298E60068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6D06361-0786-9382-61BA-621FED6BC5D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87764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BC54FE9-0E8D-1727-C4E0-9BF7F081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47E424-2F51-7849-5E8D-AE48FBE73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5D2F3E-8357-C41C-56B6-BD4680E3D5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ABDC0-4937-3215-B2CC-B6BBC4156C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D57728-DC30-5EA4-A1B8-2D7F710EC39C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Results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EDEECD4-49D5-8272-F5B3-04F4B51FD2D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0972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ED6EDA7-C6EF-F82B-44BC-80BFF9FB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5755F-B88D-BD15-9111-5741377AA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936AAEC-746C-4B9A-6F22-7085743C2ED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90B917-7CB3-CA63-477F-4B23ED9C396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928A65-75E7-CF61-9799-498619E9C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4122" y="-504825"/>
            <a:ext cx="8669975" cy="6502482"/>
          </a:xfrm>
          <a:prstGeom prst="rect">
            <a:avLst/>
          </a:prstGeom>
        </p:spPr>
      </p:pic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CC4936F-4C5F-6D19-2AF6-3F8DA9154A66}"/>
              </a:ext>
            </a:extLst>
          </p:cNvPr>
          <p:cNvSpPr txBox="1">
            <a:spLocks/>
          </p:cNvSpPr>
          <p:nvPr/>
        </p:nvSpPr>
        <p:spPr>
          <a:xfrm>
            <a:off x="-2034201" y="3098750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/>
              <a:t>Chinook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F7A2E0-0CA8-E568-158F-AD2905E830B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A6669-E410-F46A-3FBA-1DDA5707E00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50000"/>
                  </a:schemeClr>
                </a:solidFill>
              </a:rPr>
              <a:t>Photo credit: Olympic </a:t>
            </a:r>
            <a:r>
              <a:rPr lang="en-US" sz="1000" dirty="0" err="1">
                <a:solidFill>
                  <a:schemeClr val="tx1">
                    <a:lumMod val="50000"/>
                  </a:schemeClr>
                </a:solidFill>
              </a:rPr>
              <a:t>Nat’l</a:t>
            </a:r>
            <a:r>
              <a:rPr lang="en-US" sz="1000" dirty="0">
                <a:solidFill>
                  <a:schemeClr val="tx1">
                    <a:lumMod val="50000"/>
                  </a:schemeClr>
                </a:solidFill>
              </a:rPr>
              <a:t> Park</a:t>
            </a:r>
          </a:p>
        </p:txBody>
      </p:sp>
    </p:spTree>
    <p:extLst>
      <p:ext uri="{BB962C8B-B14F-4D97-AF65-F5344CB8AC3E}">
        <p14:creationId xmlns:p14="http://schemas.microsoft.com/office/powerpoint/2010/main" val="68609399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988FEDD-A2B2-A896-B831-7AC0A6063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7A89CB-80AC-7229-71EE-EC25B31BD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CA25492-F5E5-7404-AD8F-A4A6077D1B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1CF3F-1A47-B101-5CC8-13C6996A4D9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C5814F-D136-1CAA-5684-302B551239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4F5995-9A42-F4CC-9BE6-B3DECFBD3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4483"/>
            <a:ext cx="8377091" cy="4447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4680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256C3E-1437-900B-AA6A-0046F06E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E8402-99A7-0990-6E9F-8F90A6D0A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BEDCCFF-6769-A4A5-90F3-BE12258D25B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A2AC4A-6326-49A7-EC3A-EDCCA035A3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31EBC2B-F6C8-6891-4547-A7177EFC7CD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162290-C1CA-D018-04C2-D3BEFF31A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6"/>
            <a:ext cx="8467805" cy="4461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2879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28CBE127-7D5D-8D03-070A-A070453C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5A40C1-20A0-ECE0-D584-98FC58629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DFCBDA6-229E-84AB-1D9B-0136A85217C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5D5646-ADE7-F603-9960-F38005C1490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5338638-6CC9-7B12-1344-A2ED2B2054E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image depicts a series of charts comparing the populations of various Chinook fish species in different rivers and locations from 1980 to 2024.&#10;&#10;AI-generated content may be incorrect.">
            <a:extLst>
              <a:ext uri="{FF2B5EF4-FFF2-40B4-BE49-F238E27FC236}">
                <a16:creationId xmlns:a16="http://schemas.microsoft.com/office/drawing/2014/main" id="{75EEE84C-6F9B-29E2-3151-E689A8851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3363"/>
            <a:ext cx="9144000" cy="479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831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88AC270-AE0A-5963-8FDE-1E318C3C6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0EBF55-1E89-C300-DE11-D128A6780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F7E12C1-656B-DD1F-7852-69CF8CF3EBE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7C3C13-BB0F-E40D-C590-9F35E99B8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32660" y="-357081"/>
            <a:ext cx="10437896" cy="62892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A1795F-AF30-6C05-9AB1-BEC510C907D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E05B2D5-A24E-CB7E-8631-319F3714128C}"/>
              </a:ext>
            </a:extLst>
          </p:cNvPr>
          <p:cNvSpPr txBox="1">
            <a:spLocks/>
          </p:cNvSpPr>
          <p:nvPr/>
        </p:nvSpPr>
        <p:spPr>
          <a:xfrm>
            <a:off x="-1237903" y="288275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/>
              <a:t>Coho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975B8BB-3956-DCE2-233D-B0B6371256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1AACF-0464-36F1-16DF-A0F89FD4793C}"/>
              </a:ext>
            </a:extLst>
          </p:cNvPr>
          <p:cNvSpPr txBox="1"/>
          <p:nvPr/>
        </p:nvSpPr>
        <p:spPr>
          <a:xfrm>
            <a:off x="5995219" y="4933922"/>
            <a:ext cx="37080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85000"/>
                  </a:schemeClr>
                </a:solidFill>
              </a:rPr>
              <a:t>Photo credit: Bureau of Land Mgmt.</a:t>
            </a:r>
          </a:p>
        </p:txBody>
      </p:sp>
    </p:spTree>
    <p:extLst>
      <p:ext uri="{BB962C8B-B14F-4D97-AF65-F5344CB8AC3E}">
        <p14:creationId xmlns:p14="http://schemas.microsoft.com/office/powerpoint/2010/main" val="28981846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CA5C10F-5A33-228B-4547-E28C5844C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63C08B-CB08-7435-96FE-1DB46BED8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90A70C6-2118-227D-FE44-F72154CD9C3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E6A99F-6C04-5D6A-0A03-D9AFCEC68BA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413060D-95A4-9DD1-446A-18345B2076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12ED93-4A06-BB81-9B64-190D8633D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450796" cy="448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2574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521FCC4-F213-C033-262D-A4CD1B78A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739FC8-67B4-0B4A-47DD-1C53E121D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084B227-75E3-E788-36FD-1B2FFEACDE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CFE1D4-E40E-101B-FD6C-B8A442F3FB7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F38876A-E632-760E-5393-1A65C10587F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8F6C4B-130E-6ECB-85F4-16EE36FDD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5"/>
            <a:ext cx="8517715" cy="449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2115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A1E7AA6-C69A-5EF2-3C43-F32804C43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8A2F97-9743-6DC8-B0A0-C405DCD33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2BC0BF-454E-B941-B452-2A330BD1AE8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7F64A8-C421-110E-9078-176327F072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5BAF12-D7CF-EAC4-4141-78E629628F4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 descr="The image displays a series of charts comparing the population trends of various Coho salmon populations from 1980 to 2024.&#10;&#10;AI-generated content may be incorrect.">
            <a:extLst>
              <a:ext uri="{FF2B5EF4-FFF2-40B4-BE49-F238E27FC236}">
                <a16:creationId xmlns:a16="http://schemas.microsoft.com/office/drawing/2014/main" id="{5A96C853-B009-4CEA-24D9-CC01905AC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408"/>
            <a:ext cx="9144000" cy="479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712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8F51CB-6D9D-2C75-88B5-A69CD0AE5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C8F0D-235D-DF79-47B9-D50938B55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82D5BA-9304-521B-14BF-15D17EC21AE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FF92E-49A6-E28A-D73A-14C848424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11465" y="-329644"/>
            <a:ext cx="10488125" cy="558205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4C27D3-4407-D2BC-C7AA-C3E3B0C257B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C7ED9F5-622B-B951-82DC-77158ABD269F}"/>
              </a:ext>
            </a:extLst>
          </p:cNvPr>
          <p:cNvSpPr txBox="1">
            <a:spLocks/>
          </p:cNvSpPr>
          <p:nvPr/>
        </p:nvSpPr>
        <p:spPr>
          <a:xfrm>
            <a:off x="-2319951" y="288275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/>
              <a:t>Steelhead</a:t>
            </a:r>
            <a:r>
              <a:rPr lang="en-US" sz="4200" dirty="0">
                <a:solidFill>
                  <a:schemeClr val="bg1"/>
                </a:solidFill>
              </a:rPr>
              <a:t> 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9709ACA-2A6A-F25F-7B09-404899ED749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DE1408-5D22-159F-318B-C52BC90540CF}"/>
              </a:ext>
            </a:extLst>
          </p:cNvPr>
          <p:cNvSpPr txBox="1"/>
          <p:nvPr/>
        </p:nvSpPr>
        <p:spPr>
          <a:xfrm>
            <a:off x="5885935" y="4917643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5000"/>
                  </a:schemeClr>
                </a:solidFill>
              </a:rPr>
              <a:t>Photo credit: Oregon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29706959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C98C049-E115-FE04-CBF8-D630D60EF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91AA96-135A-B9D4-57E8-5DB8B3033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0B02533-AEB8-1BDF-7DAF-3487043DF12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71C3B-61BF-77FF-3C2A-255E1249E5A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F0A3D4-7422-6FB3-2F6E-F1C9BC7FAE9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D326A3-ADFC-2B90-0628-CC8DF45DE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3"/>
            <a:ext cx="8359120" cy="443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94490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40567F4-148E-110B-00A7-D90692B0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1D2BC9-316E-9929-ADB2-CD6CC6131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3A516F-E85B-2D62-A8C7-14BB7506736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BC650-E58F-EF4E-41F8-DBF104641A6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42E5FAE-23AA-F0B7-491C-0FFDE8B45A2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46694B-41DC-E080-8982-7D3454A5C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387343"/>
            <a:ext cx="8458200" cy="449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8848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7C4198C-6DEC-7291-DA71-6DB7D7E39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CBB01D-D4B8-CA54-377C-4AB41F250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8B7DEB-2F11-3240-ECDD-3F7235E92FA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45AF99-DF6F-DE94-D411-670FC97E57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D7CA0E9-2E3A-2A15-6BAE-B901BF9577F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image displays a series of graphs comparing steelhead population trends in various rivers from 1980 to 2024.&#10;&#10;AI-generated content may be incorrect.">
            <a:extLst>
              <a:ext uri="{FF2B5EF4-FFF2-40B4-BE49-F238E27FC236}">
                <a16:creationId xmlns:a16="http://schemas.microsoft.com/office/drawing/2014/main" id="{D8E1A96E-DAD0-540D-EB7D-BD2959EAE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964"/>
            <a:ext cx="9144000" cy="480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6480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354E2B1-5049-FE95-1C74-1EE0A742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DE10C0-752C-9346-C274-F696693B4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BB6B28-01AE-92C3-53AE-7C3BF77640C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160381-AB95-3116-8CF5-9FE2515E936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1B904DD-77AB-1B49-4CE0-A57BB33214F5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Well okay, so what?</a:t>
            </a:r>
          </a:p>
          <a:p>
            <a:pPr algn="ctr"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D79A732-CBA8-77B3-77AD-DC29E05C2B4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25919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A4272D5-21DA-63E8-C642-BCF230001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545567-F83D-A0C6-DC42-3C00B764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7FCAF5-586D-C7AE-E958-4EF7DB28671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918D2-E04B-EB4A-E444-C6134B769C2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C45E5A1-FD4F-7575-4C10-5A6AB582B306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0F44C05-E494-9AFE-028B-52F7DE5AF7D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49457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0FF01D6B-B074-88EB-59DB-16FF9E64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B6F28D-BE0B-5A00-C04D-4D3F4217D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22A2DC-2097-D7AB-F8CC-48FC8F5BB7F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E769C-8986-F9A3-84F2-7276F8B9E1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5F6C8FA-C141-2132-3359-29077D5D0368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Case Studies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C548E54-FCE1-00A3-535E-18A4620FEE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60896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3037D67-54F3-7CD7-2F18-0EE7BA0B7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A6F72C-F877-3580-4C3C-A62DF056B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91539F6-5E1B-0FEE-9DA4-93DE01F9958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C1978F-CF50-ADCB-AD61-E8113665E0A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586FF8A-833F-22B6-9E40-5E86F03CC1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A78B1D-D2CC-0722-76D9-5AE77D26DB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F3A80C04-B496-C5C5-CDDF-4D27299D056D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Accuracy and precision – four case studies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83218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7EC1FB6-CA15-7E44-E848-3C949C747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EF414E-2FFC-74B1-EBEF-001E62D68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DB2A73A-C8A7-0461-C425-99CCCC8D392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7BB976-A059-A7DC-B83B-0BD6850254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2FCBAF3-8EA6-0570-1FB0-4D18F7EA8FF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2462CB-D3BC-061C-17D4-1ED569BC6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6E820DB2-9864-C28F-0C27-D217B9C67DF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B2FD0B-F466-92A6-55A2-D48FE7E4E9A3}"/>
              </a:ext>
            </a:extLst>
          </p:cNvPr>
          <p:cNvSpPr/>
          <p:nvPr/>
        </p:nvSpPr>
        <p:spPr>
          <a:xfrm>
            <a:off x="2333625" y="1098500"/>
            <a:ext cx="1771650" cy="17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549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404E8FE-C200-B131-B368-B5B2A96AC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FD546-13EB-BE0D-B84C-6DDC0EF85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B3CB56A-4864-5E1B-BF68-F88D72902EA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2C9D64-6647-9B8B-6414-31F7B4B045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8CAD000-59C6-E4A0-7DA9-9D2C4D7D73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02ADBA-E357-E7E5-D56C-D264C6F73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7171"/>
            <a:ext cx="8325853" cy="4561865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A1BCD85D-16E0-68B2-1156-23A69652945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73742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5104044-AF04-2395-D526-21929BDC6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103A2A-7FA8-A2A2-C5A5-42C4938EF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D7D4693-5923-EA58-3CC3-151F8DC255A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56C531-9FE9-6882-EAA0-5D36B01EE99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233DFD1-6C6B-B013-FAD9-807DC3E1CC8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931260-C9B5-54D6-37C5-371DC0DCF7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58258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A67FFEBF-EF84-129E-EDA4-52936F046AB2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B2D01-5861-21DA-99A9-F5BF0BFB89F9}"/>
              </a:ext>
            </a:extLst>
          </p:cNvPr>
          <p:cNvSpPr txBox="1"/>
          <p:nvPr/>
        </p:nvSpPr>
        <p:spPr>
          <a:xfrm>
            <a:off x="111600" y="1002433"/>
            <a:ext cx="31566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‘Dam counts (Video)’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749447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8C0F54-7FDD-B97A-7D29-B73235A40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79273D-F273-F71A-F69B-133CF6BCF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48970B2-BE9A-77EC-BC5F-60D987D6FB3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FEB63E-7380-A3C1-837D-55FFADCCA80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976C71A-6CC4-13BE-67EA-CB59EB9864D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DAE633-FA2D-B0F7-A05B-76D07B0D1E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58258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5D21FD0A-C16A-32B0-FD96-981108824C7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31A812-41AE-4B8C-134B-32E8C7D3B257}"/>
              </a:ext>
            </a:extLst>
          </p:cNvPr>
          <p:cNvSpPr txBox="1"/>
          <p:nvPr/>
        </p:nvSpPr>
        <p:spPr>
          <a:xfrm>
            <a:off x="111600" y="1002433"/>
            <a:ext cx="31566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‘Dam counts (Video)’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9145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01A5B1C-BDA3-A465-5E8F-274F6A174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BF761C-5849-E0F5-9F4C-6DA00B2AA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7CC8319-958E-5CF4-831C-04529927169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5D4D1-5332-42E3-70F7-A57A6FFFD5F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F68E69B-E41E-0661-25E6-126A31283AF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4" name="Picture 13" descr="The diagram displays a line chart depicting the estimated and observed data for the Coho salmon population in the North Umpqua River from the years 1990 to 2020.&#10;&#10;AI-generated content may be incorrect.">
            <a:extLst>
              <a:ext uri="{FF2B5EF4-FFF2-40B4-BE49-F238E27FC236}">
                <a16:creationId xmlns:a16="http://schemas.microsoft.com/office/drawing/2014/main" id="{C1019C00-4C38-D6C4-CD54-64CEF3936E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3863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0688BE19-372F-60AC-3D5C-E4741B7B9CB7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1: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FC31A-57A1-4C42-9F57-3EC4078DFCEA}"/>
              </a:ext>
            </a:extLst>
          </p:cNvPr>
          <p:cNvSpPr txBox="1"/>
          <p:nvPr/>
        </p:nvSpPr>
        <p:spPr>
          <a:xfrm>
            <a:off x="111600" y="1002433"/>
            <a:ext cx="31566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‘Dam counts (Video)’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Many survey methods resemble this behavior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274DD8-0CD8-AE95-ABC2-4185513AD1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3404" y="1002433"/>
            <a:ext cx="5764132" cy="3158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1930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B44756E-8D35-49AB-9B88-04A110EA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0E0557-A141-0378-5AAA-6016A07CC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2C888E-033C-BC32-4AB2-FD03073102F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BAEAA3-0BAF-081F-715F-9F9921BE63D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3CB131-03BC-0103-6B5E-6DC9371C7A2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4" name="Picture 13" descr="The diagram displays a line chart depicting the estimated and observed data for the Coho salmon population in the North Umpqua River from the years 1990 to 2020.&#10;&#10;AI-generated content may be incorrect.">
            <a:extLst>
              <a:ext uri="{FF2B5EF4-FFF2-40B4-BE49-F238E27FC236}">
                <a16:creationId xmlns:a16="http://schemas.microsoft.com/office/drawing/2014/main" id="{DFA9B4E6-F818-E964-5CE8-164806BF69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2433"/>
            <a:ext cx="5764132" cy="3138634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0F6D4354-A5F2-8B76-42D0-A6E0D88075D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study: High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FA133B-FFCC-2429-CA89-0F8D610370A3}"/>
              </a:ext>
            </a:extLst>
          </p:cNvPr>
          <p:cNvSpPr txBox="1"/>
          <p:nvPr/>
        </p:nvSpPr>
        <p:spPr>
          <a:xfrm>
            <a:off x="111600" y="1002433"/>
            <a:ext cx="3156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‘Dam counts (Video)’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Ideal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Many survey methods resemble this behavior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major adjustments necessary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7E1307-C96B-7C94-B170-739FFCE2C4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3404" y="1002433"/>
            <a:ext cx="5764132" cy="3158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1580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23B27FC-086C-4ADE-25C0-4725CECD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61FF58-118D-53FF-E4A4-5AE8AD35B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1AF840-D76A-D873-EA80-1C7C6BCAD71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DAEB7-B259-2411-F6C7-03275AD5E9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9EC29F0-4C70-A3D0-596A-888E48CE12D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A0869F-AE63-8F36-5D95-5BC1DCC74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76900724-58AC-CC76-C8CB-1A996BB3FE23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6E30A5-5098-2F77-61A9-C45603AC3488}"/>
              </a:ext>
            </a:extLst>
          </p:cNvPr>
          <p:cNvSpPr/>
          <p:nvPr/>
        </p:nvSpPr>
        <p:spPr>
          <a:xfrm>
            <a:off x="2333625" y="3155975"/>
            <a:ext cx="1771650" cy="17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845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5339CE1-C033-CABD-F4DC-3E4720D79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4AC8BC-41C6-3459-4E4D-4D389094B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FCD31B-12C0-F90C-D81F-CD4BD682F7B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A64E55-EB23-A89F-D2D8-C31610B51A2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2ED39E-05B5-0126-3957-B1154DEC369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09F484-43F1-99BD-4FFB-B1478D75E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" y="432479"/>
            <a:ext cx="8310264" cy="4570645"/>
          </a:xfrm>
          <a:prstGeom prst="rect">
            <a:avLst/>
          </a:prstGeom>
        </p:spPr>
      </p:pic>
      <p:sp>
        <p:nvSpPr>
          <p:cNvPr id="9" name="Google Shape;93;p19">
            <a:extLst>
              <a:ext uri="{FF2B5EF4-FFF2-40B4-BE49-F238E27FC236}">
                <a16:creationId xmlns:a16="http://schemas.microsoft.com/office/drawing/2014/main" id="{41E0670F-043A-B66C-E857-5EEDD02E573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3891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500D0E4-29D7-2FDC-327B-10C09F17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B14D4F-224A-D29A-49D9-280E2DC74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21B34D4-3D53-ED56-3C93-CDFBC3A67A3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097FCF-C794-A414-189C-2570587C42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36C96AB-B2C3-085E-4C87-859EED96B6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9" name="Picture 8" descr="The image is a line graph depicting the estimated and observed Chinook salmon counts in the North Fork John Day River from 2000 to 2020.&#10;&#10;AI-generated content may be incorrect.">
            <a:extLst>
              <a:ext uri="{FF2B5EF4-FFF2-40B4-BE49-F238E27FC236}">
                <a16:creationId xmlns:a16="http://schemas.microsoft.com/office/drawing/2014/main" id="{F66F56B9-7878-9359-B22C-E4649CDF1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1006760"/>
            <a:ext cx="5764132" cy="3141499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7A39CCF-F499-F708-E616-D3F6150A14D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05A10-68A7-0A44-4599-0AA310EC7BB8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8B8666-20E9-1C43-57C4-856A2D0F5E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3404" y="977986"/>
            <a:ext cx="5764132" cy="3170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5840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41A6FBF-26B9-0127-2EC7-74DE9E345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CB4680-181C-48CD-B747-6D0295481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5752DCB-DB40-1027-FBFB-AE3DD333014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049F0B-52B6-2BE8-DFB5-34C6CF67D35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C2B2E9C-221E-1450-515F-9391DF7B230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1D3A6F-B82F-1247-2CC9-A71631129E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77986"/>
            <a:ext cx="5764132" cy="3170273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4C30AD52-3956-DDE7-4C99-C1941977D37E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3E119F-720F-AFEC-AD5D-8B71F20E5861}"/>
              </a:ext>
            </a:extLst>
          </p:cNvPr>
          <p:cNvSpPr txBox="1"/>
          <p:nvPr/>
        </p:nvSpPr>
        <p:spPr>
          <a:xfrm>
            <a:off x="111600" y="1002433"/>
            <a:ext cx="31566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abundance shifts, despite over/under counting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64936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C63DAD1-0DD9-4B10-0BC8-D8B93AD12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F7D2C2-56D8-07C2-3C6D-2EE5D952D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FA8E788-89B3-6D4B-64B5-EB525E40AC3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4A2FD5-4694-20CD-9671-664AB27F320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5F701-E2F9-F652-2E3D-69E48854484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9F089B-B99F-C04B-8BC1-7337F0613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77986"/>
            <a:ext cx="5764132" cy="3170273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388E9257-426F-7619-2BEB-3A33918AAA48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2: High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7E16A8-F406-4760-86BF-F6BD9E630B54}"/>
              </a:ext>
            </a:extLst>
          </p:cNvPr>
          <p:cNvSpPr txBox="1"/>
          <p:nvPr/>
        </p:nvSpPr>
        <p:spPr>
          <a:xfrm>
            <a:off x="111600" y="1002433"/>
            <a:ext cx="31566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‘Total redd counts * Fish per redd estimate’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abundance shifts, despite over/under counting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Easily adjustable if bias is known</a:t>
            </a:r>
          </a:p>
        </p:txBody>
      </p:sp>
    </p:spTree>
    <p:extLst>
      <p:ext uri="{BB962C8B-B14F-4D97-AF65-F5344CB8AC3E}">
        <p14:creationId xmlns:p14="http://schemas.microsoft.com/office/powerpoint/2010/main" val="30123064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D5C58F5-8D1D-C853-D366-0FF751050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B6838F-3FF4-90D2-6F04-6490C4184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62AC1ED-6700-C3FA-3FDB-6ED29459C11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AE734B-2546-94AD-1D67-50927E800DB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E553993-7EA3-FAD4-909E-0211F4E9E8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4FB73A-D88F-3E0A-851A-9BEE93D743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7301D760-B1DA-2A69-5C45-7B6F3891145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5467BA-6BEB-162A-A791-5E1883C80959}"/>
              </a:ext>
            </a:extLst>
          </p:cNvPr>
          <p:cNvSpPr/>
          <p:nvPr/>
        </p:nvSpPr>
        <p:spPr>
          <a:xfrm>
            <a:off x="4572000" y="1083357"/>
            <a:ext cx="1828800" cy="17836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097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52EEC65-A822-E9CA-72C0-B99932029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BAFE23-1FE6-33C2-DFCE-6EB44C871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986996E-CCA9-F79A-9EF3-331CAEA5FD0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B20FE4-E929-08CC-7563-B8C1D0DEA48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42F155D-A535-EF66-03B7-EF2C3AFB580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833BDA-02E3-B732-809E-7D235DFE7A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0413"/>
            <a:ext cx="8310262" cy="4567023"/>
          </a:xfrm>
          <a:prstGeom prst="rect">
            <a:avLst/>
          </a:prstGeom>
        </p:spPr>
      </p:pic>
      <p:sp>
        <p:nvSpPr>
          <p:cNvPr id="12" name="Google Shape;93;p19">
            <a:extLst>
              <a:ext uri="{FF2B5EF4-FFF2-40B4-BE49-F238E27FC236}">
                <a16:creationId xmlns:a16="http://schemas.microsoft.com/office/drawing/2014/main" id="{01E4482A-AD8F-431C-F62A-F5EE86915453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43485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735C8E0-5C5A-E35E-AA65-6796252C9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EDC925-81D3-2630-74B4-56C5A3248E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E74032A-973A-41D3-1168-B16404A7436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68A984-929B-9EEC-74D2-CB60B9BC8F3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7862D4C-2FE1-8D17-AE86-C26F09B63087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C22E1B-CDEB-168A-6026-B997A3502E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386" y="998138"/>
            <a:ext cx="5730014" cy="314901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90C64372-B1F3-0C68-3B04-9B7B7E2AAF70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190A5C-0ACB-F69A-2D51-236F9D522539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‘Redd count expansion * Fish per redd estimate’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174881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D511179-85AA-2099-4B8C-79ADBE27D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949A28-24F2-7266-DD03-7008659EA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A869F43-49D3-3FBD-D186-79EE560971F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EFE27A-74C8-A971-7991-AAB986E3E62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3F4A1B6-A254-83B2-72D6-35BA5BB3A84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EA6CD0-E9FA-CCE2-F577-E9E144A36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386" y="998138"/>
            <a:ext cx="5730014" cy="314901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752A6AE-E6AF-B15D-9E88-975E6E875B58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B0BE5-A223-CF2D-0863-DD5966F5A036}"/>
              </a:ext>
            </a:extLst>
          </p:cNvPr>
          <p:cNvSpPr txBox="1"/>
          <p:nvPr/>
        </p:nvSpPr>
        <p:spPr>
          <a:xfrm>
            <a:off x="111600" y="1002433"/>
            <a:ext cx="31566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‘Redd count expansion * Fish per redd estimate’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420560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16789C-0551-7A03-75BB-22E88C5A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590D78-4CAE-E446-B256-ED276500E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9E9E48A-3F66-667C-77C0-A9E1D340AE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F2CDF3-310E-0881-1C8E-4614D0B92C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B44F39-92A3-A45A-E051-7B903BB4111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25611B-E359-889A-E621-417401DB8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386" y="998138"/>
            <a:ext cx="5730014" cy="314901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484B4A4F-AED1-63C6-498B-9020F2010A99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6748DD-6904-0C87-E823-58A2A645C35B}"/>
              </a:ext>
            </a:extLst>
          </p:cNvPr>
          <p:cNvSpPr txBox="1"/>
          <p:nvPr/>
        </p:nvSpPr>
        <p:spPr>
          <a:xfrm>
            <a:off x="111600" y="1002433"/>
            <a:ext cx="31566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‘Redd count expansion * Fish per redd estimate’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Obscures short term shifts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367438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2DFB11-C860-2723-FFB5-6019461B0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D2BB1E-4F3C-E89A-487D-0D7F45FCC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F40546-4C1F-5B91-F6E4-2A201472976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1B0F7E-09FF-FBB1-6B94-BD4CC009FCD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1F30B1-2AA7-4E88-BAF4-DDEE5F0A19A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245B0D-CF34-BBAB-AA0F-5141080F69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386" y="998138"/>
            <a:ext cx="5730014" cy="314901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237E9E1-63AC-ED4C-D1D8-4D849E623C9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3: Low precision, high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C32291-F081-D4E6-AB9B-BD1CC4EF6D8A}"/>
              </a:ext>
            </a:extLst>
          </p:cNvPr>
          <p:cNvSpPr txBox="1"/>
          <p:nvPr/>
        </p:nvSpPr>
        <p:spPr>
          <a:xfrm>
            <a:off x="111600" y="1002433"/>
            <a:ext cx="31566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‘Redd count expansion * Fish per redd estimate’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Captures general trends over time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Obscures short term shifts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Difficult to adjust for low precision</a:t>
            </a:r>
          </a:p>
        </p:txBody>
      </p:sp>
    </p:spTree>
    <p:extLst>
      <p:ext uri="{BB962C8B-B14F-4D97-AF65-F5344CB8AC3E}">
        <p14:creationId xmlns:p14="http://schemas.microsoft.com/office/powerpoint/2010/main" val="128213083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07B49C8-2EA5-2245-A1BF-F4738C1A5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14013-9EC2-9760-96EE-9AA7FA1D4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CFFE1F1-28B9-365C-6B8A-66CFEFAD3DC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BABC91-C346-1492-977D-473272A354C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6A8534B-8754-7A43-8039-E546BE6AFA9C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3C4C4-F512-7C4D-C0BA-B673AB77E0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75" y="509044"/>
            <a:ext cx="5138737" cy="4605831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EC352385-6AA4-4802-CE75-557D8F9B4941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8F2E1A-F952-9927-41AF-A2F52300362B}"/>
              </a:ext>
            </a:extLst>
          </p:cNvPr>
          <p:cNvSpPr/>
          <p:nvPr/>
        </p:nvSpPr>
        <p:spPr>
          <a:xfrm>
            <a:off x="4594208" y="3143250"/>
            <a:ext cx="1828800" cy="18148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827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E04EF89-4997-397A-342E-182CE692E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CCF684-61B7-7E80-89A9-2A8DBEAE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51C56DB-BF06-6895-5499-3289B522D4B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2A4E3C-5538-1A06-8CDB-20CC3C69B6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13987F6-4168-2A76-84CE-1EBB43C99009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13607A-8BA9-49F8-8C79-A8F26791CE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48401"/>
            <a:ext cx="8325852" cy="4586236"/>
          </a:xfrm>
          <a:prstGeom prst="rect">
            <a:avLst/>
          </a:prstGeom>
        </p:spPr>
      </p:pic>
      <p:sp>
        <p:nvSpPr>
          <p:cNvPr id="9" name="Google Shape;93;p19">
            <a:extLst>
              <a:ext uri="{FF2B5EF4-FFF2-40B4-BE49-F238E27FC236}">
                <a16:creationId xmlns:a16="http://schemas.microsoft.com/office/drawing/2014/main" id="{CE6479FE-4CFC-9A15-C79D-5DF6DE417D1D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846676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6F326BF7-D18B-4D90-6E97-89090034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CCED5C-152A-AAB5-49F7-79DA46A74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320193-DC40-F96A-4DD1-76DC494165B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6A36D0-DB9F-10EB-6274-952F8C42F12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C12CF04-9114-2F6F-C76D-1CB85E250E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C947D3-9758-AE74-1F7A-792AC9310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89795"/>
            <a:ext cx="5779372" cy="3183526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503AEDC4-E818-C7D8-9DEE-04C919C9DC9B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D95D2-39F8-BC5C-5327-D80267BD8C46}"/>
              </a:ext>
            </a:extLst>
          </p:cNvPr>
          <p:cNvSpPr txBox="1"/>
          <p:nvPr/>
        </p:nvSpPr>
        <p:spPr>
          <a:xfrm>
            <a:off x="111600" y="1002433"/>
            <a:ext cx="3156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‘Area Under Curve: Population (Total live spawners)’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01299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0D6817E-F0CF-028A-6A20-334A6CEC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0B229B-1B41-03D9-4FA7-46E0EF677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2530923-65C7-C9BB-9905-B2E9191CFC6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A66BB2-66BD-3855-953D-441343DF23F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12D12DE-B000-6866-DFB6-C454FCD7556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1054E4-492E-DF50-C81F-B5F7F3C9B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89795"/>
            <a:ext cx="5779372" cy="3183526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9500F71-C678-D4C4-32DC-CABD8805D444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171153-A3B6-0D44-F334-9DE91FAFADB6}"/>
              </a:ext>
            </a:extLst>
          </p:cNvPr>
          <p:cNvSpPr txBox="1"/>
          <p:nvPr/>
        </p:nvSpPr>
        <p:spPr>
          <a:xfrm>
            <a:off x="111600" y="1002433"/>
            <a:ext cx="31566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‘Area Under Curve: Population (Total live spawners)’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11645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383B52-34E0-9173-7858-E270C6530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E153A5-7199-EE30-A046-86BD85D40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B83241F-59BE-6DC9-1761-7B41CD94702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810A09-DDAE-1E65-A802-779E359FD8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883B08E-4885-0B3D-2D62-FAC9D2571B3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EA47C2-13AC-9163-CB3A-F1680F63C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89795"/>
            <a:ext cx="5779372" cy="3183526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080050C-08D2-CF0D-EDF9-262E24D9FC36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A94EA-3960-84BD-B9B8-CDAF7FB12BE2}"/>
              </a:ext>
            </a:extLst>
          </p:cNvPr>
          <p:cNvSpPr txBox="1"/>
          <p:nvPr/>
        </p:nvSpPr>
        <p:spPr>
          <a:xfrm>
            <a:off x="111600" y="1002433"/>
            <a:ext cx="3156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‘Area Under Curve: Population (Total live spawners)’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True and abundance and short-term trends are obscured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20883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B95630A-99D3-6BC1-70D7-FC4C22AB4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95CBC-3948-79B9-78BD-945620E76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E3CA87A-592C-1222-90CF-5B928162B8D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DF001B-E0D4-86C8-9CD0-53434E4B15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554CA5A-7E58-1AA3-25AF-072C52BC9AD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26F538-804A-2DDB-AC4A-B13D63094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404" y="989795"/>
            <a:ext cx="5779372" cy="3183526"/>
          </a:xfrm>
          <a:prstGeom prst="rect">
            <a:avLst/>
          </a:prstGeom>
        </p:spPr>
      </p:pic>
      <p:sp>
        <p:nvSpPr>
          <p:cNvPr id="4" name="Google Shape;93;p19">
            <a:extLst>
              <a:ext uri="{FF2B5EF4-FFF2-40B4-BE49-F238E27FC236}">
                <a16:creationId xmlns:a16="http://schemas.microsoft.com/office/drawing/2014/main" id="{88E9F875-D509-9DB3-921A-F491A877260A}"/>
              </a:ext>
            </a:extLst>
          </p:cNvPr>
          <p:cNvSpPr txBox="1">
            <a:spLocks/>
          </p:cNvSpPr>
          <p:nvPr/>
        </p:nvSpPr>
        <p:spPr>
          <a:xfrm>
            <a:off x="-1" y="-75626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Case study 4: Low precision, low accuracy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B17F6B-A621-732B-5559-4B7E5E3637A9}"/>
              </a:ext>
            </a:extLst>
          </p:cNvPr>
          <p:cNvSpPr txBox="1"/>
          <p:nvPr/>
        </p:nvSpPr>
        <p:spPr>
          <a:xfrm>
            <a:off x="111600" y="1002433"/>
            <a:ext cx="31566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Surveyed with ‘Area Under Curve: Population (Total live spawners)’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Worst case scenario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True and abundance and short-term trends are obscured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Long-term trends are somewhat discernable</a:t>
            </a:r>
          </a:p>
        </p:txBody>
      </p:sp>
    </p:spTree>
    <p:extLst>
      <p:ext uri="{BB962C8B-B14F-4D97-AF65-F5344CB8AC3E}">
        <p14:creationId xmlns:p14="http://schemas.microsoft.com/office/powerpoint/2010/main" val="109252383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2E4DF15-32B4-3CC0-9A06-9241DD2B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48E8EE-1CF9-B6EC-CB37-FB43826604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5E97E5B-24FD-85AC-702E-687F22EA35A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B213F7-26BD-5821-7116-E3629A66316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3CB8783-F67F-F5AE-1D28-D5BF7FF0CC61}"/>
              </a:ext>
            </a:extLst>
          </p:cNvPr>
          <p:cNvSpPr txBox="1">
            <a:spLocks/>
          </p:cNvSpPr>
          <p:nvPr/>
        </p:nvSpPr>
        <p:spPr>
          <a:xfrm>
            <a:off x="839730" y="80595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Background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Data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Analysis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Results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tx1">
                    <a:lumMod val="50000"/>
                  </a:schemeClr>
                </a:solidFill>
              </a:rPr>
              <a:t>Case Studies</a:t>
            </a:r>
          </a:p>
          <a:p>
            <a:pPr marL="742950" indent="-742950">
              <a:spcBef>
                <a:spcPts val="0"/>
              </a:spcBef>
              <a:buAutoNum type="arabicParenR"/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A3EA8FB-85CB-9500-77F6-CFC98A1F5AC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826450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4F2DFA2-590B-F46E-E44C-6D65C8B9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28F977-2FD2-B61E-F276-B01214A99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D77A29-B723-7BCA-77A0-EDB2A3012A5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F557D-D7C5-C331-62F0-B3A71847776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BB27C8-4EFA-651F-2652-D154B34AFF7D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176B126-48AF-25FB-47F8-755F4D69B44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02738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1290F2-E7D4-090E-5D8A-A7A49F82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D605EA-F665-62E5-9DFC-233F390FD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0766F2-CE77-55C7-D9EB-C85152769EF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F95DD4-075A-2718-4525-E9830BCE84B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3B61F7B-0E31-0A07-5FBE-437582B69F4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56BE6BA-A102-FD8D-27E3-34D0032CE41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357650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9621CF-62D7-48FA-F4C7-7EE88EB75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53A4D-9B25-30A2-73A0-3C9DA2F64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1958D34-ED1E-8293-478B-399195B275C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AC7DB0-F0C5-91A5-13FE-C72146AE9A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927281-C950-9768-CE87-C127FC7F5F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A544B00-C89D-1FD7-7DED-39BC2CBCCFD7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Understanding bias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59548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9507D4-1962-B2E2-D705-01ABE0A6E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89CAD-A35C-499A-6700-FB5DEAD35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1A8EF9-A9B2-580C-9ED1-BFBB7BDA614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FD5DD-F817-6120-2CDF-3F6D3106C49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C951869-8A9F-3B79-9504-580ACA75EAF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5CCA6BC-BC6A-0948-3A93-735B84CDE26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Understanding bias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Interpreting impacts of conservation actions depends on accurate estimates</a:t>
            </a: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86309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A11600-58FF-3BB8-400E-0511682FE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FE8C6F-6775-40D8-C032-081144773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3C8F204-4FBC-7507-8B71-36C871613E1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90F9F-D061-7211-35DE-A285A355B16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CE58604-B0DE-7684-5A7F-99B723BA2EF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372C666-DF6C-1072-0673-E354170F51D8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Majority of survey methods analyzed are neither strongly biased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53852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FD1C14C-14E8-EFBB-FF15-CD3427283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5FC7AF-22FF-7E49-45C0-28F9BC483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62C5100-8FAD-16A7-7424-5A6C5D103E1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3CBC9-AB40-EEE4-528D-6A3A03D5558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C940AE-3114-8550-825B-FB1DB19996A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65A01D5-3027-526A-017F-D43D7CAE2C25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Majority of survey methods analyzed are neither strongly biased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Low precision obscures abundances shifts in the near term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94549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33F46D8-C6D1-CC4B-53F5-34E47DA8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337CA6-E403-C5F5-DFEA-8FA45161D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AAA9310-8F7C-511C-1BF9-A41DE2C078E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FB4E28-CC8D-630B-5B41-C60DA6B5EAC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4E6B22B-8B2B-5D8A-EFEA-393A1CFF1ED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6B2ECB-7028-78B1-E52F-38874C6C1879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Majority of survey methods analyzed are neither strongly biased nor imprecise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Low precision obscures abundances shifts in the near term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Low accuracy creates false impression of abundance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92834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3CD3C1-9F2E-8834-257D-2AAB4240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9881AB-8747-4367-23D9-A92DFA6A2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221EC35-4A7E-611A-8093-D67632B5011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3A392-4200-C30F-3B03-F6F1D774B2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0AAA23F-0CE6-7C2A-7C62-F63AF2F7473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571F119-2F54-3A38-98AD-89650575BBEE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Patterns of method accuracy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641331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3F34825-FD49-6C41-1766-1D45183BD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6275D1-D32E-8B29-8FBC-3989170AB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7315D44-92A3-FBFE-D4E0-072D9731115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5D97C8-03E7-703A-D1C9-B772352664B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5418B4A-F5B6-3F0D-B3D4-745143A8E2C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C74F46-52D6-859B-CF89-AFB54D8FDBEA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Patterns of method accuracy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same survey method can exhibit differing levels of precision and bias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072859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EADE084-DC8E-6B62-45CA-C92F8E47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8DC910-E087-34AB-9210-4168115B1D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4E42B57-FE22-CE9C-E0A9-B2E6EA66123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FB8D7E-E178-55DE-C04A-30D25E27EE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DF933A1-DD4E-74E8-1D42-6DD4755794C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B4A6BBB-6566-1283-4C1A-6EA77DA1010F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Patterns of method accuracy occur at level of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same survey method can exhibit differing levels of precision and bias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36545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F8E02E2-AC12-E770-6DAC-23BDF0DDE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402E39-D231-2DED-0FDE-7C63C5E6E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6BB18B5-4D29-D978-935C-3036D3F610D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BED9A9-26C5-2D2D-1419-D18D85C3CA3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691EDFF-B813-9075-B261-3EF9AD1E28D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0B0BFC-FB90-B357-073C-8A0DC8EA669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9810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972C764-102C-3FD9-542D-D213FF475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A82695-2E23-158D-DEE4-F594DBA78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27586C2-A14B-96F2-CBC7-845D7C3CCD1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656F4-3D7A-0FE0-8E2A-E5F18C8E59E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EAEEA32-BD6A-892A-0642-0346B20C674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A443FDC-0BCA-A5FA-D7F6-77C5C31F3734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Often employment of method is driven by factors beyond the scope of this work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233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50A2235-C8C1-9FDD-E483-966876EE0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D4E8CA-0863-BD89-1810-A7F6B7CB2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B7977F-3020-65DF-D8B0-CF68865E9F4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E97A21-2561-4304-5230-DF76DE82020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B465A1-A536-2121-ED48-40AB452B237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7CC4E24-5EB1-629E-59CF-912CDE184A5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Often employment of method is driven by factors beyond the scope of this work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best method is the one that can be implemented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431326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86EC7A3-D04F-90BA-3242-094E668D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04EC2F-6E03-1FAC-AC44-3A1E70625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E342F4-1BE7-B100-DDBE-A4A2102C1FC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6C905-75E0-00B3-38BE-FAABDA7C874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4910B4A-4829-39F5-9402-521CB4AFF3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1D778D54-596D-5880-AEE2-8E44A3C043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Investigating precision and bias of commonly used salmonid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FE004C-D83C-ED4C-7EDC-DAD1B645158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E3994D2C-7D47-0134-C09A-37783E20328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3675B93F-F9A6-4BD1-D0A1-DBC1C6D8261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8A8FBB-4903-D76B-4458-A35275261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9308B48-D03A-FC1F-0339-5F6144D11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60D7258E-489A-0103-649A-14F715E1BD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F6FD01-2A64-62B1-6DD8-0BD5AAFE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9D297DE7-611B-EE71-921B-135EC19984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64AE957C-7165-B86A-5E94-1E888582D9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5783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2AEF6D9-EB5A-BFCD-F67A-C7225BD8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953A8F-7E9E-683A-7DA0-405C4B413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15C08D-8C61-9CA8-F9A6-9ABBDC5F7E4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CE4A8F-52C6-379E-3957-650817227BD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39FF5CE-C3E7-CCEA-E1F1-DBC7BADE886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E7AE96-7710-D4DA-0690-343EF9236E4B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Specifying matrices properly is crucial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C12785-2E4B-BCA8-73F2-EE5ACA66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54" y="1846813"/>
            <a:ext cx="8467740" cy="1643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A590F9-C3B1-860B-2C19-78006A7CA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8475" y="3772808"/>
            <a:ext cx="5943600" cy="65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1835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0F2C567-AA9E-57C5-E4A8-5348CF3F5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2E7603-827F-A5A0-3B31-B30F7B95E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B63940-5F44-47D1-5DCE-05AAF10D67A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573247-ED40-1138-FF17-3223EC49AC1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699BAE-15BA-3005-05F3-3E7F214E388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is image is a graph displaying various factors such as Chinook Bias and Variance, grouped data like Dam counts and Peak spawner count, and measures of bias and variance, plotted against a scale from -5 to +5.&#10;&#10;AI-generated content may be incorrect.">
            <a:extLst>
              <a:ext uri="{FF2B5EF4-FFF2-40B4-BE49-F238E27FC236}">
                <a16:creationId xmlns:a16="http://schemas.microsoft.com/office/drawing/2014/main" id="{2F0016B9-B74E-0087-4DB6-F2F314760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0621"/>
            <a:ext cx="9144000" cy="4822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94443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3282835B-D4CF-6AB3-547F-8DE558F8E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A86B63-5A44-74FD-DA08-5859E5C0B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587BA01-F0BC-8264-BE27-E327C782116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51F5B-874E-A24F-FC0C-9F09BDCF187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5888776-A3BE-097E-441A-5DD26A46386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diagram illustrates a comparison of coho salmon monitoring data, highlighting the differences in bias and variance between monitoring area under curve and peak spawner count, with a scale ranging from -2 to 2.&#10;&#10;AI-generated content may be incorrect.">
            <a:extLst>
              <a:ext uri="{FF2B5EF4-FFF2-40B4-BE49-F238E27FC236}">
                <a16:creationId xmlns:a16="http://schemas.microsoft.com/office/drawing/2014/main" id="{D32B328F-F446-5C20-D6CA-4A7846D48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4550"/>
            <a:ext cx="9144000" cy="48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0099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D3E75E29-361D-6BB7-1B96-5AB386E81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1F1BA-6F95-1338-6704-F76418D72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3DE971C-89D3-80F2-6B23-0189543F5A2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C41DE6-8F4B-F7A6-A391-0E7B3A20A9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617C468-0F5E-3BF9-D94D-35903EB4AEA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diagram displays a comparison of Steelhead fish counts (redd and dam) against different levels of bias (negative to positive values), suggesting a relationship between bias and fish count variability.&#10;&#10;AI-generated content may be incorrect.">
            <a:extLst>
              <a:ext uri="{FF2B5EF4-FFF2-40B4-BE49-F238E27FC236}">
                <a16:creationId xmlns:a16="http://schemas.microsoft.com/office/drawing/2014/main" id="{CB992E78-14B3-E713-0AB2-6A4BEC0E62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6779"/>
            <a:ext cx="9144000" cy="478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85396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9653</TotalTime>
  <Words>2208</Words>
  <Application>Microsoft Office PowerPoint</Application>
  <PresentationFormat>On-screen Show (16:9)</PresentationFormat>
  <Paragraphs>492</Paragraphs>
  <Slides>119</Slides>
  <Notes>119</Notes>
  <HiddenSlides>14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3" baseType="lpstr">
      <vt:lpstr>Arial</vt:lpstr>
      <vt:lpstr>Century Schoolbook</vt:lpstr>
      <vt:lpstr>Wingdings 2</vt:lpstr>
      <vt:lpstr>View</vt:lpstr>
      <vt:lpstr>Investigating precision and bias of commonly used salmonid abundance survey methods  </vt:lpstr>
      <vt:lpstr>Investigating precision and bias of commonly used salmonid abundance survey methods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Investigating precision and bias of commonly used salmonid abundance survey methods 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Brian E McGreal</cp:lastModifiedBy>
  <cp:revision>86</cp:revision>
  <dcterms:modified xsi:type="dcterms:W3CDTF">2026-10-22T22:22:20Z</dcterms:modified>
</cp:coreProperties>
</file>