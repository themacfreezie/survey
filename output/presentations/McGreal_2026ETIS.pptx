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27"/>
  </p:notesMasterIdLst>
  <p:sldIdLst>
    <p:sldId id="296" r:id="rId2"/>
    <p:sldId id="403" r:id="rId3"/>
    <p:sldId id="528" r:id="rId4"/>
    <p:sldId id="341" r:id="rId5"/>
    <p:sldId id="405" r:id="rId6"/>
    <p:sldId id="404" r:id="rId7"/>
    <p:sldId id="428" r:id="rId8"/>
    <p:sldId id="429" r:id="rId9"/>
    <p:sldId id="430" r:id="rId10"/>
    <p:sldId id="342" r:id="rId11"/>
    <p:sldId id="431" r:id="rId12"/>
    <p:sldId id="416" r:id="rId13"/>
    <p:sldId id="420" r:id="rId14"/>
    <p:sldId id="299" r:id="rId15"/>
    <p:sldId id="419" r:id="rId16"/>
    <p:sldId id="418" r:id="rId17"/>
    <p:sldId id="421" r:id="rId18"/>
    <p:sldId id="441" r:id="rId19"/>
    <p:sldId id="343" r:id="rId20"/>
    <p:sldId id="432" r:id="rId21"/>
    <p:sldId id="433" r:id="rId22"/>
    <p:sldId id="435" r:id="rId23"/>
    <p:sldId id="436" r:id="rId24"/>
    <p:sldId id="317" r:id="rId25"/>
    <p:sldId id="318" r:id="rId26"/>
    <p:sldId id="319" r:id="rId27"/>
    <p:sldId id="320" r:id="rId28"/>
    <p:sldId id="321" r:id="rId29"/>
    <p:sldId id="499" r:id="rId30"/>
    <p:sldId id="322" r:id="rId31"/>
    <p:sldId id="442" r:id="rId32"/>
    <p:sldId id="560" r:id="rId33"/>
    <p:sldId id="549" r:id="rId34"/>
    <p:sldId id="558" r:id="rId35"/>
    <p:sldId id="574" r:id="rId36"/>
    <p:sldId id="577" r:id="rId37"/>
    <p:sldId id="579" r:id="rId38"/>
    <p:sldId id="578" r:id="rId39"/>
    <p:sldId id="561" r:id="rId40"/>
    <p:sldId id="562" r:id="rId41"/>
    <p:sldId id="567" r:id="rId42"/>
    <p:sldId id="566" r:id="rId43"/>
    <p:sldId id="570" r:id="rId44"/>
    <p:sldId id="324" r:id="rId45"/>
    <p:sldId id="344" r:id="rId46"/>
    <p:sldId id="325" r:id="rId47"/>
    <p:sldId id="498" r:id="rId48"/>
    <p:sldId id="438" r:id="rId49"/>
    <p:sldId id="568" r:id="rId50"/>
    <p:sldId id="439" r:id="rId51"/>
    <p:sldId id="437" r:id="rId52"/>
    <p:sldId id="457" r:id="rId53"/>
    <p:sldId id="329" r:id="rId54"/>
    <p:sldId id="569" r:id="rId55"/>
    <p:sldId id="345" r:id="rId56"/>
    <p:sldId id="338" r:id="rId57"/>
    <p:sldId id="546" r:id="rId58"/>
    <p:sldId id="370" r:id="rId59"/>
    <p:sldId id="547" r:id="rId60"/>
    <p:sldId id="559" r:id="rId61"/>
    <p:sldId id="557" r:id="rId62"/>
    <p:sldId id="392" r:id="rId63"/>
    <p:sldId id="399" r:id="rId64"/>
    <p:sldId id="400" r:id="rId65"/>
    <p:sldId id="374" r:id="rId66"/>
    <p:sldId id="571" r:id="rId67"/>
    <p:sldId id="346" r:id="rId68"/>
    <p:sldId id="445" r:id="rId69"/>
    <p:sldId id="459" r:id="rId70"/>
    <p:sldId id="548" r:id="rId71"/>
    <p:sldId id="500" r:id="rId72"/>
    <p:sldId id="506" r:id="rId73"/>
    <p:sldId id="556" r:id="rId74"/>
    <p:sldId id="550" r:id="rId75"/>
    <p:sldId id="507" r:id="rId76"/>
    <p:sldId id="513" r:id="rId77"/>
    <p:sldId id="527" r:id="rId78"/>
    <p:sldId id="526" r:id="rId79"/>
    <p:sldId id="525" r:id="rId80"/>
    <p:sldId id="551" r:id="rId81"/>
    <p:sldId id="508" r:id="rId82"/>
    <p:sldId id="514" r:id="rId83"/>
    <p:sldId id="523" r:id="rId84"/>
    <p:sldId id="572" r:id="rId85"/>
    <p:sldId id="573" r:id="rId86"/>
    <p:sldId id="552" r:id="rId87"/>
    <p:sldId id="503" r:id="rId88"/>
    <p:sldId id="515" r:id="rId89"/>
    <p:sldId id="522" r:id="rId90"/>
    <p:sldId id="521" r:id="rId91"/>
    <p:sldId id="520" r:id="rId92"/>
    <p:sldId id="553" r:id="rId93"/>
    <p:sldId id="509" r:id="rId94"/>
    <p:sldId id="516" r:id="rId95"/>
    <p:sldId id="519" r:id="rId96"/>
    <p:sldId id="518" r:id="rId97"/>
    <p:sldId id="517" r:id="rId98"/>
    <p:sldId id="357" r:id="rId99"/>
    <p:sldId id="359" r:id="rId100"/>
    <p:sldId id="367" r:id="rId101"/>
    <p:sldId id="492" r:id="rId102"/>
    <p:sldId id="463" r:id="rId103"/>
    <p:sldId id="536" r:id="rId104"/>
    <p:sldId id="535" r:id="rId105"/>
    <p:sldId id="496" r:id="rId106"/>
    <p:sldId id="538" r:id="rId107"/>
    <p:sldId id="539" r:id="rId108"/>
    <p:sldId id="541" r:id="rId109"/>
    <p:sldId id="540" r:id="rId110"/>
    <p:sldId id="497" r:id="rId111"/>
    <p:sldId id="340" r:id="rId112"/>
    <p:sldId id="545" r:id="rId113"/>
    <p:sldId id="371" r:id="rId114"/>
    <p:sldId id="554" r:id="rId115"/>
    <p:sldId id="483" r:id="rId116"/>
    <p:sldId id="484" r:id="rId117"/>
    <p:sldId id="501" r:id="rId118"/>
    <p:sldId id="555" r:id="rId119"/>
    <p:sldId id="486" r:id="rId120"/>
    <p:sldId id="487" r:id="rId121"/>
    <p:sldId id="502" r:id="rId122"/>
    <p:sldId id="542" r:id="rId123"/>
    <p:sldId id="543" r:id="rId124"/>
    <p:sldId id="544" r:id="rId125"/>
    <p:sldId id="510" r:id="rId1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DB0BED2-DCF0-D752-F2C4-F17733FEE147}" name="Brian E McGreal" initials="BM" userId="S::bmcgreal@uw.edu::500ccbb3-e957-4a38-850c-c0c2fd4a68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400"/>
    <a:srgbClr val="0400FF"/>
    <a:srgbClr val="FBFF00"/>
    <a:srgbClr val="00F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7956" autoAdjust="0"/>
  </p:normalViewPr>
  <p:slideViewPr>
    <p:cSldViewPr snapToGrid="0">
      <p:cViewPr varScale="1">
        <p:scale>
          <a:sx n="124" d="100"/>
          <a:sy n="124" d="100"/>
        </p:scale>
        <p:origin x="798" y="7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8CCD7DE-C3B7-6F17-99EA-83BB9CF34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ACC87EC-3880-11A3-FC32-4D2121F22F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94F5491-41AF-7432-7E0D-BAFCDB400A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1032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2FED314-83EE-6F29-072A-8756C090E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57CE917-32B9-4B53-B755-229E3589F7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EBE36E4-DB09-27A5-DBBC-6E3DE2C630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52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E464E55-DCC3-42C4-BB51-64DD87172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B603A1B-ECCB-78EC-057D-41AECA8DF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425D9BE-05A1-6A29-5801-73748F12F3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8721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76E2080-1789-5574-1F8D-BCF51B95E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6DFCF12-80C2-D1D8-5541-3C4C7C95E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A22C6DD-1D90-1412-0179-0CD5EDA718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182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B3B300F-CF1F-540F-70A8-29212E91C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4DB5BD4-1C8D-137E-854D-08D03DBF7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EF69597-D941-7CDE-83A4-D171B4F25C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9871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3901E86-20DF-19FB-4EBD-746E87A65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E7CBFED-44C1-A120-AE38-AF6EEDEA9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C9833E5-2D86-8C19-171E-D32DAABC5A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9738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939050-1BC0-B5B6-474A-8EFA1E0D4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301E135-F32E-6137-FD05-5B8B3A5CFC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4B9591A-6FFC-188C-E43E-4731864A8C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Ecologically crucial species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Marine nutrients found in trees in central Idaho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Cultural significance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Central to Indigenous ways of life and cultural identity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Commercial significance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$7.2 million in OR in 2024 (landed value)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	Not including sport fishing</a:t>
            </a:r>
          </a:p>
        </p:txBody>
      </p:sp>
    </p:spTree>
    <p:extLst>
      <p:ext uri="{BB962C8B-B14F-4D97-AF65-F5344CB8AC3E}">
        <p14:creationId xmlns:p14="http://schemas.microsoft.com/office/powerpoint/2010/main" val="1620290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6CDCFCA-EA30-E25B-AA5E-09683AF11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7E7704E-E41F-82C4-01F9-CE23159E2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A313050-6B70-4186-5B6E-47B231749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Cultural significance - Kwantlen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Central to Indigenous ways of life and cultural identity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Commercial significance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$7.2 million in OR in 2024 (landed value)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	Not including sport fishing</a:t>
            </a:r>
          </a:p>
        </p:txBody>
      </p:sp>
    </p:spTree>
    <p:extLst>
      <p:ext uri="{BB962C8B-B14F-4D97-AF65-F5344CB8AC3E}">
        <p14:creationId xmlns:p14="http://schemas.microsoft.com/office/powerpoint/2010/main" val="2088197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AF8FFA2-A465-034F-BAE8-52A9703D7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6B05F0B-D6F0-9FA4-2F9A-70000FDF7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B84D75E-9D6B-3C74-7E31-BE6888B478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Commercial significance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1200" dirty="0">
                <a:solidFill>
                  <a:schemeClr val="bg1"/>
                </a:solidFill>
              </a:rPr>
              <a:t>$7.2 million in OR in 2024 (landed value)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	Not including sport fishing</a:t>
            </a:r>
          </a:p>
        </p:txBody>
      </p:sp>
    </p:spTree>
    <p:extLst>
      <p:ext uri="{BB962C8B-B14F-4D97-AF65-F5344CB8AC3E}">
        <p14:creationId xmlns:p14="http://schemas.microsoft.com/office/powerpoint/2010/main" val="28640872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63C994C-5491-AE10-F5E1-D23552AF3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99392B8-6915-2AC7-283B-5869E6C4BB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326FC01-C283-BC7D-B1C9-5922A899B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8426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AD5D8E4-4B7A-E517-8FF8-3D24B5C6A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80002AC-7E1A-98A3-487C-1D6228003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0715729-6FF8-7BFF-15B1-C741FED897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3094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075C57-39FF-C940-EA28-40B3C2773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9E6D257-8631-03DE-591E-66996D6B5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728053B-7D22-4E04-9E29-4CED23B23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92719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6BC5438-3362-C007-85C6-8AB543DD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9E82869-C94B-729A-2E9B-3EA4585102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C2FACF3-6BF9-9D7B-9E2E-1E9778B422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75618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EF44126-9054-C47B-5598-521A7B5C8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03E981E-4902-5638-4047-4AABB6BBEB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9AD769-CE8D-F7EE-7F3B-58134DF5FD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804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15023A5-2CE4-81C4-1726-4AADA5BE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2CEE777-6C95-9A63-44A0-3D2217D212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72DE8C1-AC03-6CD7-8D97-C2959F46B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3099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28AB6B7-9392-186C-3A65-B41E7D82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4512CBD-F761-82DC-FB3F-9103730AC5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EB536C1-D1D3-4E9E-698A-9C83B0E63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34961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1C5F918-356D-8506-C99E-A5974AC4D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40AED09-9F5A-FAEF-48BA-27076F7C7E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DBD3109A-90EC-7E7F-C761-74CC2F429D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7227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AC5A7-21E0-D291-17E6-7D8CDEFB4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4BD477E-2E99-D31E-A7EC-376B1DA104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06064A5-6A71-F9B4-6038-83AC789038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Not great in the lower 48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	</a:t>
            </a:r>
            <a:r>
              <a:rPr lang="en-US" sz="1100" dirty="0">
                <a:solidFill>
                  <a:schemeClr val="bg1"/>
                </a:solidFill>
              </a:rPr>
              <a:t>28 population groups of salmon/trout listed as endangered or threatened under ESA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13 of these in Columbia Basin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Despite restoration efforts</a:t>
            </a:r>
          </a:p>
          <a:p>
            <a:pPr marL="15875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	$ 9 billion spent in Columbia Basin since 1990s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92043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6144E4C-CB20-9570-F494-DB45E6661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D594524-C411-4779-FFDF-886C25ED8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9233A0B-4670-7ABF-8BE9-F4E728943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192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62DD149-744B-77DE-BA25-2CE5B69E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6C6B4B0-22AE-570B-8948-EB048BD13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1A1DD8-77BC-9D5C-62D4-FD6BFFA192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49503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D29C935-FACA-D4B3-3395-4B8C3407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A757821-D1DF-D291-F823-ADEEFC60C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A55DA9D-0A0F-C805-CF81-2004934803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3631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B07D456-3845-6903-5395-05AF7E5A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58AAE1F-A69B-2F7C-60AE-8EE45A532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6078338-125C-AE4D-52B6-2277D603F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591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1891AA7-3E44-40B2-BAFA-110513DC8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50CAD9B-13CA-F254-9E88-5B1C207CA7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1DC6CDD-AB92-382D-E44E-ED970BAB6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5595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A3B8742-C937-D9A5-8B8D-E156269C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5951750-3012-F9DD-6562-E853CB0EFE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16667E2-4608-A904-FE29-6CA3993A62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Net survey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3896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5EB0527-8601-007E-202D-922BFF846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566D7BD-9080-D044-9384-A99DF4788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A91FC5E-8B55-5FA9-C24C-D58024109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Snorkel survey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26933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C0BA6DA-19BD-783D-8508-B65456E3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3444537-506E-E8B5-C184-E3C63231CF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61DA722-26EC-B6AF-541C-C1E16B1C7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04760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1C56159-5097-D46E-3B0D-904C3C58A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865057F-CA6B-04F2-9B8B-B60ACD1819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4CD18A4-F9BE-49E4-E962-A9B01ABA6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PIT tag (passive integrated transponder)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7790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28465D1-12E8-94EA-290A-961C47BC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1F10493-E052-DDCD-719A-7A935E5300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6AB4113-EF72-BE86-36AF-088D5E809F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Aerial Survey (AK)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8465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115E6C1-3970-88B0-BF03-04E7D795C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45805BB-02DB-7F6E-E7B6-F9497118FE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3EEBDB5-935E-8FD7-20B3-4B34C7DF1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Weir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70601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0695230-A505-3CB7-1455-67AE8895D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DAF8EE9-C34A-EA7C-9D9C-6FE67DE1E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F1A5ECD-DEB9-3B19-20FE-477CFB84D4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60597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F53767-BCCD-ABCC-C299-7F7079DAA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97809E4-D524-14F4-5D48-28863542FA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4AD88DC-F431-E27A-3EEB-144CFCED5D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545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FF9CFD4-7BF5-078C-A873-D8DB52D2A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A796C3B-8E78-9A6C-FD54-85260700BC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BF9121F-DB2E-1C36-9482-AA84615D71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74937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EDA7224-8E11-F631-B260-E6DEFD6B7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636A633-CCA9-D2A9-BABC-58A4811AF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504A81E-E81D-48F0-F76A-F7ED3241C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21526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0B7786A-E744-2DD3-CDA7-910B3E56F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AA0BE00-8092-9D63-DE24-B725E5328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5D9CFCF-F60F-0F23-9B40-1AB4217EA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31860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672C23F-CFA1-2F72-B61B-B0A51D8E5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00FBA0B-90CD-A78E-3019-4D4FC2D984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E28D912-4787-FB91-4C28-81324493C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67908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147C14B-1C0B-04F8-3A5D-28B998892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E55883E-DEE5-D83C-7E90-B791570A1D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1873671-7805-5DDC-A754-1A267F83DF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823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032C743-1052-3D99-4B88-9F0F96D1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F2E81D6-B77C-751E-D414-8423FC834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0E30497-7C59-1662-9CA0-70275AF37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4138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A49245A-0A73-D920-400C-9677023E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72253DB-6039-9A82-3E55-D4D1088E57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2396083-3E1F-13BF-C5B8-E55C68DE7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60151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3B61AEF-85B4-5D1F-6907-74BEF4B7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5C2B909-40FB-72D1-0F21-07E2F934C7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559EA37-2799-A8AE-4879-F70A674CBC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949901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B2C89A1-8BE7-3C19-82F7-B373F4BBF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50A9127-7A8A-0C01-1E54-BEFEA0AE63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48D3DF4-C1C9-04FA-5CC8-4C1B506F4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2707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6A1F6C5-6CD3-B40C-D019-47D14E39F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CA148E1-70F8-071B-A662-2533D68179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6553CCB-CDF1-4B10-A004-4F4E8EBB08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2625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E5980ED-5CC2-1E7A-4B04-4F3F3AB62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FE378FC-C257-5336-9A22-CD2B03660C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47CA5EF-F6C1-B3C5-7070-ACE7F47815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86265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3ED0E94-F88E-8256-79EA-8D52CE0B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3316CD5-1A7E-2F97-B5B4-3EC4362C2E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4C92EDD-794C-5587-689D-DEB5BD797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94912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605FD3-7BB1-61FC-D539-A25F6AF4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D1FFFDE-CC5F-98F9-911A-D6CA03F8FF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39F5D43-B6FA-80CD-9320-72D717CB1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88831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552606B-31C7-AB6E-8FFA-6C234E9AF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6B39904-0BE4-77A1-F5BB-9C6505DD68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873211-5F5E-7B98-46D3-D730D463B2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18654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764DEB9-DB0A-15AE-72FC-BF7D6172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FDF683C-D6F4-253E-7C34-01629DD639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88C5BD2-5C13-5E5B-2665-108664798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27529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AF78738-9C4F-45B6-CF81-3748BA204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9EB347C-8EB2-AC94-6442-BFA55E45CB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D9C9E1F8-4CCF-275C-32C6-8F2364BDFB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016451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6AF4A55-22EF-54A6-5F89-B4ABCDD3F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5A4FC02-A6D7-2305-E9CB-0FECD0FFB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0125824-7AE8-82AC-20B4-6A27C70C2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88020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0C72563-5E63-2774-8B61-5A690798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994171F-6917-CDD4-799F-5C1404B913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3A710BB-8327-D824-634F-7F391A1D57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33919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8A49C98-0370-5D0D-1BDC-AABF7606D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4C03D06-216D-7281-4363-31DF0D2FD9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E09A1DF-016E-3BFA-2979-3850A23AB3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53085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11D36AD-196A-56EF-129A-7901A56B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57D2CCD-5AD3-40C7-ED8D-8FF86DA9EC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9F8407C-5D69-A517-D3C2-057805DB2E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6525537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6315E26-8D27-3BC3-1FFD-9764BEA54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DB9CADE-7E9B-0171-B107-86A7208A7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71B6ABE-365B-EFC2-5D32-ED26B1975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48705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B5DB378-0FAF-D8AE-AC11-EDF08D37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0BC6314-1305-C354-02CB-08A66B293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E298B56-260E-8C16-02A0-40723C6A0C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66078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6653458-32A5-B898-C936-9381AF972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8B31148-7FA2-E67B-EEE1-CE012AD13C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42B48DB-197E-C805-3C1E-776F7B54B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130975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2282F08-D775-C5AF-E2A3-6C510A91F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8AA17AF-144E-E6C7-3EF6-6F64671BE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E82442-40CE-9DCE-CCEB-7663F2A564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9355794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BF39697-137E-434C-1BC8-0CEAE7F10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08ADA34-CE02-78FB-A88E-1BB71E454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D24A1211-14FE-4D76-1578-BCAAFBF85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74312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3DD7B4F-8024-0912-61DB-19D19FA6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E75D158-6537-5366-01EE-63F820CBF3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79ADB32-A2F7-9443-B006-832CDF8ED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914053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5ECF603-8047-A527-18AB-2AF271348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303DC34-E3D6-8681-1663-7A01F1BB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DA8CC08-7347-AE15-3C91-1B77AFCD75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19347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29A65E3-B5C5-BB3A-0E35-53E5EDF6A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02C33AA-9C57-0C23-B8E1-7CA3CA4F7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1BE25C3-26EF-C2CC-990B-4778C86637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987504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3408771-F437-6E53-BA25-9842DE0F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F43BC22-4B33-35BB-9CD5-4667C6721B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0B5D6CD-6ED7-765A-84D8-7AC773C3D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61362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1DD704-967C-3EC0-0DCF-0D90B595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E37549D-4A8C-BF3A-868F-C20BACF33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9F310C0-C3BF-F578-C211-553F18B186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680298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F3ADA8-E61B-0D19-5C36-DD815AD1A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EA3C9A8-3217-F572-65E0-9377206C75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B821767-1500-8181-EA1A-93BB74639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331735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6A1933D-B43B-08C9-E212-EC7B7876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1C41621-C38A-B71A-FEF8-E93D1FFEEF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DFB3374-DA47-5FC4-60AE-2438A43252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12862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C914829-E1AB-5E78-CBA6-4C66EFACB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A0C6809-4F50-4B9E-05AD-0BF25F84E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EB6E96-CE88-B7B6-08B2-23407B112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71958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426E35F-6C07-EC28-B0FA-938A5010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4F0E9C3-798F-43CF-16CD-7C6B02A6B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F644694-61D2-D7DC-25D2-9969D0E35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1598119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8C572D9-2B40-8FA9-A3AA-FD9649C6F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715ECD2-1014-3FD4-F575-BE88C0E5F5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E7A6964-868D-0B63-C36A-EA786BB05B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01780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7A17B3B-0131-DB89-F76D-D1D2382CD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035507C-8C98-6D1F-A78D-7F351D08C9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D117626B-E107-109F-8C5B-4633ABACA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370536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8D135A4-3764-9F29-0654-6DF5DD438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4BF0EB4-7579-B8E2-7015-E1640471D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D832B07-04FC-67C9-E551-9E6CC0F83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474044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F6F788E-73F4-2B9B-4F2A-96A7D19D6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D880702-9EFA-3532-746D-477D5A6BCD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AAB9A27-0737-8BE9-7FAF-3B19CDC1C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175388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C42450D-C016-633D-1624-50F85F6F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F338895-9F20-C5ED-7754-3FBAF8A9E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5E8ECE2-C73D-6684-38A1-93455D5BA3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2916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8C14EFB-396C-8893-A274-F30D82A4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18ED5D9-803A-32CB-2F2C-78ED39FCDB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9AAEBD7-920D-7A2D-3403-2E686BEC6C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05584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79C5E88-32EA-AA70-97CB-795CEB0F4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036FD23-8CC8-A3DE-73C9-1DFCEBC2D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D6C1AC9-5EC4-EC0B-D1A6-431AF24D34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326033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D8C1D59-D918-44B7-67CC-D264915F3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8A8E20E-92C1-28F7-094A-90055AAA87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83D570B-3F33-06B8-3E60-5FE417C88E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39526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6E41981-C51D-1EDE-E14D-FD63A7EA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C663A3A-4AC8-19AC-D078-A77F3FF7A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FB2AB09-BDE1-D4C7-76CC-963EC7239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777033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A47BFBF-8AB2-9C98-E1BB-2F9DD81BF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42A7269-E4BE-D596-DC28-294091743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812A505-BDCA-495E-3CC9-2345811AE8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689207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DBAA0A3-192B-E437-6306-690FA594F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56C4286-68D6-9C8D-F7A0-25154B107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015684A-9FD5-703B-9A24-390671A2F3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22031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A24D51D-652B-F5FD-894F-5BF3D2E7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2ACD4FD-2937-C51C-E60B-4401B02FEC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37A79A5-35A5-7C8C-F999-6C48D4FEF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80050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3702DBC-55D5-71C5-2DBF-DA11530DB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9ADE1DB-1E8C-605F-C708-A091BB42A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B741508-8303-E887-78D6-BF39E0B2F3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28677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ADE312-C6C8-E95A-15F2-D76712AD0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3A664F4-34E0-3AAC-D883-274A06025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E6447AF-8F4E-EF31-5DD1-21D2AC593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65312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79FA251-8ED4-586D-61CD-ED30EEA3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B4B65AE-B97E-7C99-6484-845B9466A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980172B-527E-2F65-50D8-9335F0224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562156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96C007F-0187-5EB4-A49B-7896AC6C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134B21C-2FDE-E36D-1AEB-47386D821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3ECFCE1-C913-B65D-105C-89A8C6A8D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50813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D6B0CC-E477-4B9B-1E33-B468BAB47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A1F56B4-4672-8E5A-2E20-614513D30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CB2F116-36AD-BF28-077E-D3126668ED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251033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32D7268-B6E2-E355-766E-1E811ED6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DD385DD-5B63-A606-3BF0-60D031102B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AE7D9988-8375-575E-5A93-756F55A5F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484025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10F0464-9FC7-D5CF-91D3-EA661FA7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C188C32-222A-27C2-CB15-FF9F42542E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E4F92A5-FE58-6224-601D-1EB88886A8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4751895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4CD2785-51EF-E3F7-74C9-996AB488C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F363D12-93D6-06AA-8B2B-436CAE3C3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3154891-5682-0FFA-3F70-FFFEC7F106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123498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DB06089-A11F-5455-8CBF-984341B1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8126381-F8E5-F82F-E041-E29F542A5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93827EB-ED38-DA2F-3F4B-9B33D1DAB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58306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F33524B-EC5C-4E76-4404-CDE2BA36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9ED54B8-3078-F0C9-A265-4B3C15D55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695546F-BA12-671C-D9AF-5272A0F622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47882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D8FD357-4C80-F5D3-D9A0-8F67FA15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DC1DEF1-8D68-46EA-4988-B320080F61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49F52D4-C2BB-5590-5A71-EF5B7BB81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5545776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F8FF15F-CECC-23BD-49F0-6A3C7FF0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8AF9CC1-61DA-DDE9-923B-1E7C34488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5653234-EA12-6D92-276D-40BF95A13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0645038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67F7DE-7399-0BA5-08D5-65AD473F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16545BB-9BAD-2567-818D-27940AA60E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F6C1F96-25A7-6CB1-0779-7D32BACC1A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93228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AE512BE-5323-66B5-9E37-E02325DD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25A8580-9EEF-5068-8C92-C55EA64517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9095FE0-D0F6-86DF-B739-EFAF613E2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50776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38DB032-6F97-76D4-E064-ABCE305AA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723829F-2575-AB2D-D306-05971EC996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D133455-1139-C193-CB1D-484B9D19DC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904583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BC3F162-1BCA-FD5E-DBC2-E670792F7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B9444EC-2100-8137-BF9A-256B6FE29F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6E25EDE-3892-7D38-008C-D4D90A487A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021471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460C857A-971F-209B-7D18-DEEC83CCA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576B0EF-C75A-1194-26E8-B4F794EF9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F391B8C-E290-E745-2894-1C3910F6F4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73287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AD46E7F-A50C-301B-E406-F5474278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95D237A-45D1-9802-2A32-06A22020D3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F17B11F-76B4-2643-8118-DB31EB4D2F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774787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F020F11-4BD1-7561-D1C0-6EBA0AFB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0893C440-83AF-6355-0D7A-41C9FC083C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31DD5B2-C0B1-F2AD-7AD9-3187D403F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640168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54E8CE1-CEAA-CB82-6D4A-7E32CC0B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8918521-8681-0A90-8722-DA41859464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B570FD9-15BA-FEBE-7C47-DB798CD79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81107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8D121CA-6D64-C580-CDB4-D5E23134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4C7F2BF-2384-D068-9D30-D3DF48E029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6F9B661C-6095-EF84-5DC1-B24A3960F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5704354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81A8A34-441F-B342-383C-77F914B4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A236942-3027-1070-0C12-EAA14E211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479E6BF-4529-FCA0-9734-01B3372BB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503377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6685D3D-E1E7-5D4B-CAF0-AF7C68F8E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7B8791CE-EA7E-65C9-DAC8-7A6F9C31AA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4188E232-ADF9-957E-9D45-345D72E4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514828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823B705E-2123-AFB5-F660-1E1EE7E6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565C65AC-5AF1-6E96-7F54-43C123D60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7B756E0-8A14-8950-7D52-56C61DB952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417701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730D06F-7846-1533-2F10-D20B1917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2C0321A-53C5-4AFF-CD72-645FA03A0B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8273209-57E7-E1AB-08EE-1506B450A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3773403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35047B2-2938-86A2-5205-7B5F9914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BFFD0562-45FA-7901-DA72-1320222FEA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C40276D-9B61-1AEB-A3C1-1BC4456882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741945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24F1EFAD-640F-2BAE-F5AA-FE863081F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AF2C0FA-C05C-BA66-4607-A314E2DFB1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11172FDC-88C1-2E45-94FE-D348083B2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1473114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B64E2DD-BB95-CDC3-CA73-12FA2A95D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0493BFB-786A-3D7E-1667-320279D77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333B9389-5599-EEB1-F5FD-81E93CD571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9554826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AD15ED4-9CB3-C41D-B590-028F2413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34C2CA4-7902-19E4-C231-73C56CD3BF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F17EE5D-2582-0888-0323-847804694D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069032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726FBE6C-092F-A5D3-ABC9-E8ECF6369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56C1775-3731-E41E-0E8B-D8A97C0DE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8ECB3B3-6662-D752-12CC-3FBD778D7E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62214729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5DF6F9F-6A47-8023-8E8C-7DAB8A435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F7FC3398-0D03-408C-C59E-76A8B8CF0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911EB38-53E0-39A0-F83F-584B948C1A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864305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A5D65A8-FB19-1FC0-0D91-413D2BF48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9A193E81-46C1-3DAB-2127-742EE3482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5578AB37-84A9-E53B-A103-12C84C635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771093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0C62C34A-C6F5-C0E0-35C0-243CAB556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785B69C-5B01-05E4-2C02-C590FC1BDC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B093B91F-D9AB-09CC-0255-AB7AB80CD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65817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932787D3-14C8-1045-DDF9-D7F2F5AB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461D365-F4D1-EE7E-D5A5-5204D0A464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C4772939-3FC5-70AB-6950-E120AD92A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594863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43646E9-0181-109C-71D5-E64F97A1D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46F0E897-2FA6-95BE-26BB-D4DAD8CD6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E04A72D-8694-FD8C-7912-652F07870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357425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97E240B-9F1A-591B-00CF-5451FCC09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E7A754FB-F5EF-BAA3-118F-5A92A9066B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5CB543D-3077-B38E-B1B1-9859513A97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15398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7D4884B-CC32-D5D6-F0DB-99D8D3B88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665BD4CA-E6A1-D27C-83FD-111AB9910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C85EAFE-08FD-AD4A-4799-BBDC69BFD8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6864615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C97B9D1-7690-0DA3-9C9F-981A89C49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A35520F-C038-853B-E108-136C27990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2B691D7A-7F53-BAD9-EC26-A47EEC1EFB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7271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E90E5EC0-D159-9CEA-56CF-4F973FD8D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86E74671-7813-1B06-0B09-15D2679CA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FFD34B0-DB66-FD05-9E53-370E0677F4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8176339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E61F8F3-89C6-7263-E9A7-37C09F52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C7B38A0B-7FC9-1076-CEA3-6392252075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8CD2ED88-9BA7-57F0-7533-5928DD7678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7758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F4B6810-A5AD-1548-2D41-1D2039144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ACB82B6A-854D-90DB-2230-60D831D5C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6F75001-BC6F-E545-80C5-872ADAA02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9143193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47609AF-9201-A804-9D31-4CC27E0CB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FE22FD9-C7D4-5535-B600-7586AA5EDF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86C37DA-A58B-5299-85E6-FDC914FF1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05873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31E796E-72A1-97FA-D00F-6BB8998A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22458589-94BC-C330-E7E7-B1543C6DA9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7B8C60CC-221D-F1E8-693F-94DC1B019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565219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F025F02-4922-0AA8-3EC3-A89BC506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935A4F4-D306-BFE8-6CEF-8D2D08BE6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573E1B3-F698-D2C1-62FC-87EEC1D0B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576151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FF5A94A-D1D3-829D-337E-73C6697ED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2E8D434-28F4-56A6-5818-D6E32899E4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0FA91481-0FC4-E0EC-144C-797529F30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20696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CDEBA3E-A147-5DE6-027C-465AC0451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162DD48E-6C1F-FDE5-37FF-2268361A6E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FE438F45-571B-889E-4558-1E7FDC57DE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691147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55A22F49-D541-D552-0585-19C2D6D0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D9A966E6-FCB4-D953-205A-92D4B54BA9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EC3AC927-B957-B464-36B6-D66C68C11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732278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ACD656BC-7DC6-750F-C49D-55D3843FA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>
            <a:extLst>
              <a:ext uri="{FF2B5EF4-FFF2-40B4-BE49-F238E27FC236}">
                <a16:creationId xmlns:a16="http://schemas.microsoft.com/office/drawing/2014/main" id="{3CA09C19-D43B-3000-4219-5E8CBA290F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>
            <a:extLst>
              <a:ext uri="{FF2B5EF4-FFF2-40B4-BE49-F238E27FC236}">
                <a16:creationId xmlns:a16="http://schemas.microsoft.com/office/drawing/2014/main" id="{90DD01BE-E5FC-4BCC-D26C-3AEA2F10D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4426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6077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87399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953304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72739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285241"/>
            <a:ext cx="3360420" cy="54864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1500" b="0" kern="1200" dirty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lvl="0" indent="0" algn="l" defTabSz="685800" rtl="0" eaLnBrk="1" latinLnBrk="0" hangingPunct="1">
              <a:lnSpc>
                <a:spcPct val="90000"/>
              </a:lnSpc>
              <a:spcBef>
                <a:spcPts val="15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206825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1485067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6112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699557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29050"/>
            <a:ext cx="8469630" cy="13144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04663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973848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7963382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0E59FD0C-5451-4CA0-86AF-E70AE3279989}" type="datetimeFigureOut">
              <a:rPr lang="en-US" smtClean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2">
                    <a:lumMod val="20000"/>
                    <a:lumOff val="8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 algn="r"/>
            <a:fld id="{00000000-1234-1234-1234-123412341234}" type="slidenum">
              <a:rPr lang="en" smtClean="0"/>
              <a:pPr algn="r"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83436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fif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.jpg"/><Relationship Id="rId7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jpg"/><Relationship Id="rId5" Type="http://schemas.openxmlformats.org/officeDocument/2006/relationships/image" Target="../media/image16.jpg"/><Relationship Id="rId10" Type="http://schemas.openxmlformats.org/officeDocument/2006/relationships/image" Target="../media/image20.jpg"/><Relationship Id="rId4" Type="http://schemas.openxmlformats.org/officeDocument/2006/relationships/image" Target="../media/image19.jpg"/><Relationship Id="rId9" Type="http://schemas.openxmlformats.org/officeDocument/2006/relationships/image" Target="../media/image17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3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fif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jp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jp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A2D7C91-B872-AC1F-6685-68A0F0505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693684-4F5E-C0D6-90B3-906863F7C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E34490-A770-2089-1BD5-38B2B277FA69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115B9D-FF37-A9B1-71B2-5C34AB8274C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B4C9B47-AC18-D027-2DD8-22588A535F0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EBB289D2-2CAA-5E86-7A2A-45A5B017707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9131" y="3355077"/>
            <a:ext cx="5688623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Investigating precision and accuracy of commonly used salmonid abundance survey methods</a:t>
            </a:r>
            <a:br>
              <a:rPr lang="en" dirty="0">
                <a:solidFill>
                  <a:schemeClr val="bg1"/>
                </a:solidFill>
              </a:rPr>
            </a:br>
            <a:br>
              <a:rPr lang="en" sz="2700" dirty="0">
                <a:solidFill>
                  <a:schemeClr val="bg1"/>
                </a:solidFill>
              </a:rPr>
            </a:br>
            <a:endParaRPr sz="2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694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0E155D5-0A52-3FD4-321F-74BE3393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FF5C67F-5BDD-D998-991C-03F94EF4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A4A68F1-2504-5280-1341-868F3D18870C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5BBBC-F98A-73E1-B8E6-04C2D75A2CB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CA3DBDE-8BE6-1D60-C835-78DC1FEC08C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ED02A42C-F66D-EF4C-9113-32E655EE138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529897"/>
            <a:ext cx="8325853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" sz="3600" dirty="0">
                <a:solidFill>
                  <a:schemeClr val="bg1"/>
                </a:solidFill>
              </a:rPr>
              <a:t>Investigating precision and accuracy of commonly used salmonid abundance survey methods</a:t>
            </a:r>
            <a:br>
              <a:rPr lang="en" sz="3600" dirty="0">
                <a:solidFill>
                  <a:schemeClr val="bg1"/>
                </a:solidFill>
              </a:rPr>
            </a:br>
            <a:br>
              <a:rPr lang="en" sz="3600" dirty="0">
                <a:solidFill>
                  <a:schemeClr val="bg1"/>
                </a:solidFill>
              </a:rPr>
            </a:b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E796C9-BB3B-4C45-C12A-55B2F9DD4164}"/>
              </a:ext>
            </a:extLst>
          </p:cNvPr>
          <p:cNvSpPr/>
          <p:nvPr/>
        </p:nvSpPr>
        <p:spPr>
          <a:xfrm>
            <a:off x="311700" y="1899684"/>
            <a:ext cx="7769043" cy="2160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9" name="Google Shape;238;p39">
            <a:extLst>
              <a:ext uri="{FF2B5EF4-FFF2-40B4-BE49-F238E27FC236}">
                <a16:creationId xmlns:a16="http://schemas.microsoft.com/office/drawing/2014/main" id="{0ED0D8DC-DCA6-37F2-04F0-5B096B8668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765" y="1966500"/>
            <a:ext cx="2664673" cy="122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39;p39">
            <a:extLst>
              <a:ext uri="{FF2B5EF4-FFF2-40B4-BE49-F238E27FC236}">
                <a16:creationId xmlns:a16="http://schemas.microsoft.com/office/drawing/2014/main" id="{BF74C0A2-C3DF-8599-2CB0-84BAC9DCEE2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649" y="3438700"/>
            <a:ext cx="3801300" cy="5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AE43B1-46C1-7B77-7F81-4075DF413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093" y="3375123"/>
            <a:ext cx="1861648" cy="60479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72F50A0-5C1D-6C54-9B05-A54B052D2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61" y="1980671"/>
            <a:ext cx="995825" cy="127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37;p39">
            <a:extLst>
              <a:ext uri="{FF2B5EF4-FFF2-40B4-BE49-F238E27FC236}">
                <a16:creationId xmlns:a16="http://schemas.microsoft.com/office/drawing/2014/main" id="{F87C0CCB-BAF6-7873-BF1A-0F26725289E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0" y="4581785"/>
            <a:ext cx="8325853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Brian McGreal						bmcgreal@uw.edu</a:t>
            </a: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2A83CC-5AC1-88C6-DC7D-740945BC10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080" y="1993582"/>
            <a:ext cx="1324074" cy="1272769"/>
          </a:xfrm>
          <a:prstGeom prst="rect">
            <a:avLst/>
          </a:prstGeom>
        </p:spPr>
      </p:pic>
      <p:pic>
        <p:nvPicPr>
          <p:cNvPr id="16" name="Picture 15" descr="The image depicts the US Geological Survey (USGS) logo, symbolizing their commitment to science for a changing world.&#10;&#10;AI-generated content may be incorrect.">
            <a:extLst>
              <a:ext uri="{FF2B5EF4-FFF2-40B4-BE49-F238E27FC236}">
                <a16:creationId xmlns:a16="http://schemas.microsoft.com/office/drawing/2014/main" id="{F1478362-9E63-DD30-4961-5A8EF74B29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2612" y="3380998"/>
            <a:ext cx="1629426" cy="598924"/>
          </a:xfrm>
          <a:prstGeom prst="rect">
            <a:avLst/>
          </a:prstGeom>
        </p:spPr>
      </p:pic>
      <p:pic>
        <p:nvPicPr>
          <p:cNvPr id="17" name="Picture 16" descr="The image depicts the Oregon State University emblem, featuring a bear and the university's acronym, surrounded by the year 1868.&#10;&#10;AI-generated content may be incorrect.">
            <a:extLst>
              <a:ext uri="{FF2B5EF4-FFF2-40B4-BE49-F238E27FC236}">
                <a16:creationId xmlns:a16="http://schemas.microsoft.com/office/drawing/2014/main" id="{080FD3C7-4CC4-9BEA-5A9B-10F1526620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4910" y="1980672"/>
            <a:ext cx="1211897" cy="127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89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EA7A056-1991-2066-9DFF-5961B15D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B7C7FF3-597D-210F-51E9-7F81452DE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E4562FC-BD45-9CEB-172B-B2BF519B6141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3F6FA7-FFE5-ABEB-CEF8-9BCA868B2D0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A2F24D8-7622-3EB9-D7A6-7835F1A0EFF0}"/>
              </a:ext>
            </a:extLst>
          </p:cNvPr>
          <p:cNvSpPr txBox="1">
            <a:spLocks/>
          </p:cNvSpPr>
          <p:nvPr/>
        </p:nvSpPr>
        <p:spPr>
          <a:xfrm>
            <a:off x="-97373" y="1910560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Background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E4096EF-6D9D-7A6D-794E-C044BA2B8022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01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FD179C5-A645-9742-2820-06C8672E1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03C17DF-BED9-7A0F-CCDB-504DE8814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D8C192-907A-922E-78B7-5E2B9DBB35B7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40F7E-FD94-4B4C-078C-F44B5C8F033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E2DEFC9-6B7E-79EF-5BE6-B708A8BAD959}"/>
              </a:ext>
            </a:extLst>
          </p:cNvPr>
          <p:cNvSpPr txBox="1">
            <a:spLocks/>
          </p:cNvSpPr>
          <p:nvPr/>
        </p:nvSpPr>
        <p:spPr>
          <a:xfrm>
            <a:off x="1818021" y="2078026"/>
            <a:ext cx="4793794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are salmon?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192CF1F8-36F4-3191-B350-E4ACBC7D723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9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4E2CA9B-1E83-0BEC-6CE7-A43BAEE6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5DE6F58-9187-FDDB-A2EE-D60B6E20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EB35C90-13D5-553F-87C2-1A357958513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FAA03-D9C5-3437-3608-CCAE23444BF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F36653C-FC4F-3831-A229-B8C9CFE0F24E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are salmon?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600F444-5CB7-41C5-3FB0-283B3DA03CD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0DC92D-D8A0-104C-4007-72F182376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932" y="1152475"/>
            <a:ext cx="6677989" cy="3756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5A573E-D18A-CA8D-159E-D63F1CEA28F2}"/>
              </a:ext>
            </a:extLst>
          </p:cNvPr>
          <p:cNvSpPr txBox="1"/>
          <p:nvPr/>
        </p:nvSpPr>
        <p:spPr>
          <a:xfrm>
            <a:off x="6102057" y="489727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Animalia</a:t>
            </a:r>
          </a:p>
        </p:txBody>
      </p:sp>
    </p:spTree>
    <p:extLst>
      <p:ext uri="{BB962C8B-B14F-4D97-AF65-F5344CB8AC3E}">
        <p14:creationId xmlns:p14="http://schemas.microsoft.com/office/powerpoint/2010/main" val="3987523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7CF8BDA-8592-D04F-6FD3-B7656A122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F3E536D-1BBF-9978-D5DB-9EF7B005B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169330D-EE89-9A87-4783-D45903843D0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494873-7608-EB8E-7BDA-52B741B600E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00C4E8B-B3E1-C348-AF2F-A3BEA62A54D9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Why salmon are important?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15CA128-5CB0-4A25-E64B-4186C3F0075D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385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1E057C8-A6C9-5E54-F3BC-620D7FC95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17F827B-0256-AFA1-3816-70B152F01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D847B36-6806-6FA3-BDAE-06CC7E905518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67A799-98FB-26A5-A7B5-950C31C431E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8F7B752-EF95-2408-C0E4-A718EBECAC3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Why salmon are important?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99203F-F2B8-7B1D-4B09-896BC00058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94" r="20660"/>
          <a:stretch>
            <a:fillRect/>
          </a:stretch>
        </p:blipFill>
        <p:spPr>
          <a:xfrm>
            <a:off x="736600" y="1322386"/>
            <a:ext cx="2095500" cy="33194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852F6C-02B5-E436-8248-819FCCBEC46D}"/>
              </a:ext>
            </a:extLst>
          </p:cNvPr>
          <p:cNvSpPr txBox="1"/>
          <p:nvPr/>
        </p:nvSpPr>
        <p:spPr>
          <a:xfrm>
            <a:off x="736600" y="464184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Jean Beaufort</a:t>
            </a:r>
          </a:p>
        </p:txBody>
      </p:sp>
    </p:spTree>
    <p:extLst>
      <p:ext uri="{BB962C8B-B14F-4D97-AF65-F5344CB8AC3E}">
        <p14:creationId xmlns:p14="http://schemas.microsoft.com/office/powerpoint/2010/main" val="293076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4CDD967-B9A7-7244-5127-9A0CF54BD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1F50C2F-4A50-27D7-D341-0C7F91566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430B839-C05F-CCDF-5707-48FC5AF4083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08C30-FE4A-5E5F-C5A6-FD1710463A4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9CE50E6-7F72-9B6A-2158-9824D3C1845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Why salmon are important?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09ADB9-7287-EDAE-5BFB-A697F0A582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94" r="20660"/>
          <a:stretch>
            <a:fillRect/>
          </a:stretch>
        </p:blipFill>
        <p:spPr>
          <a:xfrm>
            <a:off x="736600" y="1322386"/>
            <a:ext cx="2095500" cy="33194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1BCBA6-F331-C1EB-1339-6C2D7A1ED5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33" r="37758"/>
          <a:stretch>
            <a:fillRect/>
          </a:stretch>
        </p:blipFill>
        <p:spPr>
          <a:xfrm>
            <a:off x="3128210" y="1320522"/>
            <a:ext cx="2095500" cy="33213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4192EC-999F-8464-3EDE-8CA2F7DFA6F7}"/>
              </a:ext>
            </a:extLst>
          </p:cNvPr>
          <p:cNvSpPr txBox="1"/>
          <p:nvPr/>
        </p:nvSpPr>
        <p:spPr>
          <a:xfrm>
            <a:off x="3128210" y="464184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Robert Jago</a:t>
            </a:r>
          </a:p>
        </p:txBody>
      </p:sp>
    </p:spTree>
    <p:extLst>
      <p:ext uri="{BB962C8B-B14F-4D97-AF65-F5344CB8AC3E}">
        <p14:creationId xmlns:p14="http://schemas.microsoft.com/office/powerpoint/2010/main" val="1184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927027F-E349-1B31-8156-BD9468854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D1408036-E35B-B73E-972A-65CDCD969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1C1B993-E090-C958-9F0C-1999671E58A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2B93A8-FF29-DA1C-D5AD-D39D8E982C3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FD0C06F-44DC-A5D6-F343-D309A3D7B92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Why salmon are important?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19FD38-2112-AF21-C83D-ECBD5082FC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994" r="20660"/>
          <a:stretch>
            <a:fillRect/>
          </a:stretch>
        </p:blipFill>
        <p:spPr>
          <a:xfrm>
            <a:off x="736600" y="1322386"/>
            <a:ext cx="2095500" cy="33194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9A8769-B956-5458-341E-3DADED2427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33" r="37758"/>
          <a:stretch>
            <a:fillRect/>
          </a:stretch>
        </p:blipFill>
        <p:spPr>
          <a:xfrm>
            <a:off x="3128210" y="1320522"/>
            <a:ext cx="2095500" cy="3321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608035E-6018-BF88-CCD9-72D35E33762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583" r="53720"/>
          <a:stretch>
            <a:fillRect/>
          </a:stretch>
        </p:blipFill>
        <p:spPr>
          <a:xfrm>
            <a:off x="5519820" y="1320521"/>
            <a:ext cx="2095500" cy="33213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4B0674-1585-46A0-95AE-37384C5A1D0F}"/>
              </a:ext>
            </a:extLst>
          </p:cNvPr>
          <p:cNvSpPr txBox="1"/>
          <p:nvPr/>
        </p:nvSpPr>
        <p:spPr>
          <a:xfrm>
            <a:off x="5519820" y="4641848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</a:t>
            </a:r>
            <a:r>
              <a:rPr lang="en-US" sz="1000" dirty="0" err="1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CoastAlaska</a:t>
            </a:r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 News</a:t>
            </a:r>
          </a:p>
        </p:txBody>
      </p:sp>
    </p:spTree>
    <p:extLst>
      <p:ext uri="{BB962C8B-B14F-4D97-AF65-F5344CB8AC3E}">
        <p14:creationId xmlns:p14="http://schemas.microsoft.com/office/powerpoint/2010/main" val="1108277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666D5F6-6B83-FE7F-23E0-A58742E5C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B2FB126B-2728-1660-4390-2048A0D17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6D2806-3F3C-06B5-1FBD-A429545FE8E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956D0-3A71-F869-16B3-E26BCDDC6A6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A40F0A5-0F48-E56D-E64A-1C3713069E0F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0593D35-A63F-3BA1-8738-08F6EAE13D2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5434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2BAF18B-351B-6CB9-CE77-8430827B2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D693628-41ED-60BF-F25E-EE36DC129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5F58F4-DBB2-B117-28CD-06B1264472B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CC26D1-946D-EDBD-0156-75CE409FE57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14E0689B-191E-EB57-C814-49ACF8D229EC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Not great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1813D84-3D9C-7E5D-3829-CBC8AC3DCD7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184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B20C72-CF4E-0BA8-41A3-273CD8D27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437DAED-0547-A585-8C4B-90F8CE111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F57E119-48CA-15EA-50EE-A010221D25D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B21B7D-5071-4B9C-D5D6-96BFB8AA2B7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14EFB66-5E50-9EE2-D0DC-69C60604359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162ADB55-CE9E-435D-72F1-C08D74A017FA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340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74ABA57-5EBC-A11E-67A2-4E2670CF6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B2F01897-2A11-9D26-CF83-80C9BE44B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53D8AF3-68AE-A7E9-7794-E6E4E5527C5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DC9359-88C2-38BD-F682-AF27669E965F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612743D6-351C-F1AE-E7D4-2B53DF0F4AD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2D91632-0D34-A681-EBB8-9EA25C51574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28 ESU/DPSs listed as endangered or 	threatened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724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9CC4BE1-7C47-B0F1-1B3F-F5924CB2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54284-58D8-FF50-3F6E-7D1BF3C6D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E7654A-24B1-4AAE-1BAD-CAFF9FC12666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9E0EF6-A66F-50CF-EFD4-306DCDD09F59}"/>
              </a:ext>
            </a:extLst>
          </p:cNvPr>
          <p:cNvSpPr/>
          <p:nvPr/>
        </p:nvSpPr>
        <p:spPr>
          <a:xfrm>
            <a:off x="-91439" y="-106224"/>
            <a:ext cx="9235440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290FBA-F905-FDD0-F73D-7011A9A35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8975" y="0"/>
            <a:ext cx="5826050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99C85D-A989-AA16-4976-A1B6CB7F6C13}"/>
              </a:ext>
            </a:extLst>
          </p:cNvPr>
          <p:cNvSpPr txBox="1"/>
          <p:nvPr/>
        </p:nvSpPr>
        <p:spPr>
          <a:xfrm>
            <a:off x="5589825" y="4931838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NOAA Fisheries</a:t>
            </a:r>
          </a:p>
        </p:txBody>
      </p:sp>
    </p:spTree>
    <p:extLst>
      <p:ext uri="{BB962C8B-B14F-4D97-AF65-F5344CB8AC3E}">
        <p14:creationId xmlns:p14="http://schemas.microsoft.com/office/powerpoint/2010/main" val="44631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2161133-FEB4-9328-BFCC-FBAE422B5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5216820-AD26-C3CB-8F39-CCB55C9FD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E9D99D-08F1-EC01-AFC5-101E52AC0F0E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988BEE-CA13-924E-CF2A-6B95D62B197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4F5C2A3-B4CB-FBC3-D1CD-9B1D6633528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5C86FCF-7134-5862-FCEC-C52E7ABF16C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28 ESU/DPSs listed as endangered or 	threatened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13 in Columbia Basin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755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E96831B-7333-B903-C3F7-379847C4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0769BBB7-484D-277E-59AE-A95FB932E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49456B-BBA6-A29F-8AAA-AFCF52789BC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9B3C6-8D14-9641-8669-D17F899C2233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1276D907-CFF2-CE45-82FA-2188759A23C9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3C27567-3A0A-DF47-30EF-8EA5CA803F5A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28 ESU/DPSs listed as endangered or 	threatened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13 in Columbia Basin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Despite restoration efforts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6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B3A55A7-64FF-9275-1CCB-172E1BFD8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047DC3C7-9D99-704F-0B9A-AFC54C9FD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12275F-3994-4328-8018-36728D9EBD1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652C3E-C52D-BBEF-371F-7483CB996D7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D5E8AAB-F85F-9357-080E-F8A33BED0726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C80C721-37DB-DE0C-B728-9393C5D458B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28 ESU/DPSs listed as endangered or 	threatened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13 in Columbia Basin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Despite restoration efforts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$ 9 billion spent in Columbia Basin 	since 1990s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324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785AF92-952F-F46A-C1AB-D8838B2C6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150B0A9-913F-2B1F-ADAF-19BB19CF3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0288CC-85C5-9343-3198-9F16BF7F253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6268FB-FEB0-A2BF-8E96-D5C8BC9C558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4F45ED82-DD93-B691-FD82-4228C7AD8929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are salmon doing?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C7839EB-F544-B44C-489F-237D006BE2C4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great along the pacific coast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28 ESU/DPSs listed as endangered or 	threatened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13 in Columbia Basin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Despite restoration efforts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$ 9 billion spent in Columbia Basin 	since 1990s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Ongoing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874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C9854B5-3485-1635-C6A7-AFB06698D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EA4CE19-6410-266F-403E-FD7729252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6A5131F-755F-5788-7179-0845E2AF5409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8D39E2-C163-756B-3214-EDF482AAE7E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912039D-A23F-B542-3C05-7E43F66226AE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salmon aren’t doing great?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76A17C81-8C8F-DEE1-C442-8836918681A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751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1D674D1-68EA-32CA-4083-BC2E424E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DFC02C8-1736-2A2E-3E60-75344148D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69404B-0646-6637-4619-AF90F71A837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C700AE-2BEA-A27F-ED67-14D3D12B75A5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B5D06E59-EB87-B90E-C618-D2F017FCEE92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We count them!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FCC14CA-F7FE-D6CC-6F04-E6E625ED93C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9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AEC761D-1BD9-5334-423C-FBE50400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DD51091-822C-F7DF-A22F-14C8F15AB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2AC793-99F0-EFF7-9AAE-9EE1DF0903C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C2271C-AFA3-0371-3A68-821F5177526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689D1CC-EBEF-66C0-42DA-AB3088C17C30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We count them!</a:t>
            </a:r>
          </a:p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Well, we count some of them…</a:t>
            </a: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E0F00E9-26D2-948D-00C1-AE3C0FA668A2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379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69F3FA7-90B0-D74F-3729-2A3BD6A8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EE39C54-61A5-3B1D-833F-08A86AB02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64408B5-2FB0-0BC8-D854-BD286E3AEA2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D111B9-3826-390B-3397-10125CA993D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2F16A25-1D63-0723-13BE-89309908A727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We count them!</a:t>
            </a:r>
          </a:p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Well, we count some of them…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	…and make educated guesses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	about the rest…</a:t>
            </a: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92C4BB0-73E8-5948-A458-A85CF40CDE8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116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9A2E10F-D4A4-C620-3614-CF14502D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5E7BAAB-FECF-3C7E-0236-A0C218ECB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229445F-335F-FD5E-A77F-92C1E4801A00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484D4F-E4D3-021E-1F54-9632A53BE6D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BE67E0E-D7C0-3973-94C3-BEFBD0F3DDC3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We count them!</a:t>
            </a:r>
          </a:p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Well, we count some of them…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	…and make educated guesses 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	about the rest…</a:t>
            </a:r>
          </a:p>
          <a:p>
            <a:pPr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</a:rPr>
              <a:t>	… using a variety of methods</a:t>
            </a: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3C02814-A657-09BC-2938-8241CB02B0F1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768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20BEC43-A1F7-0A1A-FAED-34E2D23E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F0094D0-3DF8-3A10-C683-D5F513DD6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D85F4A-B1DF-8DB0-6B36-0D5AA1B5C91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22C5D8-D7D1-2343-45BC-FDB1FCDBE603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D23BD5BE-51D7-878B-6BBD-07A527ABD5A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C175CE-BA84-82BB-1C53-9E9C76E0D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778" y="1739634"/>
            <a:ext cx="4677410" cy="31197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96B8FE-C255-8080-6D3C-D061F2444E3A}"/>
              </a:ext>
            </a:extLst>
          </p:cNvPr>
          <p:cNvSpPr txBox="1"/>
          <p:nvPr/>
        </p:nvSpPr>
        <p:spPr>
          <a:xfrm>
            <a:off x="5451232" y="489727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US Bureau of Land Management</a:t>
            </a:r>
          </a:p>
        </p:txBody>
      </p:sp>
    </p:spTree>
    <p:extLst>
      <p:ext uri="{BB962C8B-B14F-4D97-AF65-F5344CB8AC3E}">
        <p14:creationId xmlns:p14="http://schemas.microsoft.com/office/powerpoint/2010/main" val="3121375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81DCC8B-A42E-9135-31F0-6D9045556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EE81DE5-E6BA-E5EB-BB08-308C7ABA3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70A4EE3-867D-268A-08EE-CD710B3FB00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8549A6-83F9-8E1F-6683-F8041A4C5CF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436A5D2B-023C-070E-0C7A-576D40E0DBB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AF8165-9D3B-4F2C-BCA5-3ECB7FF38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778" y="1730498"/>
            <a:ext cx="4677410" cy="3128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9DEE3B-1543-80DD-E1CD-F8D49642605A}"/>
              </a:ext>
            </a:extLst>
          </p:cNvPr>
          <p:cNvSpPr txBox="1"/>
          <p:nvPr/>
        </p:nvSpPr>
        <p:spPr>
          <a:xfrm>
            <a:off x="5662247" y="489727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National Parks Gallery</a:t>
            </a:r>
          </a:p>
        </p:txBody>
      </p:sp>
    </p:spTree>
    <p:extLst>
      <p:ext uri="{BB962C8B-B14F-4D97-AF65-F5344CB8AC3E}">
        <p14:creationId xmlns:p14="http://schemas.microsoft.com/office/powerpoint/2010/main" val="1746546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9EE9CDD-4FDD-021A-E5B9-3D5693D2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1E49788-D8C6-401C-A4C8-011F900B3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27AE78E-040B-8A3B-D322-2B99CC4D7C9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0932B-58FA-5A9F-EDD3-9E46B57CE30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DC4EAC5-24BB-2CF0-8E2C-B93B332E007D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D7DF2-0D68-4BBA-E4FB-5B92DD94F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450" y="1730498"/>
            <a:ext cx="3687326" cy="31289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7F2DC3-82AE-DF9A-C694-6AE32FE17B3A}"/>
              </a:ext>
            </a:extLst>
          </p:cNvPr>
          <p:cNvSpPr txBox="1"/>
          <p:nvPr/>
        </p:nvSpPr>
        <p:spPr>
          <a:xfrm>
            <a:off x="5662247" y="489727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Wikipedia Commons</a:t>
            </a:r>
          </a:p>
        </p:txBody>
      </p:sp>
    </p:spTree>
    <p:extLst>
      <p:ext uri="{BB962C8B-B14F-4D97-AF65-F5344CB8AC3E}">
        <p14:creationId xmlns:p14="http://schemas.microsoft.com/office/powerpoint/2010/main" val="2202070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6BE824B-8B05-B1CD-7445-80A58161A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0B7B567A-F9AF-1223-A926-6C2DD85E0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0E620FF-D647-AFBF-1404-2C8EB215F439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EC5F3A-3C6F-868E-7C4F-4853B42C488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C01BCEB2-0B0E-BF20-8FFE-0CE65CB9FDED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95B603-3444-66F7-AC1D-0FE28EC26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27452"/>
            <a:ext cx="4697986" cy="31289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9369C33-CA5A-C0E9-C8F5-E8F6939FF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004" y="1730498"/>
            <a:ext cx="4638996" cy="31258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48C858-FA5E-E7AF-A6A6-4CBB8C51AC3A}"/>
              </a:ext>
            </a:extLst>
          </p:cNvPr>
          <p:cNvSpPr txBox="1"/>
          <p:nvPr/>
        </p:nvSpPr>
        <p:spPr>
          <a:xfrm>
            <a:off x="5495194" y="4839222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US Fish and Wildlife Service</a:t>
            </a:r>
          </a:p>
        </p:txBody>
      </p:sp>
    </p:spTree>
    <p:extLst>
      <p:ext uri="{BB962C8B-B14F-4D97-AF65-F5344CB8AC3E}">
        <p14:creationId xmlns:p14="http://schemas.microsoft.com/office/powerpoint/2010/main" val="2798158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6DECE7-DE15-DCD0-DDA0-ABE9919A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C82BD9A-F578-09FA-31F2-C8A31A1D8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D56DD3B-DDF7-FBC9-8071-027A75AC42F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7D370A-0240-CB04-D92F-48310CBEC7C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7184D47-68E5-8D6B-E8F9-EDB91A0AF567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996561-24DA-93FF-63AD-97C8CF280E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3411"/>
            <a:ext cx="9144000" cy="3302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40625D-776D-C285-09D5-FAD46CD70CC1}"/>
              </a:ext>
            </a:extLst>
          </p:cNvPr>
          <p:cNvSpPr txBox="1"/>
          <p:nvPr/>
        </p:nvSpPr>
        <p:spPr>
          <a:xfrm>
            <a:off x="6149055" y="4933922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Nic McPhee</a:t>
            </a:r>
          </a:p>
        </p:txBody>
      </p:sp>
    </p:spTree>
    <p:extLst>
      <p:ext uri="{BB962C8B-B14F-4D97-AF65-F5344CB8AC3E}">
        <p14:creationId xmlns:p14="http://schemas.microsoft.com/office/powerpoint/2010/main" val="4208655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E998FD6-6C14-5859-8BB1-5C3BB1BA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DC5307C-1CE6-CFC0-8700-5672067F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6E0DF7-63AB-B3A3-FA4B-FDCB442EA93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CDE2E7-2134-B1A6-CB17-5DD4D84FBB7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148EA9FB-5D36-433F-AD1F-95B2C58B41E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96E1CE-85CE-F366-2447-7EB47DFDE209}"/>
              </a:ext>
            </a:extLst>
          </p:cNvPr>
          <p:cNvSpPr txBox="1"/>
          <p:nvPr/>
        </p:nvSpPr>
        <p:spPr>
          <a:xfrm>
            <a:off x="5662247" y="4897279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  <a:latin typeface="Arial" panose="020B0604020202020204" pitchFamily="34" charset="0"/>
              </a:rPr>
              <a:t>Photo credit: U.S. National Archives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C26DFF-9F52-81D1-1ED4-655633297C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211" y="1740703"/>
            <a:ext cx="3723804" cy="316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34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A714EAE-B293-5BFF-009E-678B484E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8555186-6208-0B0D-D9EB-6E76BDB5E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BD4A68-F511-6FCE-30FB-F0F03658166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A9A8E0-9DB2-A6FA-11C3-6756C7378E8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D13643-B848-7EF5-DFA0-093456FDF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3411"/>
            <a:ext cx="3713871" cy="1341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6B7CCA-12B5-1CF3-1B77-68433D3176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3871" y="1673411"/>
            <a:ext cx="1791209" cy="15199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175EA7-C577-7829-6F0C-6AAF75C9D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5080" y="1673411"/>
            <a:ext cx="2814783" cy="18829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1A6C10-9E06-CA91-5ED0-A555C5603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972985"/>
            <a:ext cx="2823025" cy="1882936"/>
          </a:xfrm>
          <a:prstGeom prst="rect">
            <a:avLst/>
          </a:prstGeom>
        </p:spPr>
      </p:pic>
      <p:sp>
        <p:nvSpPr>
          <p:cNvPr id="14" name="Google Shape;92;p19">
            <a:extLst>
              <a:ext uri="{FF2B5EF4-FFF2-40B4-BE49-F238E27FC236}">
                <a16:creationId xmlns:a16="http://schemas.microsoft.com/office/drawing/2014/main" id="{1FD8B541-CAFA-9CE5-FA56-AA835EB2E10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do we know how salmon are doing?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3BC717A-560C-254C-8918-3A16C48E53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5475" y="2964414"/>
            <a:ext cx="2794387" cy="18829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C395CD-7508-5FB3-A485-508C77808C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3079" y="2964414"/>
            <a:ext cx="2818937" cy="1877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294CE-1F97-9DC6-63DF-272AB15E20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56935" y="2964414"/>
            <a:ext cx="2213693" cy="18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620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678B2C9-8E5D-E056-71BF-E7001A9A0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2352C9E-345F-63FF-66CC-2825B8E0E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700E042-B5D5-0EA2-7AAF-F2DC0CFA14B0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314807-8BCA-15F3-034C-C84692BD9D35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A372266A-C62B-8BC2-80E8-DA6B9651CF6F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comparable are these counts?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99FAFBD-2F6D-CE66-FB63-E487D070C341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6946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272553-F822-006F-E20B-81DA5B6F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702FEB9-43C1-B579-78ED-CB3B9F225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E740D32-E6B7-5F51-DD57-8506F8C2E30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323DF3-F8B2-6D5A-0B32-FEA7DAE5B4A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F6817106-0E22-C750-7B36-FAB9154120B3}"/>
              </a:ext>
            </a:extLst>
          </p:cNvPr>
          <p:cNvSpPr txBox="1">
            <a:spLocks/>
          </p:cNvSpPr>
          <p:nvPr/>
        </p:nvSpPr>
        <p:spPr>
          <a:xfrm>
            <a:off x="754152" y="2078026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How comparable are these counts?</a:t>
            </a:r>
          </a:p>
          <a:p>
            <a:pPr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(specifically in terms of accuracy and precision)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95018AEE-1736-8E59-A956-FCB587E67CC7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0119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3037D67-54F3-7CD7-2F18-0EE7BA0B7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37D327B-8928-D371-B25A-404504FC1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B7E5A7E-6009-DB4D-FF1D-E034F7FD9EF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C1978F-CF50-ADCB-AD61-E8113665E0A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586FF8A-833F-22B6-9E40-5E86F03CC1C4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A78B1D-D2CC-0722-76D9-5AE77D26DB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12" name="Google Shape;93;p19">
            <a:extLst>
              <a:ext uri="{FF2B5EF4-FFF2-40B4-BE49-F238E27FC236}">
                <a16:creationId xmlns:a16="http://schemas.microsoft.com/office/drawing/2014/main" id="{F3A80C04-B496-C5C5-CDDF-4D27299D056D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Accuracy and precision?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3218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BF46532-6B7B-E332-547B-FFAE4E1F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419E589-1554-1203-C849-32BA0A1F0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0B0F5F8-CD83-54D0-9D49-2B0591C4639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D4D58E-7027-7BD6-E031-5AF88F0FA79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3A040CF6-20A6-FA91-704E-5DDD9387E75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C03FB68-487D-2716-3E56-B8FE783C5F71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37792A1-8137-0590-4E5C-DC98751398A1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57CD11-FC74-0849-7549-712F7D003316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41503D-FCC8-05AB-F5BC-B686C7C6AFE5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3562DBD-F038-CBF0-0FFA-904E1B78D0D0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92F84B9F-A5D2-BC1E-39DD-3D2590C5C5CB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2CEDBD-9062-0B74-1347-489577A1BDEB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</p:spTree>
    <p:extLst>
      <p:ext uri="{BB962C8B-B14F-4D97-AF65-F5344CB8AC3E}">
        <p14:creationId xmlns:p14="http://schemas.microsoft.com/office/powerpoint/2010/main" val="1920658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1092103-3AAB-126D-2D01-54D0AA9A4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905CDFC-D3F0-BFB5-920D-2B0789E45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C8D535D-966C-6886-4BE9-A3134B31EC3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EF8E7A-A0BC-4E78-5627-65CEA72A66A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4FEB9BA-08E6-63C4-398E-A0924A721B0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2CBCAC-DBFF-689B-F7C0-192172D4572C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1FA119E-CA66-18A7-0FA5-AE9922222E46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2AB2F90-D247-2BEA-9115-BCE5A91E10E9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A80A08-C0E5-5FBB-B63A-1D686A0402E8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5142F4-816C-4249-3759-FEB482BC39E3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CAF09FD9-4CA6-C805-ABCC-553DF32D5180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8549B-45F4-5B11-6076-1315368A4B1E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AF2524C-ADBD-69FA-DD76-11975F2CAB98}"/>
              </a:ext>
            </a:extLst>
          </p:cNvPr>
          <p:cNvCxnSpPr>
            <a:cxnSpLocks/>
          </p:cNvCxnSpPr>
          <p:nvPr/>
        </p:nvCxnSpPr>
        <p:spPr>
          <a:xfrm>
            <a:off x="1044209" y="2057560"/>
            <a:ext cx="5615971" cy="661852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565E64-F74B-D4A0-D002-B702DC4CC200}"/>
              </a:ext>
            </a:extLst>
          </p:cNvPr>
          <p:cNvSpPr txBox="1"/>
          <p:nvPr/>
        </p:nvSpPr>
        <p:spPr>
          <a:xfrm>
            <a:off x="3873369" y="1479182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Decline</a:t>
            </a:r>
          </a:p>
        </p:txBody>
      </p:sp>
    </p:spTree>
    <p:extLst>
      <p:ext uri="{BB962C8B-B14F-4D97-AF65-F5344CB8AC3E}">
        <p14:creationId xmlns:p14="http://schemas.microsoft.com/office/powerpoint/2010/main" val="24462628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4617143-D679-E2FB-26F3-74C55A6E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2A1C93A-9936-8005-724F-97ED1ED8D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B2F25CE-6A91-7769-84B3-8DB6D8EA76A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52298E-027B-B4CD-BA71-4A750E844A3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59F5569-2C93-3383-DC67-09681217709A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1458ACA-3D87-9A98-65C5-3286F67F3648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2FCF0B-059C-BE9F-045F-4092706676C1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0CD0ECB-694E-7691-D3ED-10112F331CA8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1D44E-E73B-CA81-5225-C133341D7DAA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2F02641-E8FC-D860-12AA-73B8B9336C32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53A2CC7D-1804-79FA-C0F4-B0933849C057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CBFBC4-1603-2461-BD07-141B6217356C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82BEC7-1238-288A-38D7-F533E4CFE730}"/>
              </a:ext>
            </a:extLst>
          </p:cNvPr>
          <p:cNvCxnSpPr/>
          <p:nvPr/>
        </p:nvCxnSpPr>
        <p:spPr>
          <a:xfrm>
            <a:off x="1206393" y="1751960"/>
            <a:ext cx="1552175" cy="50714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FEDF546-2D88-93A1-152F-64B53F581744}"/>
              </a:ext>
            </a:extLst>
          </p:cNvPr>
          <p:cNvSpPr txBox="1"/>
          <p:nvPr/>
        </p:nvSpPr>
        <p:spPr>
          <a:xfrm>
            <a:off x="2172534" y="16785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</p:txBody>
      </p:sp>
    </p:spTree>
    <p:extLst>
      <p:ext uri="{BB962C8B-B14F-4D97-AF65-F5344CB8AC3E}">
        <p14:creationId xmlns:p14="http://schemas.microsoft.com/office/powerpoint/2010/main" val="2570232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8BFB665-DB93-DB2E-3A66-443484AC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DB3833A7-26FE-36ED-00F9-4E22AC812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9B0326-66C7-1DFB-9788-3401B47739D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2330A9-AC8E-9885-23F3-B96BF022FD5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2ED32B8-F23D-39F1-3762-657BD0857C0E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1AC6BB0-90F5-B7C7-DC4F-D02B34608C21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C5FF94-A6E4-6040-30AA-D2CA11BCE8B1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9CF6C8-3365-5F6A-9D73-96B284686954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364688-0B8A-36E0-2508-0F773B578E8A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F05C995-6172-B530-5422-538F788B9F6C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C20E1139-B6D4-D87F-E688-EA4762AA1318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B612F-76D0-1671-5B58-9C31EC59BBF6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467441-A9F8-C7B7-719C-E11E486C18D1}"/>
              </a:ext>
            </a:extLst>
          </p:cNvPr>
          <p:cNvCxnSpPr/>
          <p:nvPr/>
        </p:nvCxnSpPr>
        <p:spPr>
          <a:xfrm>
            <a:off x="1206393" y="1751960"/>
            <a:ext cx="1552175" cy="50714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0FE03E-E8CD-8215-F5F6-5BA0378AACA2}"/>
              </a:ext>
            </a:extLst>
          </p:cNvPr>
          <p:cNvSpPr txBox="1"/>
          <p:nvPr/>
        </p:nvSpPr>
        <p:spPr>
          <a:xfrm>
            <a:off x="2172534" y="16785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FFB5B9-AA29-71C4-3B73-772C34307D68}"/>
              </a:ext>
            </a:extLst>
          </p:cNvPr>
          <p:cNvSpPr txBox="1"/>
          <p:nvPr/>
        </p:nvSpPr>
        <p:spPr>
          <a:xfrm>
            <a:off x="2909484" y="3265334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19284896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E1AA2E0-253B-35AB-063A-2BAC95494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90DDC6B-B189-5F96-64EC-94234219E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0129546-7E9B-EAF3-6CF3-F36745ECED9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3283B0-8D6E-9658-1905-62E2E5FDA72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EDED1F7-B59A-50B3-0E60-3E90E0B1074E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41AC1B-F5BA-1F84-9D35-E37C17B77B9D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57362CF-D98B-E813-4386-A2ADF139D47E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669BC6-4AC2-CB34-D09F-D2F253C1763A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DC17FC-C3F6-33BC-180B-64244443F432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D7CB896-FE2C-B91F-E44A-E011C631894D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2F65976B-1499-D556-7BA0-CB84F9BBF5A5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issue?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DE8056-D73F-42D7-C8B4-1CB41A07D2F1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377C4F3-FFF0-8DB5-8125-1EC972A42DBB}"/>
              </a:ext>
            </a:extLst>
          </p:cNvPr>
          <p:cNvCxnSpPr/>
          <p:nvPr/>
        </p:nvCxnSpPr>
        <p:spPr>
          <a:xfrm>
            <a:off x="1206393" y="1751960"/>
            <a:ext cx="1552175" cy="50714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040B7F-7503-B229-9D7C-616F333A0B26}"/>
              </a:ext>
            </a:extLst>
          </p:cNvPr>
          <p:cNvSpPr txBox="1"/>
          <p:nvPr/>
        </p:nvSpPr>
        <p:spPr>
          <a:xfrm>
            <a:off x="2172534" y="16785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E6B458-D151-F389-5B8B-4DE2A723C3B7}"/>
              </a:ext>
            </a:extLst>
          </p:cNvPr>
          <p:cNvSpPr txBox="1"/>
          <p:nvPr/>
        </p:nvSpPr>
        <p:spPr>
          <a:xfrm>
            <a:off x="5133180" y="2930376"/>
            <a:ext cx="24432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equilibrium?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D615A4-6C31-C449-5B6D-23A1849EDE69}"/>
              </a:ext>
            </a:extLst>
          </p:cNvPr>
          <p:cNvSpPr txBox="1"/>
          <p:nvPr/>
        </p:nvSpPr>
        <p:spPr>
          <a:xfrm>
            <a:off x="2909484" y="3265334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Uncertainty</a:t>
            </a:r>
          </a:p>
        </p:txBody>
      </p:sp>
    </p:spTree>
    <p:extLst>
      <p:ext uri="{BB962C8B-B14F-4D97-AF65-F5344CB8AC3E}">
        <p14:creationId xmlns:p14="http://schemas.microsoft.com/office/powerpoint/2010/main" val="1801164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17DE198-6F0D-C452-57FA-F0BD82DB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4717CA9E-A43D-458A-DE86-2C5E8ABDF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8CA00A-954C-D36F-D867-DEAC6BFA90B2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14C5-7F4B-279F-3BC2-A04035F7C01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84D41C5-F1C6-C934-F6BC-276A382EF389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30F4080-C4C2-B897-7DC7-321A7AC2B2DA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DFABC0-3F86-B2D9-5453-D15D231B3FCF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2F5250D-E62F-C45B-D7A1-6932D4032CBA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E59F7-1401-583D-CB92-B874D1021811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78A4EF8-E182-E7D5-8C2B-A9DA985927A7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B2E7C213-0B23-0373-A62D-EC7B893E8AF0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Three survey methods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EE1A27-B5FF-B0BD-F99A-C297E1E93392}"/>
              </a:ext>
            </a:extLst>
          </p:cNvPr>
          <p:cNvCxnSpPr>
            <a:cxnSpLocks/>
          </p:cNvCxnSpPr>
          <p:nvPr/>
        </p:nvCxnSpPr>
        <p:spPr>
          <a:xfrm>
            <a:off x="2403567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686EAD-01DE-E844-E6BB-0170A06947C5}"/>
              </a:ext>
            </a:extLst>
          </p:cNvPr>
          <p:cNvCxnSpPr>
            <a:cxnSpLocks/>
          </p:cNvCxnSpPr>
          <p:nvPr/>
        </p:nvCxnSpPr>
        <p:spPr>
          <a:xfrm>
            <a:off x="4497978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7EE966-402D-99F6-87A7-959F269DDD02}"/>
              </a:ext>
            </a:extLst>
          </p:cNvPr>
          <p:cNvSpPr txBox="1"/>
          <p:nvPr/>
        </p:nvSpPr>
        <p:spPr>
          <a:xfrm>
            <a:off x="1235897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BFD9E-584F-0331-D586-A6B78AF65AF3}"/>
              </a:ext>
            </a:extLst>
          </p:cNvPr>
          <p:cNvSpPr txBox="1"/>
          <p:nvPr/>
        </p:nvSpPr>
        <p:spPr>
          <a:xfrm>
            <a:off x="3153953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69E275-A440-A403-D1B4-BC30C11D2BAE}"/>
              </a:ext>
            </a:extLst>
          </p:cNvPr>
          <p:cNvSpPr txBox="1"/>
          <p:nvPr/>
        </p:nvSpPr>
        <p:spPr>
          <a:xfrm>
            <a:off x="5157849" y="1565117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838F2E2-11E0-D772-0DD3-F46AE95756CE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</p:spTree>
    <p:extLst>
      <p:ext uri="{BB962C8B-B14F-4D97-AF65-F5344CB8AC3E}">
        <p14:creationId xmlns:p14="http://schemas.microsoft.com/office/powerpoint/2010/main" val="9835339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2BFE9AC-025A-342C-FEF6-C8E22088C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AFF753F-3ECC-B799-88FC-262994E77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2875A6-AC25-0364-C065-0DE6337B70A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9D1C4C-C4E1-8C2B-0EC1-F6E8499B650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10316FE-9B69-1886-1259-3E0DABD1F2B7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DF53BD-8618-EA48-84B6-7BF1829E50A2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66D13F-FC6B-12E6-61C5-52522AD2139C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AEC4A95-45A7-E890-BAE7-F08260607C9E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E4075-4C8B-1779-E9E5-8766CCF8BAD1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F55AE3B-FEF4-3987-473E-2244FE914BF3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92;p19">
            <a:extLst>
              <a:ext uri="{FF2B5EF4-FFF2-40B4-BE49-F238E27FC236}">
                <a16:creationId xmlns:a16="http://schemas.microsoft.com/office/drawing/2014/main" id="{E7D71946-0EF5-90FA-336A-170B4F7C4035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710DBB-EA82-70D7-5AA0-767A9B872831}"/>
              </a:ext>
            </a:extLst>
          </p:cNvPr>
          <p:cNvCxnSpPr>
            <a:cxnSpLocks/>
          </p:cNvCxnSpPr>
          <p:nvPr/>
        </p:nvCxnSpPr>
        <p:spPr>
          <a:xfrm>
            <a:off x="2403567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15D132-CD9E-0E1B-278C-59A1A07D907A}"/>
              </a:ext>
            </a:extLst>
          </p:cNvPr>
          <p:cNvCxnSpPr>
            <a:cxnSpLocks/>
          </p:cNvCxnSpPr>
          <p:nvPr/>
        </p:nvCxnSpPr>
        <p:spPr>
          <a:xfrm>
            <a:off x="4497978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E1678BE-F484-84F7-A989-73CCEE7FCF6A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91290B-C094-6ABE-7EB4-C36273643464}"/>
              </a:ext>
            </a:extLst>
          </p:cNvPr>
          <p:cNvSpPr txBox="1"/>
          <p:nvPr/>
        </p:nvSpPr>
        <p:spPr>
          <a:xfrm>
            <a:off x="1235897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5B69A2-7FC1-DC69-4E6F-05E8EAFCC0DD}"/>
              </a:ext>
            </a:extLst>
          </p:cNvPr>
          <p:cNvSpPr txBox="1"/>
          <p:nvPr/>
        </p:nvSpPr>
        <p:spPr>
          <a:xfrm>
            <a:off x="3153953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BB8140-1470-3778-C78E-CB47D097296E}"/>
              </a:ext>
            </a:extLst>
          </p:cNvPr>
          <p:cNvSpPr txBox="1"/>
          <p:nvPr/>
        </p:nvSpPr>
        <p:spPr>
          <a:xfrm>
            <a:off x="5157849" y="1565117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F57016-541B-8CE3-38A6-3393C038CB4A}"/>
              </a:ext>
            </a:extLst>
          </p:cNvPr>
          <p:cNvSpPr txBox="1"/>
          <p:nvPr/>
        </p:nvSpPr>
        <p:spPr>
          <a:xfrm>
            <a:off x="944254" y="3256245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(but not accurate)</a:t>
            </a:r>
          </a:p>
        </p:txBody>
      </p:sp>
    </p:spTree>
    <p:extLst>
      <p:ext uri="{BB962C8B-B14F-4D97-AF65-F5344CB8AC3E}">
        <p14:creationId xmlns:p14="http://schemas.microsoft.com/office/powerpoint/2010/main" val="41855106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A9D316D-B23A-F525-EA94-BC39C938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5669C8C-9AE5-B8A9-7034-E05CC300D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0FD1F8-7241-253F-C2C0-D2C5F3746DD8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9715D-598F-2F48-324E-AD4DB1946D8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B875F10-CEF3-DC5C-3140-89DE7C86B082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BF035A3-0485-61E5-8262-B74A9D8A1F11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BC09FE-198B-354D-85CC-172C479A5F9E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D81961-A558-8F68-5B91-151CDEA721D6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78EC5-84E0-E85E-F815-A10FA3459718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222F5AE-DD53-BED9-7267-EB195E26A45D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3916DA-806B-23CF-9111-25A7102EC84B}"/>
              </a:ext>
            </a:extLst>
          </p:cNvPr>
          <p:cNvCxnSpPr>
            <a:cxnSpLocks/>
          </p:cNvCxnSpPr>
          <p:nvPr/>
        </p:nvCxnSpPr>
        <p:spPr>
          <a:xfrm>
            <a:off x="2403567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2D794A-CA83-9BB2-374F-46697203D065}"/>
              </a:ext>
            </a:extLst>
          </p:cNvPr>
          <p:cNvCxnSpPr>
            <a:cxnSpLocks/>
          </p:cNvCxnSpPr>
          <p:nvPr/>
        </p:nvCxnSpPr>
        <p:spPr>
          <a:xfrm>
            <a:off x="4497978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20E2D1-3927-DE55-61F6-184D1523B4A1}"/>
              </a:ext>
            </a:extLst>
          </p:cNvPr>
          <p:cNvSpPr txBox="1"/>
          <p:nvPr/>
        </p:nvSpPr>
        <p:spPr>
          <a:xfrm>
            <a:off x="2844838" y="3251782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(but not precise)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6C277-2A15-ACD0-83FC-B1A9FB4E627C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19C12-DE3D-EDD7-F796-923AE62AA430}"/>
              </a:ext>
            </a:extLst>
          </p:cNvPr>
          <p:cNvSpPr txBox="1"/>
          <p:nvPr/>
        </p:nvSpPr>
        <p:spPr>
          <a:xfrm>
            <a:off x="1235897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2695FF-743E-F8D3-957A-9741D777F342}"/>
              </a:ext>
            </a:extLst>
          </p:cNvPr>
          <p:cNvSpPr txBox="1"/>
          <p:nvPr/>
        </p:nvSpPr>
        <p:spPr>
          <a:xfrm>
            <a:off x="3153953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E2A809-51BC-CDA5-0F5A-C31A42027FB6}"/>
              </a:ext>
            </a:extLst>
          </p:cNvPr>
          <p:cNvSpPr txBox="1"/>
          <p:nvPr/>
        </p:nvSpPr>
        <p:spPr>
          <a:xfrm>
            <a:off x="5157849" y="1565117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</a:t>
            </a:r>
          </a:p>
        </p:txBody>
      </p:sp>
      <p:sp>
        <p:nvSpPr>
          <p:cNvPr id="32" name="Google Shape;92;p19">
            <a:extLst>
              <a:ext uri="{FF2B5EF4-FFF2-40B4-BE49-F238E27FC236}">
                <a16:creationId xmlns:a16="http://schemas.microsoft.com/office/drawing/2014/main" id="{D7D990B8-0A15-6CD5-D0F1-740B288B7E71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F6E622-4776-E219-5E57-31CE3ADF8E51}"/>
              </a:ext>
            </a:extLst>
          </p:cNvPr>
          <p:cNvSpPr txBox="1"/>
          <p:nvPr/>
        </p:nvSpPr>
        <p:spPr>
          <a:xfrm>
            <a:off x="944254" y="3256245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(but not accurate)</a:t>
            </a:r>
          </a:p>
        </p:txBody>
      </p:sp>
    </p:spTree>
    <p:extLst>
      <p:ext uri="{BB962C8B-B14F-4D97-AF65-F5344CB8AC3E}">
        <p14:creationId xmlns:p14="http://schemas.microsoft.com/office/powerpoint/2010/main" val="3141057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B260680-79BC-6D0C-3CEE-BB715C23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C9D0EE4-52A1-C80E-3F17-065AB88AF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B407F2-9613-2D8C-326B-56A5C17024C0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5F379-409B-C255-177B-85BD6F4C307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EAF43BD-6730-1660-B6E0-F8ABF1A27DF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CEFF09B-BB48-D363-436F-223C38496B5A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68A834-5C5F-66CD-3CBA-F2E78D802B08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04EB6F2-D6DD-B44E-22F3-5AAE66FE3B1C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8B5E47-83C8-8A66-A884-77FA7A24B677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D43C821-6E04-B03D-E584-57961E8FA830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ADCAA6-ABF2-2E94-2580-FEFCAC2D69F8}"/>
              </a:ext>
            </a:extLst>
          </p:cNvPr>
          <p:cNvCxnSpPr>
            <a:cxnSpLocks/>
          </p:cNvCxnSpPr>
          <p:nvPr/>
        </p:nvCxnSpPr>
        <p:spPr>
          <a:xfrm>
            <a:off x="2403567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3206E7-6AD8-4397-E46F-FAA80CCDCDC5}"/>
              </a:ext>
            </a:extLst>
          </p:cNvPr>
          <p:cNvCxnSpPr>
            <a:cxnSpLocks/>
          </p:cNvCxnSpPr>
          <p:nvPr/>
        </p:nvCxnSpPr>
        <p:spPr>
          <a:xfrm>
            <a:off x="4497978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2023BAC-8772-7DAB-7009-56EB9C5A22C0}"/>
              </a:ext>
            </a:extLst>
          </p:cNvPr>
          <p:cNvSpPr txBox="1"/>
          <p:nvPr/>
        </p:nvSpPr>
        <p:spPr>
          <a:xfrm>
            <a:off x="5021524" y="3251402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and precise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B84C71-0170-363F-CB5A-4538119013B4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B2F4A1-3C3D-3945-5725-03E74BF8C5F5}"/>
              </a:ext>
            </a:extLst>
          </p:cNvPr>
          <p:cNvSpPr txBox="1"/>
          <p:nvPr/>
        </p:nvSpPr>
        <p:spPr>
          <a:xfrm>
            <a:off x="1235897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A9479A-0688-5949-4C5A-ACA7F9E88B82}"/>
              </a:ext>
            </a:extLst>
          </p:cNvPr>
          <p:cNvSpPr txBox="1"/>
          <p:nvPr/>
        </p:nvSpPr>
        <p:spPr>
          <a:xfrm>
            <a:off x="3153953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60F46-7143-E7E4-C447-C1A1DC983646}"/>
              </a:ext>
            </a:extLst>
          </p:cNvPr>
          <p:cNvSpPr txBox="1"/>
          <p:nvPr/>
        </p:nvSpPr>
        <p:spPr>
          <a:xfrm>
            <a:off x="5157849" y="1565117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</a:t>
            </a:r>
          </a:p>
        </p:txBody>
      </p:sp>
      <p:sp>
        <p:nvSpPr>
          <p:cNvPr id="32" name="Google Shape;92;p19">
            <a:extLst>
              <a:ext uri="{FF2B5EF4-FFF2-40B4-BE49-F238E27FC236}">
                <a16:creationId xmlns:a16="http://schemas.microsoft.com/office/drawing/2014/main" id="{8F50BDF5-CBBB-6AB4-8B01-4E7A0E800A4B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8CDDC9-8C85-7D62-950D-7CB4E66697C3}"/>
              </a:ext>
            </a:extLst>
          </p:cNvPr>
          <p:cNvSpPr txBox="1"/>
          <p:nvPr/>
        </p:nvSpPr>
        <p:spPr>
          <a:xfrm>
            <a:off x="944254" y="3256245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(but not accurate)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D40D51-16E9-4C69-38DF-C06DF62B68FF}"/>
              </a:ext>
            </a:extLst>
          </p:cNvPr>
          <p:cNvSpPr txBox="1"/>
          <p:nvPr/>
        </p:nvSpPr>
        <p:spPr>
          <a:xfrm>
            <a:off x="2844838" y="3251782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(but not precise)</a:t>
            </a:r>
          </a:p>
        </p:txBody>
      </p:sp>
    </p:spTree>
    <p:extLst>
      <p:ext uri="{BB962C8B-B14F-4D97-AF65-F5344CB8AC3E}">
        <p14:creationId xmlns:p14="http://schemas.microsoft.com/office/powerpoint/2010/main" val="12508987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CD66DC9-39C2-3D05-6825-0384C3C4F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E275609-6E84-56EF-E10F-0F98C4F0F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B2F2525-88B4-3318-BA1F-5A0B4B11671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A3A44-4CFA-7D6D-3B57-5A73E419418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2DCC3EC-5048-692F-7573-9C5192DC43E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23DA2F1-45FB-E7A9-83A5-DD916B1B3436}"/>
              </a:ext>
            </a:extLst>
          </p:cNvPr>
          <p:cNvCxnSpPr/>
          <p:nvPr/>
        </p:nvCxnSpPr>
        <p:spPr>
          <a:xfrm flipV="1">
            <a:off x="670560" y="1056546"/>
            <a:ext cx="0" cy="35443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6C29CBD-63E2-9432-57F9-1DF6BF45C963}"/>
              </a:ext>
            </a:extLst>
          </p:cNvPr>
          <p:cNvCxnSpPr/>
          <p:nvPr/>
        </p:nvCxnSpPr>
        <p:spPr>
          <a:xfrm>
            <a:off x="670560" y="4568875"/>
            <a:ext cx="6365965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5B8E8E-B67D-03F5-F31C-65BC0481C377}"/>
              </a:ext>
            </a:extLst>
          </p:cNvPr>
          <p:cNvSpPr txBox="1"/>
          <p:nvPr/>
        </p:nvSpPr>
        <p:spPr>
          <a:xfrm rot="16200000">
            <a:off x="-903144" y="2358339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Abundance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E46E5F-61C4-9174-3FEF-3ED555300D56}"/>
              </a:ext>
            </a:extLst>
          </p:cNvPr>
          <p:cNvSpPr txBox="1"/>
          <p:nvPr/>
        </p:nvSpPr>
        <p:spPr>
          <a:xfrm>
            <a:off x="3357156" y="4600934"/>
            <a:ext cx="2429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455549E-711C-3491-D5FF-123433D0444D}"/>
              </a:ext>
            </a:extLst>
          </p:cNvPr>
          <p:cNvSpPr/>
          <p:nvPr/>
        </p:nvSpPr>
        <p:spPr>
          <a:xfrm>
            <a:off x="1049732" y="2036117"/>
            <a:ext cx="5625737" cy="1229217"/>
          </a:xfrm>
          <a:custGeom>
            <a:avLst/>
            <a:gdLst>
              <a:gd name="csX0" fmla="*/ 0 w 5625737"/>
              <a:gd name="csY0" fmla="*/ 0 h 1229217"/>
              <a:gd name="csX1" fmla="*/ 391886 w 5625737"/>
              <a:gd name="csY1" fmla="*/ 374469 h 1229217"/>
              <a:gd name="csX2" fmla="*/ 923109 w 5625737"/>
              <a:gd name="csY2" fmla="*/ 130629 h 1229217"/>
              <a:gd name="csX3" fmla="*/ 1611086 w 5625737"/>
              <a:gd name="csY3" fmla="*/ 748937 h 1229217"/>
              <a:gd name="csX4" fmla="*/ 1767840 w 5625737"/>
              <a:gd name="csY4" fmla="*/ 470263 h 1229217"/>
              <a:gd name="csX5" fmla="*/ 2185851 w 5625737"/>
              <a:gd name="csY5" fmla="*/ 827314 h 1229217"/>
              <a:gd name="csX6" fmla="*/ 2368731 w 5625737"/>
              <a:gd name="csY6" fmla="*/ 235131 h 1229217"/>
              <a:gd name="csX7" fmla="*/ 2621280 w 5625737"/>
              <a:gd name="csY7" fmla="*/ 1227909 h 1229217"/>
              <a:gd name="csX8" fmla="*/ 2838994 w 5625737"/>
              <a:gd name="csY8" fmla="*/ 461554 h 1229217"/>
              <a:gd name="csX9" fmla="*/ 3344091 w 5625737"/>
              <a:gd name="csY9" fmla="*/ 1149531 h 1229217"/>
              <a:gd name="csX10" fmla="*/ 3788229 w 5625737"/>
              <a:gd name="csY10" fmla="*/ 635726 h 1229217"/>
              <a:gd name="csX11" fmla="*/ 4293326 w 5625737"/>
              <a:gd name="csY11" fmla="*/ 714103 h 1229217"/>
              <a:gd name="csX12" fmla="*/ 4754880 w 5625737"/>
              <a:gd name="csY12" fmla="*/ 592183 h 1229217"/>
              <a:gd name="csX13" fmla="*/ 5268686 w 5625737"/>
              <a:gd name="csY13" fmla="*/ 783771 h 1229217"/>
              <a:gd name="csX14" fmla="*/ 5625737 w 5625737"/>
              <a:gd name="csY14" fmla="*/ 661851 h 12292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5625737" h="1229217">
                <a:moveTo>
                  <a:pt x="0" y="0"/>
                </a:moveTo>
                <a:cubicBezTo>
                  <a:pt x="119017" y="176348"/>
                  <a:pt x="238034" y="352697"/>
                  <a:pt x="391886" y="374469"/>
                </a:cubicBezTo>
                <a:cubicBezTo>
                  <a:pt x="545738" y="396241"/>
                  <a:pt x="719909" y="68218"/>
                  <a:pt x="923109" y="130629"/>
                </a:cubicBezTo>
                <a:cubicBezTo>
                  <a:pt x="1126309" y="193040"/>
                  <a:pt x="1470298" y="692331"/>
                  <a:pt x="1611086" y="748937"/>
                </a:cubicBezTo>
                <a:cubicBezTo>
                  <a:pt x="1751874" y="805543"/>
                  <a:pt x="1672046" y="457200"/>
                  <a:pt x="1767840" y="470263"/>
                </a:cubicBezTo>
                <a:cubicBezTo>
                  <a:pt x="1863634" y="483326"/>
                  <a:pt x="2085703" y="866503"/>
                  <a:pt x="2185851" y="827314"/>
                </a:cubicBezTo>
                <a:cubicBezTo>
                  <a:pt x="2285999" y="788125"/>
                  <a:pt x="2296160" y="168365"/>
                  <a:pt x="2368731" y="235131"/>
                </a:cubicBezTo>
                <a:cubicBezTo>
                  <a:pt x="2441302" y="301897"/>
                  <a:pt x="2542903" y="1190172"/>
                  <a:pt x="2621280" y="1227909"/>
                </a:cubicBezTo>
                <a:cubicBezTo>
                  <a:pt x="2699657" y="1265646"/>
                  <a:pt x="2718526" y="474617"/>
                  <a:pt x="2838994" y="461554"/>
                </a:cubicBezTo>
                <a:cubicBezTo>
                  <a:pt x="2959462" y="448491"/>
                  <a:pt x="3185885" y="1120502"/>
                  <a:pt x="3344091" y="1149531"/>
                </a:cubicBezTo>
                <a:cubicBezTo>
                  <a:pt x="3502297" y="1178560"/>
                  <a:pt x="3630023" y="708297"/>
                  <a:pt x="3788229" y="635726"/>
                </a:cubicBezTo>
                <a:cubicBezTo>
                  <a:pt x="3946435" y="563155"/>
                  <a:pt x="4132218" y="721360"/>
                  <a:pt x="4293326" y="714103"/>
                </a:cubicBezTo>
                <a:cubicBezTo>
                  <a:pt x="4454434" y="706846"/>
                  <a:pt x="4592320" y="580572"/>
                  <a:pt x="4754880" y="592183"/>
                </a:cubicBezTo>
                <a:cubicBezTo>
                  <a:pt x="4917440" y="603794"/>
                  <a:pt x="5123543" y="772160"/>
                  <a:pt x="5268686" y="783771"/>
                </a:cubicBezTo>
                <a:cubicBezTo>
                  <a:pt x="5413829" y="795382"/>
                  <a:pt x="5519783" y="728616"/>
                  <a:pt x="5625737" y="661851"/>
                </a:cubicBezTo>
              </a:path>
            </a:pathLst>
          </a:custGeom>
          <a:noFill/>
          <a:ln w="38100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C4F4212-AF83-6D69-1F02-456FB0DA3CEC}"/>
              </a:ext>
            </a:extLst>
          </p:cNvPr>
          <p:cNvCxnSpPr>
            <a:cxnSpLocks/>
          </p:cNvCxnSpPr>
          <p:nvPr/>
        </p:nvCxnSpPr>
        <p:spPr>
          <a:xfrm>
            <a:off x="2403567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082272-8A96-8350-11E7-7241BA40C2CF}"/>
              </a:ext>
            </a:extLst>
          </p:cNvPr>
          <p:cNvCxnSpPr>
            <a:cxnSpLocks/>
          </p:cNvCxnSpPr>
          <p:nvPr/>
        </p:nvCxnSpPr>
        <p:spPr>
          <a:xfrm>
            <a:off x="4497978" y="1152475"/>
            <a:ext cx="0" cy="3095576"/>
          </a:xfrm>
          <a:prstGeom prst="line">
            <a:avLst/>
          </a:prstGeom>
          <a:ln w="285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43523D-A924-7475-95F5-8755A553B1B8}"/>
              </a:ext>
            </a:extLst>
          </p:cNvPr>
          <p:cNvSpPr txBox="1"/>
          <p:nvPr/>
        </p:nvSpPr>
        <p:spPr>
          <a:xfrm>
            <a:off x="5021524" y="3251402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and precise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39D88AC-7879-22A7-183A-5579B7164B1C}"/>
              </a:ext>
            </a:extLst>
          </p:cNvPr>
          <p:cNvSpPr/>
          <p:nvPr/>
        </p:nvSpPr>
        <p:spPr>
          <a:xfrm>
            <a:off x="966651" y="2586438"/>
            <a:ext cx="5721532" cy="348714"/>
          </a:xfrm>
          <a:custGeom>
            <a:avLst/>
            <a:gdLst>
              <a:gd name="csX0" fmla="*/ 0 w 5721532"/>
              <a:gd name="csY0" fmla="*/ 43551 h 348714"/>
              <a:gd name="csX1" fmla="*/ 383178 w 5721532"/>
              <a:gd name="csY1" fmla="*/ 339642 h 348714"/>
              <a:gd name="csX2" fmla="*/ 940526 w 5721532"/>
              <a:gd name="csY2" fmla="*/ 8 h 348714"/>
              <a:gd name="csX3" fmla="*/ 1436915 w 5721532"/>
              <a:gd name="csY3" fmla="*/ 348351 h 348714"/>
              <a:gd name="csX4" fmla="*/ 2211978 w 5721532"/>
              <a:gd name="csY4" fmla="*/ 69676 h 348714"/>
              <a:gd name="csX5" fmla="*/ 3013166 w 5721532"/>
              <a:gd name="csY5" fmla="*/ 348351 h 348714"/>
              <a:gd name="csX6" fmla="*/ 3944983 w 5721532"/>
              <a:gd name="csY6" fmla="*/ 130636 h 348714"/>
              <a:gd name="csX7" fmla="*/ 4423955 w 5721532"/>
              <a:gd name="csY7" fmla="*/ 217722 h 348714"/>
              <a:gd name="csX8" fmla="*/ 4929052 w 5721532"/>
              <a:gd name="csY8" fmla="*/ 8 h 348714"/>
              <a:gd name="csX9" fmla="*/ 5138058 w 5721532"/>
              <a:gd name="csY9" fmla="*/ 209013 h 348714"/>
              <a:gd name="csX10" fmla="*/ 5495109 w 5721532"/>
              <a:gd name="csY10" fmla="*/ 174179 h 348714"/>
              <a:gd name="csX11" fmla="*/ 5721532 w 5721532"/>
              <a:gd name="csY11" fmla="*/ 156762 h 3487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5721532" h="348714">
                <a:moveTo>
                  <a:pt x="0" y="43551"/>
                </a:moveTo>
                <a:cubicBezTo>
                  <a:pt x="113212" y="195225"/>
                  <a:pt x="226424" y="346899"/>
                  <a:pt x="383178" y="339642"/>
                </a:cubicBezTo>
                <a:cubicBezTo>
                  <a:pt x="539932" y="332385"/>
                  <a:pt x="764903" y="-1443"/>
                  <a:pt x="940526" y="8"/>
                </a:cubicBezTo>
                <a:cubicBezTo>
                  <a:pt x="1116149" y="1459"/>
                  <a:pt x="1225006" y="336740"/>
                  <a:pt x="1436915" y="348351"/>
                </a:cubicBezTo>
                <a:cubicBezTo>
                  <a:pt x="1648824" y="359962"/>
                  <a:pt x="1949270" y="69676"/>
                  <a:pt x="2211978" y="69676"/>
                </a:cubicBezTo>
                <a:cubicBezTo>
                  <a:pt x="2474686" y="69676"/>
                  <a:pt x="2724332" y="338191"/>
                  <a:pt x="3013166" y="348351"/>
                </a:cubicBezTo>
                <a:cubicBezTo>
                  <a:pt x="3302000" y="358511"/>
                  <a:pt x="3709852" y="152408"/>
                  <a:pt x="3944983" y="130636"/>
                </a:cubicBezTo>
                <a:cubicBezTo>
                  <a:pt x="4180115" y="108865"/>
                  <a:pt x="4259943" y="239493"/>
                  <a:pt x="4423955" y="217722"/>
                </a:cubicBezTo>
                <a:cubicBezTo>
                  <a:pt x="4587967" y="195951"/>
                  <a:pt x="4810035" y="1459"/>
                  <a:pt x="4929052" y="8"/>
                </a:cubicBezTo>
                <a:cubicBezTo>
                  <a:pt x="5048069" y="-1443"/>
                  <a:pt x="5043715" y="179985"/>
                  <a:pt x="5138058" y="209013"/>
                </a:cubicBezTo>
                <a:cubicBezTo>
                  <a:pt x="5232401" y="238041"/>
                  <a:pt x="5397863" y="182887"/>
                  <a:pt x="5495109" y="174179"/>
                </a:cubicBezTo>
                <a:cubicBezTo>
                  <a:pt x="5592355" y="165471"/>
                  <a:pt x="5682344" y="161116"/>
                  <a:pt x="5721532" y="156762"/>
                </a:cubicBezTo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D07BD6-3722-F11F-BBE3-511787C9806D}"/>
              </a:ext>
            </a:extLst>
          </p:cNvPr>
          <p:cNvSpPr txBox="1"/>
          <p:nvPr/>
        </p:nvSpPr>
        <p:spPr>
          <a:xfrm>
            <a:off x="642915" y="1184695"/>
            <a:ext cx="19411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4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606DD0-1526-B8F1-CA27-A307E33CDC98}"/>
              </a:ext>
            </a:extLst>
          </p:cNvPr>
          <p:cNvSpPr txBox="1"/>
          <p:nvPr/>
        </p:nvSpPr>
        <p:spPr>
          <a:xfrm>
            <a:off x="1235897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5FC86F-74AC-DC6A-7EAA-2E7896E771B8}"/>
              </a:ext>
            </a:extLst>
          </p:cNvPr>
          <p:cNvSpPr txBox="1"/>
          <p:nvPr/>
        </p:nvSpPr>
        <p:spPr>
          <a:xfrm>
            <a:off x="3153953" y="1553549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A377A3-1BD7-CA57-58F1-3B0A85301E00}"/>
              </a:ext>
            </a:extLst>
          </p:cNvPr>
          <p:cNvSpPr txBox="1"/>
          <p:nvPr/>
        </p:nvSpPr>
        <p:spPr>
          <a:xfrm>
            <a:off x="5157849" y="1565117"/>
            <a:ext cx="65031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7CBBF72-5531-D7AE-EBFC-B421280DD572}"/>
              </a:ext>
            </a:extLst>
          </p:cNvPr>
          <p:cNvSpPr txBox="1"/>
          <p:nvPr/>
        </p:nvSpPr>
        <p:spPr>
          <a:xfrm>
            <a:off x="4530604" y="1163409"/>
            <a:ext cx="23317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 abundance</a:t>
            </a:r>
          </a:p>
        </p:txBody>
      </p:sp>
      <p:sp>
        <p:nvSpPr>
          <p:cNvPr id="32" name="Google Shape;92;p19">
            <a:extLst>
              <a:ext uri="{FF2B5EF4-FFF2-40B4-BE49-F238E27FC236}">
                <a16:creationId xmlns:a16="http://schemas.microsoft.com/office/drawing/2014/main" id="{7F4C6815-2A7C-C06F-BF1A-3C4EF4952A3E}"/>
              </a:ext>
            </a:extLst>
          </p:cNvPr>
          <p:cNvSpPr txBox="1">
            <a:spLocks/>
          </p:cNvSpPr>
          <p:nvPr/>
        </p:nvSpPr>
        <p:spPr>
          <a:xfrm>
            <a:off x="379818" y="95527"/>
            <a:ext cx="7946035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is at issue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EC66E9-D419-F88C-F71E-16361122252B}"/>
              </a:ext>
            </a:extLst>
          </p:cNvPr>
          <p:cNvSpPr txBox="1"/>
          <p:nvPr/>
        </p:nvSpPr>
        <p:spPr>
          <a:xfrm>
            <a:off x="944254" y="3256245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Precise (but not accurate)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796C2D-0D24-3D7A-BAC5-149A51704F5B}"/>
              </a:ext>
            </a:extLst>
          </p:cNvPr>
          <p:cNvSpPr txBox="1"/>
          <p:nvPr/>
        </p:nvSpPr>
        <p:spPr>
          <a:xfrm>
            <a:off x="2844838" y="3251782"/>
            <a:ext cx="13923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(but not precise)</a:t>
            </a:r>
          </a:p>
        </p:txBody>
      </p:sp>
    </p:spTree>
    <p:extLst>
      <p:ext uri="{BB962C8B-B14F-4D97-AF65-F5344CB8AC3E}">
        <p14:creationId xmlns:p14="http://schemas.microsoft.com/office/powerpoint/2010/main" val="40863603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8F85342-A6EF-0A85-6612-CAC14A761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1996A31-22E9-7C3E-D61C-A5404B3A6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AA6276-A3B7-399A-FAB2-1C04B232226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A02231-493F-BC1E-62CF-A2AD6084F90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F546BF8-86CB-A301-8AAF-1C3617CBA9D5}"/>
              </a:ext>
            </a:extLst>
          </p:cNvPr>
          <p:cNvSpPr txBox="1">
            <a:spLocks/>
          </p:cNvSpPr>
          <p:nvPr/>
        </p:nvSpPr>
        <p:spPr>
          <a:xfrm>
            <a:off x="311700" y="1654392"/>
            <a:ext cx="8014153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Research goal: Evaluate salmon survey methods for precision and accuracy</a:t>
            </a:r>
          </a:p>
          <a:p>
            <a:pPr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480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4EDD75F-25B6-6761-6ACD-BD252E776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4D1895BF-0D3B-A98F-02FB-C35CD301F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EFD680-BE01-E876-22B1-CA1B883E45A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3F6877-3417-6400-F43E-381936AA64A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79B32EE-9FF4-4997-84D6-3D8D3ACD45F6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D4AC916-0000-B932-D1C9-5C9ACFEC60E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425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A4A5C11-5440-97F7-3A19-6479DEA9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06FFD8D-A530-3A87-283F-DE181A172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DCC0B4A-4C56-AA58-41E9-8C87A736D3E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E1205-5EEE-5F6C-645B-CC239D1F5143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18F33363-2C62-EDC0-85C6-CFDE6E74BB4E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6FB916A-7A56-4257-8DEF-E8C44FFC9B98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5041057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5049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491FAB3-20AD-EFCF-C84C-FC7C8F33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72E0F91-451F-2691-CA5D-AA02426A1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BA552F3-C01A-9217-1BD8-0F45BCDA32F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14CAC-0921-6F46-1BD8-4111EE8BDA8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3121C85C-5BB6-C928-36A4-47DA789ACCB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CFDB709-21B6-D284-7D99-BE395FA005A0}"/>
              </a:ext>
            </a:extLst>
          </p:cNvPr>
          <p:cNvSpPr txBox="1">
            <a:spLocks/>
          </p:cNvSpPr>
          <p:nvPr/>
        </p:nvSpPr>
        <p:spPr>
          <a:xfrm>
            <a:off x="311699" y="1152474"/>
            <a:ext cx="6365725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68 salmonid populations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155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0A9154B-7F7B-6AD3-6ADB-7970DC94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5758BDA-AA3D-FE24-83DA-B8CA654D8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8D3F6B-6857-316F-F8A9-3F417ADAD9E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AC3D22-F43F-2D6B-F959-574DDA4571D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62B433D-DAC1-29DC-7A92-F22CFA2216DC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BA2A337-F1A8-9986-A896-90FF40E75FD8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670382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68 salmonid populations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3 species: Chinook, coho, steelhead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6490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D96C28-7F68-A6F1-7D21-7CF87263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9FA332A-014B-4B52-E0A0-E0A3AA26F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D54A349-93FA-6A57-209C-0931A4CD8BD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503D13-9A87-6DC4-5CA3-F197AFE10DA7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674611B-4FAA-1C18-2DE9-4CC65CA7F489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396FF29-9AEB-8595-0214-47D3E858FA76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670382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68 salmonid populations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3 species: </a:t>
            </a:r>
            <a:r>
              <a:rPr lang="en-US" sz="1800" u="sng" dirty="0">
                <a:solidFill>
                  <a:schemeClr val="bg1"/>
                </a:solidFill>
                <a:latin typeface="Arial" panose="020B0604020202020204" pitchFamily="34" charset="0"/>
              </a:rPr>
              <a:t>Chinook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, coho, steelhead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61E110-A98B-0920-022D-29FADEFF3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060" y="-74165"/>
            <a:ext cx="3054793" cy="2291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C4249E4-44A3-403A-1178-CAD35395CA2A}"/>
              </a:ext>
            </a:extLst>
          </p:cNvPr>
          <p:cNvSpPr txBox="1"/>
          <p:nvPr/>
        </p:nvSpPr>
        <p:spPr>
          <a:xfrm>
            <a:off x="6149055" y="4933922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Photo credit: Olympic </a:t>
            </a:r>
            <a:r>
              <a:rPr lang="en-US" sz="1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Nat’l</a:t>
            </a:r>
            <a:r>
              <a:rPr lang="en-US" sz="1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Park</a:t>
            </a:r>
          </a:p>
        </p:txBody>
      </p:sp>
    </p:spTree>
    <p:extLst>
      <p:ext uri="{BB962C8B-B14F-4D97-AF65-F5344CB8AC3E}">
        <p14:creationId xmlns:p14="http://schemas.microsoft.com/office/powerpoint/2010/main" val="13036431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0F7F6E5-8D4A-631D-EAFC-4B6D232D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CC5F714-AC44-F0B6-7ED4-6CCD66811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1D2C43-8B43-C678-70FD-C8620E5F031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EB03B8-03A6-0E9D-AE68-86F20368D5B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FD32749-3087-6F37-7C43-7526F93C6D0B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C65D16D-AA3A-BE10-F4F4-1509C8FBCE86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6296569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68 salmonid populations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3 species: Chinook, coho, steelhead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Annual observations, 1980 to 2022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595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9014541-6EC0-27E3-A613-A71BA0268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DC6A73B-7C09-9C0E-34AC-78B310882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AB02AD6-8900-4098-6640-F81BF96009F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0785B0-2D33-DC51-16EF-2AAB81DC4717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9FA7986E-EFD7-1F67-B810-A46D86683824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7380337-088D-ED6E-F14B-AE45A8C77244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6504038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Natural-origin spawning salmon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in Oregon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68 salmonid populations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3 species: Chinook, coho, steelhead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Annual observations, 1980 to 2022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31 survey methods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6630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16329A1-7228-3981-7A74-55F361E0E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FCD2474-599A-8461-A53D-EB866F987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870FC6-45AF-C92E-1223-DE313E4F0FE2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151DBC-C60A-6686-1202-2C45A367F6B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90FE531-DDF8-E52D-F82F-B9E5CC4697B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2F8420-596E-E88C-48F3-1C0FF04A7951}"/>
              </a:ext>
            </a:extLst>
          </p:cNvPr>
          <p:cNvSpPr/>
          <p:nvPr/>
        </p:nvSpPr>
        <p:spPr>
          <a:xfrm>
            <a:off x="0" y="106926"/>
            <a:ext cx="8325853" cy="49296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chemeClr val="tx1"/>
                </a:solidFill>
              </a:ln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3A4B2-7CAE-7EDA-E2DC-F4941EAC3E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6926"/>
            <a:ext cx="3605503" cy="4929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83FDAA1-8FD5-824B-49EA-E2E46B4E1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5503" y="106926"/>
            <a:ext cx="3318970" cy="4929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E8401A-B3B6-CCCA-A99B-D10E6DB119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4473" y="973437"/>
            <a:ext cx="1246851" cy="319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128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139CAE77-D9AA-F73D-5E65-58828572C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48C9E5B-8E8B-8248-8571-42D9DD6D3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B494EDA-40C7-82CF-2AD7-92CDC4B0302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56EEB5-CAE2-C8CA-90C8-63A7AD1CAD17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BB532A17-60EB-79CB-0F52-D0B53EDEAAB7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Survey methods -use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A12F83F-1F7C-65BD-504A-6C18D4E921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01"/>
          <a:stretch>
            <a:fillRect/>
          </a:stretch>
        </p:blipFill>
        <p:spPr>
          <a:xfrm>
            <a:off x="811574" y="1129085"/>
            <a:ext cx="6485385" cy="38990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CB516F2-6B1E-41F0-A6BF-0C44F6396741}"/>
              </a:ext>
            </a:extLst>
          </p:cNvPr>
          <p:cNvSpPr/>
          <p:nvPr/>
        </p:nvSpPr>
        <p:spPr>
          <a:xfrm>
            <a:off x="1552575" y="1876425"/>
            <a:ext cx="20955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2DC088-C489-3854-22F2-D6F71D2D6608}"/>
              </a:ext>
            </a:extLst>
          </p:cNvPr>
          <p:cNvSpPr/>
          <p:nvPr/>
        </p:nvSpPr>
        <p:spPr>
          <a:xfrm>
            <a:off x="1552575" y="2715329"/>
            <a:ext cx="20955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BEF23C-B7AB-5D3F-4D2A-DB4FBD2B2B30}"/>
              </a:ext>
            </a:extLst>
          </p:cNvPr>
          <p:cNvSpPr/>
          <p:nvPr/>
        </p:nvSpPr>
        <p:spPr>
          <a:xfrm>
            <a:off x="1552575" y="3602831"/>
            <a:ext cx="20955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2B97AA-64C5-127F-BD35-468A0938E45E}"/>
              </a:ext>
            </a:extLst>
          </p:cNvPr>
          <p:cNvSpPr/>
          <p:nvPr/>
        </p:nvSpPr>
        <p:spPr>
          <a:xfrm>
            <a:off x="1552575" y="4490333"/>
            <a:ext cx="209550" cy="152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5206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8B0F1B7-A677-E733-BE19-5631BD3A7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0E089625-A278-CFED-9BAB-2B844572E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801F24-5016-9C04-B2C5-F2350664DCA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CFCFDF-FD25-7254-6289-338DFCCC50E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C2E5094-9725-1367-22EC-484EBE91B9A4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Survey methods - frequency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F674BC-A228-9DA3-4378-F5A4050F48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23"/>
          <a:stretch>
            <a:fillRect/>
          </a:stretch>
        </p:blipFill>
        <p:spPr>
          <a:xfrm>
            <a:off x="768082" y="1129085"/>
            <a:ext cx="6528876" cy="38990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66F73-5B74-D850-B3C5-DE95234BF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129085"/>
            <a:ext cx="7745402" cy="389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327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0784720-26A8-32ED-CED3-A6E47096E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3DEBD82-3C79-8F1B-F0F4-678EA6324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501745-E4C5-ABDE-0488-A0AF0B09D2A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AFDD8-3715-43C9-F05C-16B1556BF8D3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C0EE1FCB-F79E-EF98-411C-DBE5176DF3C6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Analysis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A42B472-66EB-2FFC-AC52-A7CB5A88363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73671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2F2C6B0-9165-7037-8560-F6F79FD28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D89C9A8F-ABFE-7C4E-2A51-426C03F1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2E94B21-3183-8EFB-4BAA-D4AA10B5BD2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472A79-0AC5-559E-7B1B-017D4B31605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FBDEC21C-CA9E-2AD9-0D97-B00D75EE3FCF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875BED9-E453-E25D-C407-390240A1612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Multivariate Auto-Regressive State Space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(MARSS)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17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3BE49E2-41F3-E61E-3BB8-23962848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B5625910-B3DA-1F4B-574F-4E045C06D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38CBB4D-89B2-9A21-CAC2-BFF0C33419B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90423B-5B8A-14C9-E18A-76CFBD205DA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E3CD6E2-2F28-5293-3B1F-E6F857534788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6256C5C-B56A-CB23-5EC6-05F7750495E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Multivariate Auto-Regressive State Space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(MARSS)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In English?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31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81A9F10-C7BD-7D54-2499-8C5B3442D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414BFE6-D0E0-6075-123E-296A4D5C7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4FBCE5-AF92-B398-AA4D-6414D1C2ABF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E2E1D2-CEFA-E148-73E5-A3DC0C798C2D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A1C5A18-F3A0-5CF3-C85B-7F08ED4BD6FC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AB8CF60-15E4-FFD8-725A-0890B8CF97D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Observation equation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6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130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CBD9524-C5F3-617C-C34A-E04841B23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BED2766E-DC2E-6D9C-D4A1-6D514C3BD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334F30-69D4-05F2-BA33-D7D8C240B02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A845F7-B9FE-0B80-2C77-05108B6A214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1452ED4-17F6-78A4-E6C3-0727DF45734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A606334E-8E3D-5D67-8B5A-BD1D9A4E7816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Underlying state/process equation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513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E683C5A-9B77-D5E8-C535-6D0900FAE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2909169-1489-9221-6834-868A952EA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07D4E8-6523-D574-A070-7545510C8C0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14A0E-7AA9-F442-5D5B-135142604E5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A1181C9-5DD7-A4CC-0D2E-63F89AEF322F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B9EF4E4-3B64-6347-93D8-787922BC46E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  <a:r>
              <a:rPr lang="en-US" sz="2600" dirty="0">
                <a:solidFill>
                  <a:srgbClr val="FF8400"/>
                </a:solidFill>
                <a:latin typeface="Arial" panose="020B0604020202020204" pitchFamily="34" charset="0"/>
              </a:rPr>
              <a:t>data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707B16-C64C-2E6F-9920-F036955DB833}"/>
              </a:ext>
            </a:extLst>
          </p:cNvPr>
          <p:cNvSpPr/>
          <p:nvPr/>
        </p:nvSpPr>
        <p:spPr>
          <a:xfrm>
            <a:off x="1245326" y="3100251"/>
            <a:ext cx="1828800" cy="304800"/>
          </a:xfrm>
          <a:prstGeom prst="rect">
            <a:avLst/>
          </a:prstGeom>
          <a:noFill/>
          <a:ln w="28575">
            <a:solidFill>
              <a:srgbClr val="FF8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2051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2C91C0F-CE0F-E302-12EA-2B59E979D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C8901A3-5158-B799-8970-AB0DE5F14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809FCB0-0896-CB3B-8437-9633C575688E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CBC02F-8363-495F-23B0-39E39933315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F6F7D22E-3CBC-A071-9928-D30690848D0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DC2DEC3-C2AC-606F-4280-44008808F5F8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70F43A2-8964-5EF1-DD86-A2C026EEE574}"/>
              </a:ext>
            </a:extLst>
          </p:cNvPr>
          <p:cNvSpPr/>
          <p:nvPr/>
        </p:nvSpPr>
        <p:spPr>
          <a:xfrm>
            <a:off x="580445" y="2524190"/>
            <a:ext cx="1773141" cy="33047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33C174-B339-1845-6625-01A00B557E3F}"/>
              </a:ext>
            </a:extLst>
          </p:cNvPr>
          <p:cNvSpPr/>
          <p:nvPr/>
        </p:nvSpPr>
        <p:spPr>
          <a:xfrm>
            <a:off x="3354520" y="3047463"/>
            <a:ext cx="1773141" cy="33047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7EEAD24A-4A35-FF21-37A0-73CDC1E22404}"/>
              </a:ext>
            </a:extLst>
          </p:cNvPr>
          <p:cNvCxnSpPr>
            <a:cxnSpLocks/>
          </p:cNvCxnSpPr>
          <p:nvPr/>
        </p:nvCxnSpPr>
        <p:spPr>
          <a:xfrm>
            <a:off x="2353586" y="2886725"/>
            <a:ext cx="1000934" cy="207628"/>
          </a:xfrm>
          <a:prstGeom prst="bentConnector3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346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4C3E2C1-3DBF-FC65-3FF1-8D2139C68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67610CA-127D-6462-B9C0-CDD9C1708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FADA93B-F34A-DB2B-9393-8E1D49E96F0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0918E8-5006-28B1-9AC3-49EDB0C3DF1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79B89F1-0ED6-882F-E17C-C4677C33B3AF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056BAB9-E55C-E265-5538-FE42048F51A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What am I interested in?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43074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DF5F180-0D80-700E-001F-FF80110B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B9F492B-2E4A-6D0D-AC01-A718AE01C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12FE6E6-B145-70EE-C52B-E7A00BDF0CD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F64FFB-9F89-92AF-BAEE-0B5F8A1F28E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94491E5-F958-AD72-67BD-0215CFD19158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B8A211A-F4DD-95E9-5091-9EE03E4B95FE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I am interested in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rgbClr val="0400FF"/>
                </a:solidFill>
                <a:latin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EE09F-5A4E-E9BA-9262-590E456D9164}"/>
              </a:ext>
            </a:extLst>
          </p:cNvPr>
          <p:cNvSpPr/>
          <p:nvPr/>
        </p:nvSpPr>
        <p:spPr>
          <a:xfrm>
            <a:off x="5381625" y="3057525"/>
            <a:ext cx="91681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4297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9E433CD-26FD-7447-DFD9-ECE2395A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B3951B9-60D6-4FB9-6124-9D72524ED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A040557-5516-A8F6-1D44-2C5BE230B04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9F6CE0-D4E5-A38F-0966-667D219E332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0F7900E4-20D5-E145-A0F5-9A5FA4538B0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E03CEC1-2F74-7E94-9333-9AAB22600769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  <a:ln>
            <a:noFill/>
          </a:ln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I am interested in </a:t>
            </a:r>
            <a:r>
              <a:rPr lang="en-US" sz="2600" dirty="0">
                <a:solidFill>
                  <a:srgbClr val="0400FF"/>
                </a:solidFill>
                <a:latin typeface="Arial" panose="020B0604020202020204" pitchFamily="34" charset="0"/>
              </a:rPr>
              <a:t>precision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observation = abundance + offset +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	</a:t>
            </a: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	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						</a:t>
            </a:r>
            <a:endParaRPr lang="en-US" sz="2600" dirty="0">
              <a:solidFill>
                <a:srgbClr val="0400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5D8CA0-039E-6F49-FEA0-EB1223E563A7}"/>
              </a:ext>
            </a:extLst>
          </p:cNvPr>
          <p:cNvSpPr/>
          <p:nvPr/>
        </p:nvSpPr>
        <p:spPr>
          <a:xfrm>
            <a:off x="6621946" y="3057525"/>
            <a:ext cx="768318" cy="402009"/>
          </a:xfrm>
          <a:prstGeom prst="rect">
            <a:avLst/>
          </a:prstGeom>
          <a:noFill/>
          <a:ln w="28575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7631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ECF52C8-CCA0-FDAF-D57C-D0876D15D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72A9D89-AC92-39B6-D0F5-F4498D520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9F04647-1DD1-D02F-5B0F-264A8329663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5F2D05-0E79-899B-35CF-C4136EDE55E3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9AA09396-F1FB-0E86-A87C-6DAE10BD90A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028115F-8D43-F19A-CBB4-F4FDF3F3C882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447862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abundance = prior year abundance + randomness</a:t>
            </a:r>
          </a:p>
          <a:p>
            <a:pPr algn="ctr"/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observation = abundance +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offset 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of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accuracy</a:t>
            </a:r>
            <a:r>
              <a:rPr lang="en-US" sz="2600" dirty="0">
                <a:solidFill>
                  <a:srgbClr val="00FF04"/>
                </a:solidFill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(offset) and </a:t>
            </a:r>
            <a:r>
              <a:rPr lang="en-US" sz="2600" dirty="0">
                <a:solidFill>
                  <a:srgbClr val="0400FF"/>
                </a:solidFill>
                <a:latin typeface="Arial" panose="020B0604020202020204" pitchFamily="34" charset="0"/>
              </a:rPr>
              <a:t>precision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(error)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26B7AB-C29F-DF0E-25DE-ADF8F22A644A}"/>
              </a:ext>
            </a:extLst>
          </p:cNvPr>
          <p:cNvSpPr/>
          <p:nvPr/>
        </p:nvSpPr>
        <p:spPr>
          <a:xfrm>
            <a:off x="6621946" y="3057525"/>
            <a:ext cx="768318" cy="402009"/>
          </a:xfrm>
          <a:prstGeom prst="rect">
            <a:avLst/>
          </a:prstGeom>
          <a:noFill/>
          <a:ln w="28575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1D9B38-1EE8-8D81-FD64-89F26E7E5D43}"/>
              </a:ext>
            </a:extLst>
          </p:cNvPr>
          <p:cNvSpPr/>
          <p:nvPr/>
        </p:nvSpPr>
        <p:spPr>
          <a:xfrm>
            <a:off x="5381625" y="3057525"/>
            <a:ext cx="91681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26992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1A5D27F-FF16-F162-1679-CB21ACA1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BB5B4A78-F30D-C0E5-6DDF-9437FC0C4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6790D4-5C7F-514E-935E-A8D0884B33CE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590CEE-4778-BFAA-5FF8-D1531F146FE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2D72171-3426-42F9-035C-635D07AB30D8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938808E-1FF1-552C-40AA-9952D56B133F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447862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= prior year abundance + randomness</a:t>
            </a:r>
          </a:p>
          <a:p>
            <a:pPr algn="ctr"/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observation =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abundance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+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offset 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+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error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Estimates of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</a:rPr>
              <a:t>accuracy</a:t>
            </a:r>
            <a:r>
              <a:rPr lang="en-US" sz="2600" dirty="0">
                <a:solidFill>
                  <a:srgbClr val="00FF04"/>
                </a:solidFill>
                <a:latin typeface="Arial" panose="020B0604020202020204" pitchFamily="34" charset="0"/>
              </a:rPr>
              <a:t>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(offset) and </a:t>
            </a:r>
            <a:r>
              <a:rPr lang="en-US" sz="2600" dirty="0">
                <a:solidFill>
                  <a:srgbClr val="0400FF"/>
                </a:solidFill>
                <a:latin typeface="Arial" panose="020B0604020202020204" pitchFamily="34" charset="0"/>
              </a:rPr>
              <a:t>precision 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(error), 	as well as ‘true’ </a:t>
            </a:r>
            <a:r>
              <a:rPr lang="en-US" sz="2600" dirty="0">
                <a:solidFill>
                  <a:srgbClr val="00B050"/>
                </a:solidFill>
                <a:latin typeface="Arial" panose="020B0604020202020204" pitchFamily="34" charset="0"/>
              </a:rPr>
              <a:t>abundance</a:t>
            </a:r>
            <a:endParaRPr lang="en-US" sz="1800" dirty="0">
              <a:solidFill>
                <a:srgbClr val="00B050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F4E9EF-989D-B1EA-95B8-9B5A312B2076}"/>
              </a:ext>
            </a:extLst>
          </p:cNvPr>
          <p:cNvSpPr/>
          <p:nvPr/>
        </p:nvSpPr>
        <p:spPr>
          <a:xfrm>
            <a:off x="6621946" y="3057525"/>
            <a:ext cx="768318" cy="402009"/>
          </a:xfrm>
          <a:prstGeom prst="rect">
            <a:avLst/>
          </a:prstGeom>
          <a:noFill/>
          <a:ln w="28575">
            <a:solidFill>
              <a:srgbClr val="04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312329-1B02-EF30-E5C4-157377E90356}"/>
              </a:ext>
            </a:extLst>
          </p:cNvPr>
          <p:cNvSpPr/>
          <p:nvPr/>
        </p:nvSpPr>
        <p:spPr>
          <a:xfrm>
            <a:off x="5381625" y="3057525"/>
            <a:ext cx="916818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467623-CF08-73B6-B853-6EBD102C4794}"/>
              </a:ext>
            </a:extLst>
          </p:cNvPr>
          <p:cNvSpPr/>
          <p:nvPr/>
        </p:nvSpPr>
        <p:spPr>
          <a:xfrm>
            <a:off x="3354520" y="3047463"/>
            <a:ext cx="1773141" cy="33047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437843-AC78-693D-E8A5-A06C05284B95}"/>
              </a:ext>
            </a:extLst>
          </p:cNvPr>
          <p:cNvSpPr/>
          <p:nvPr/>
        </p:nvSpPr>
        <p:spPr>
          <a:xfrm>
            <a:off x="580445" y="2524190"/>
            <a:ext cx="1773141" cy="33047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974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BC54FE9-0E8D-1727-C4E0-9BF7F081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23F6992-2EC7-7EF3-9421-CC09A6C99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018B124-448D-9F03-E40A-5AE5739651D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DABDC0-4937-3215-B2CC-B6BBC4156CA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38D57728-DC30-5EA4-A1B8-2D7F710EC39C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Results </a:t>
            </a:r>
          </a:p>
          <a:p>
            <a:pPr algn="ctr"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1EDEECD4-49D5-8272-F5B3-04F4B51FD2D2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0972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988FEDD-A2B2-A896-B831-7AC0A606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44C5936-90B1-4F9A-1F11-274895C0F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C8FB69-4445-692F-B545-887A47EBD1E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11CF3F-1A47-B101-5CC8-13C6996A4D9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AC5814F-D136-1CAA-5684-302B5512390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FE37CD-7107-E38F-AC44-13F3E759B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019"/>
            <a:ext cx="9144000" cy="48194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7D07E75-3C8D-040F-0AD3-43EE57070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120" y="137107"/>
            <a:ext cx="1957880" cy="146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680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3256C3E-1437-900B-AA6A-0046F06E4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619289A9-2995-D56B-AC5F-0C1C4B573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BB97469-40BB-1BDF-D367-724AFC7B7E2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A2AC4A-6326-49A7-EC3A-EDCCA035A30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31EBC2B-F6C8-6891-4547-A7177EFC7CD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306268-1605-449F-36E1-AB3FCFE64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7372"/>
            <a:ext cx="9144000" cy="4777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3FE944-FF38-4EE4-DF0E-4E9A7DFD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120" y="137107"/>
            <a:ext cx="1957880" cy="146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879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354E2B1-5049-FE95-1C74-1EE0A742C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64A59F0-DAA9-D653-9BD1-0F4B026C4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4D21BDC-8913-4619-E11F-86EF2AD8B57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160381-AB95-3116-8CF5-9FE2515E936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1B904DD-77AB-1B49-4CE0-A57BB33214F5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What can be done with this information?</a:t>
            </a:r>
          </a:p>
          <a:p>
            <a:pPr algn="ctr"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3D79A732-CBA8-77B3-77AD-DC29E05C2B4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2591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8CBE127-7D5D-8D03-070A-A070453C5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5A40C1-20A0-ECE0-D584-98FC58629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DFCBDA6-229E-84AB-1D9B-0136A85217C6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D5646-ADE7-F603-9960-F38005C1490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5338638-6CC9-7B12-1344-A2ED2B2054E9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 descr="The image depicts a series of graphs comparing Chinook salmon populations in various rivers and locations from 1980 to 2024, with values ranging from 0 to 10.&#10;&#10;AI-generated content may be incorrect.">
            <a:extLst>
              <a:ext uri="{FF2B5EF4-FFF2-40B4-BE49-F238E27FC236}">
                <a16:creationId xmlns:a16="http://schemas.microsoft.com/office/drawing/2014/main" id="{742A60A8-E0E0-FBD1-EEF4-2A844E3B49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435"/>
            <a:ext cx="9144000" cy="4790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283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FF01D6B-B074-88EB-59DB-16FF9E64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CF0F4FF-869B-467E-C2F1-B2F20813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A2F4EB-3951-F473-3AAE-EF2A20A0DBAD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E769C-8986-F9A3-84F2-7276F8B9E135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C5F6C8FA-C141-2132-3359-29077D5D0368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Case Studies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C548E54-FCE1-00A3-535E-18A4620FEE2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60896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A4EB0868-7478-18E5-2198-62465C05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3BDE869-91EC-9B13-A708-97921A3B5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0F0767F-C5B4-67C6-C4B5-DD32D04029B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DBEEBB-DCF8-D05C-35FA-CB6E3E44066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6D1D995-7051-A0EC-BB5D-6DB8FE648FE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B53B2C-706E-2394-297C-4B978DF67D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12" name="Google Shape;93;p19">
            <a:extLst>
              <a:ext uri="{FF2B5EF4-FFF2-40B4-BE49-F238E27FC236}">
                <a16:creationId xmlns:a16="http://schemas.microsoft.com/office/drawing/2014/main" id="{390EF589-7AA5-90B4-D8AD-EED9CD8812F2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Accuracy and precision – four case studies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6241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7EC1FB6-CA15-7E44-E848-3C949C74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168A0B9-0C9A-E75B-3F95-07472F7A8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7E7479A-7910-BC35-B150-0BF506BDA74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7BB976-A059-A7DC-B83B-0BD6850254D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2FCBAF3-8EA6-0570-1FB0-4D18F7EA8FF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2462CB-D3BC-061C-17D4-1ED569BC6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6E820DB2-9864-C28F-0C27-D217B9C67DF9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1: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B2FD0B-F466-92A6-55A2-D48FE7E4E9A3}"/>
              </a:ext>
            </a:extLst>
          </p:cNvPr>
          <p:cNvSpPr/>
          <p:nvPr/>
        </p:nvSpPr>
        <p:spPr>
          <a:xfrm>
            <a:off x="2333625" y="1098500"/>
            <a:ext cx="1771650" cy="17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75495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404E8FE-C200-B131-B368-B5B2A96A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3B3C833-4FDB-5BEC-3332-5B9D141D2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5EBF607-E9B6-AA8C-DAA3-389B2FDBD3B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2C9D64-6647-9B8B-6414-31F7B4B0450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38CAD000-59C6-E4A0-7DA9-9D2C4D7D732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03FB7BE-39EC-A017-1179-F3EFF74E9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447172"/>
            <a:ext cx="8387802" cy="4559780"/>
          </a:xfrm>
          <a:prstGeom prst="rect">
            <a:avLst/>
          </a:prstGeom>
        </p:spPr>
      </p:pic>
      <p:sp>
        <p:nvSpPr>
          <p:cNvPr id="12" name="Google Shape;93;p19">
            <a:extLst>
              <a:ext uri="{FF2B5EF4-FFF2-40B4-BE49-F238E27FC236}">
                <a16:creationId xmlns:a16="http://schemas.microsoft.com/office/drawing/2014/main" id="{A1BCD85D-16E0-68B2-1156-23A696529459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1: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3742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5104044-AF04-2395-D526-21929BDC6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0AFE1AA-6781-5A32-EC05-C5DBF00E5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D770004-7C3F-A320-DA79-D31E0571A6F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56C531-9FE9-6882-EAA0-5D36B01EE99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233DFD1-6C6B-B013-FAD9-807DC3E1CC8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6BC2990-FBA8-7CB7-C7D1-4CB156CA0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105" y="1002433"/>
            <a:ext cx="5809676" cy="3158258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A67FFEBF-EF84-129E-EDA4-52936F046AB2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1: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B2D01-5861-21DA-99A9-F5BF0BFB89F9}"/>
              </a:ext>
            </a:extLst>
          </p:cNvPr>
          <p:cNvSpPr txBox="1"/>
          <p:nvPr/>
        </p:nvSpPr>
        <p:spPr>
          <a:xfrm>
            <a:off x="111600" y="1002433"/>
            <a:ext cx="3156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‘Dam counts + Expansion below dam’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4944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28C0F54-7FDD-B97A-7D29-B73235A40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03A61B67-8684-2737-27EE-95D5C47DA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851D1DD-AF6B-65D8-4BA9-8E318E96A8F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FEB63E-7380-A3C1-837D-55FFADCCA80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976C71A-6CC4-13BE-67EA-CB59EB9864D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A83ED81-A0CC-4E26-4F9A-B081D1D1F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105" y="1002433"/>
            <a:ext cx="5809676" cy="3158258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5D21FD0A-C16A-32B0-FD96-981108824C74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1: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1A812-41AE-4B8C-134B-32E8C7D3B257}"/>
              </a:ext>
            </a:extLst>
          </p:cNvPr>
          <p:cNvSpPr txBox="1"/>
          <p:nvPr/>
        </p:nvSpPr>
        <p:spPr>
          <a:xfrm>
            <a:off x="111600" y="1002433"/>
            <a:ext cx="3156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‘Dam counts + Expansion below dam’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Ideal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91459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01A5B1C-BDA3-A465-5E8F-274F6A174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0744E32-D264-56F7-7DB7-62BEC3AE4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26A6EAE-0004-C8EB-D462-5057AEE7C7E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35D4D1-5332-42E3-70F7-A57A6FFFD5F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F68E69B-E41E-0661-25E6-126A31283AF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 descr="The diagram displays a line chart depicting the estimated and observed data for the Coho salmon population in the North Umpqua River from the years 1990 to 2020.&#10;&#10;AI-generated content may be incorrect.">
            <a:extLst>
              <a:ext uri="{FF2B5EF4-FFF2-40B4-BE49-F238E27FC236}">
                <a16:creationId xmlns:a16="http://schemas.microsoft.com/office/drawing/2014/main" id="{C1019C00-4C38-D6C4-CD54-64CEF3936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404" y="1002433"/>
            <a:ext cx="5764132" cy="3138634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0688BE19-372F-60AC-3D5C-E4741B7B9CB7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1: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9FC31A-57A1-4C42-9F57-3EC4078DFCEA}"/>
              </a:ext>
            </a:extLst>
          </p:cNvPr>
          <p:cNvSpPr txBox="1"/>
          <p:nvPr/>
        </p:nvSpPr>
        <p:spPr>
          <a:xfrm>
            <a:off x="111600" y="1002433"/>
            <a:ext cx="315666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‘Dam counts + Expansion below dam’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Ideal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Many survey methods resemble this behavior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81240D-B011-CA3F-5081-BE81BDAE0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105" y="1002433"/>
            <a:ext cx="5809676" cy="315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93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B44756E-8D35-49AB-9B88-04A110EA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FC35D00-DF74-E2A7-A99B-312CBE87F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11DE4CC-8B87-9EE6-22C6-F22F4146311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BAEAA3-0BAF-081F-715F-9F9921BE63D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C3CB131-03BC-0103-6B5E-6DC9371C7A2C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 descr="The diagram displays a line chart depicting the estimated and observed data for the Coho salmon population in the North Umpqua River from the years 1990 to 2020.&#10;&#10;AI-generated content may be incorrect.">
            <a:extLst>
              <a:ext uri="{FF2B5EF4-FFF2-40B4-BE49-F238E27FC236}">
                <a16:creationId xmlns:a16="http://schemas.microsoft.com/office/drawing/2014/main" id="{DFA9B4E6-F818-E964-5CE8-164806BF69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404" y="1002433"/>
            <a:ext cx="5764132" cy="3138634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0F6D4354-A5F2-8B76-42D0-A6E0D88075DA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study: High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3274B7-0CF7-55CD-3B0E-F3186A419B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105" y="1002433"/>
            <a:ext cx="5809676" cy="31582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FA133B-FFCC-2429-CA89-0F8D610370A3}"/>
              </a:ext>
            </a:extLst>
          </p:cNvPr>
          <p:cNvSpPr txBox="1"/>
          <p:nvPr/>
        </p:nvSpPr>
        <p:spPr>
          <a:xfrm>
            <a:off x="111600" y="1002433"/>
            <a:ext cx="3156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‘Dam counts + Expansion below dam’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Ideal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Many survey methods resemble this behavior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No major adjustments necessary</a:t>
            </a:r>
          </a:p>
        </p:txBody>
      </p:sp>
    </p:spTree>
    <p:extLst>
      <p:ext uri="{BB962C8B-B14F-4D97-AF65-F5344CB8AC3E}">
        <p14:creationId xmlns:p14="http://schemas.microsoft.com/office/powerpoint/2010/main" val="363815808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523B27FC-086C-4ADE-25C0-4725CECD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236B01A-1553-D5E0-8BE2-F96112BE2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F68CA0-AB57-B329-08D6-114675A5EBF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DAEB7-B259-2411-F6C7-03275AD5E93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39EC29F0-4C70-A3D0-596A-888E48CE12D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A0869F-AE63-8F36-5D95-5BC1DCC74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76900724-58AC-CC76-C8CB-1A996BB3FE23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E30A5-5098-2F77-61A9-C45603AC3488}"/>
              </a:ext>
            </a:extLst>
          </p:cNvPr>
          <p:cNvSpPr/>
          <p:nvPr/>
        </p:nvSpPr>
        <p:spPr>
          <a:xfrm>
            <a:off x="2333625" y="3155975"/>
            <a:ext cx="1771650" cy="17780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9845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5339CE1-C033-CABD-F4DC-3E4720D79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E2911F5-F169-C323-C14B-7759990FB8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8794443-4B08-56D7-F0BD-C246B8FAF7B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64E55-EB23-A89F-D2D8-C31610B51A2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82ED39E-05B5-0126-3957-B1154DEC3694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47821C-5BEB-591C-007F-CC3B5B0EA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2478"/>
            <a:ext cx="8394036" cy="4570646"/>
          </a:xfrm>
          <a:prstGeom prst="rect">
            <a:avLst/>
          </a:prstGeom>
        </p:spPr>
      </p:pic>
      <p:sp>
        <p:nvSpPr>
          <p:cNvPr id="9" name="Google Shape;93;p19">
            <a:extLst>
              <a:ext uri="{FF2B5EF4-FFF2-40B4-BE49-F238E27FC236}">
                <a16:creationId xmlns:a16="http://schemas.microsoft.com/office/drawing/2014/main" id="{41E0670F-043A-B66C-E857-5EEDD02E5736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38910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500D0E4-29D7-2FDC-327B-10C09F177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B82E2D7-5B44-44E3-92FA-94BC3D069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99B38BA-0DAA-5EB6-DBC1-05F53FBC6D5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97FCF-C794-A414-189C-2570587C420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36C96AB-B2C3-085E-4C87-859EED96B6A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 descr="The image is a line graph depicting the estimated and observed Chinook salmon counts in the North Fork John Day River from 2000 to 2020.&#10;&#10;AI-generated content may be incorrect.">
            <a:extLst>
              <a:ext uri="{FF2B5EF4-FFF2-40B4-BE49-F238E27FC236}">
                <a16:creationId xmlns:a16="http://schemas.microsoft.com/office/drawing/2014/main" id="{F66F56B9-7878-9359-B22C-E4649CDF1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404" y="1006760"/>
            <a:ext cx="5764132" cy="3141499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87A39CCF-F499-F708-E616-D3F6150A14DA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DB695A-B808-4385-9453-C3EA439FEA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268" y="966467"/>
            <a:ext cx="5822239" cy="31702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305A10-68A7-0A44-4599-0AA310EC7BB8}"/>
              </a:ext>
            </a:extLst>
          </p:cNvPr>
          <p:cNvSpPr txBox="1"/>
          <p:nvPr/>
        </p:nvSpPr>
        <p:spPr>
          <a:xfrm>
            <a:off x="111600" y="1002433"/>
            <a:ext cx="3156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‘Total redd counts * Fish per redd estimate’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5840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C63DAD1-0DD9-4B10-0BC8-D8B93AD12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1B8BFBB-5F15-5692-AB41-4C806BA56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567E02-A0FE-4C4E-6193-4EA743C1C4F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A2FD5-4694-20CD-9671-664AB27F320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185F701-E2F9-F652-2E3D-69E48854484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8CD700F-8559-AF51-ACAF-41D06CFE8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268" y="966467"/>
            <a:ext cx="5822239" cy="3170274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388E9257-426F-7619-2BEB-3A33918AAA48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7E16A8-F406-4760-86BF-F6BD9E630B54}"/>
              </a:ext>
            </a:extLst>
          </p:cNvPr>
          <p:cNvSpPr txBox="1"/>
          <p:nvPr/>
        </p:nvSpPr>
        <p:spPr>
          <a:xfrm>
            <a:off x="111600" y="1002433"/>
            <a:ext cx="31566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‘Total redd counts * Fish per redd estimate’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Can lead to unfavorable management outcomes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3064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EF8D776-A2D0-9174-072C-EB5FDF5C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9DA85F8-785D-CA10-9B09-7424DDFBF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3E1F7E-3C8A-F670-D0A6-9F963B946A4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EE1BDF-0480-CD9D-1F6F-70D858107A8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7C8BA6BE-ABBF-E4B9-7604-D61311AD056B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23F6504-DC4A-86A0-47DB-2625AB67CE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268" y="966467"/>
            <a:ext cx="5822239" cy="3170274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39D066C6-C437-CC09-8C1A-6650A04F973F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31BC0-35C0-E3C9-9F87-726FC243D9B1}"/>
              </a:ext>
            </a:extLst>
          </p:cNvPr>
          <p:cNvSpPr txBox="1"/>
          <p:nvPr/>
        </p:nvSpPr>
        <p:spPr>
          <a:xfrm>
            <a:off x="111600" y="1002433"/>
            <a:ext cx="3156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‘Total redd counts * Fish per redd estimate’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Can lead to unfavorable management outcomes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Captures abundance shifts, despite over/under counting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80978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1B8E5DF-39FF-0C0D-B88C-E631B1538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985F2DA-B580-2F58-EB79-0E88EB626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4090BF4-2DD1-901A-F1B6-7925F3184FB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F8599-42F1-AE6A-EA14-22FF57A28FC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DC6C5A0-ED6D-9CF4-2BAF-0C56A693AB9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5003C3-4394-E235-1100-47C718DF1F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268" y="966467"/>
            <a:ext cx="5822239" cy="3170274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1E0582AE-DBAD-43B5-B023-C462B90C20F4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2: High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95FB6-683D-6337-F6E1-91E52DA166A9}"/>
              </a:ext>
            </a:extLst>
          </p:cNvPr>
          <p:cNvSpPr txBox="1"/>
          <p:nvPr/>
        </p:nvSpPr>
        <p:spPr>
          <a:xfrm>
            <a:off x="111600" y="1002433"/>
            <a:ext cx="3156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‘Total redd counts * Fish per redd estimate’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Can lead to unfavorable management outcomes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Captures abundance shifts, despite over/under counting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Easily adjustable if bias is known</a:t>
            </a:r>
          </a:p>
        </p:txBody>
      </p:sp>
    </p:spTree>
    <p:extLst>
      <p:ext uri="{BB962C8B-B14F-4D97-AF65-F5344CB8AC3E}">
        <p14:creationId xmlns:p14="http://schemas.microsoft.com/office/powerpoint/2010/main" val="24600857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D5C58F5-8D1D-C853-D366-0FF751050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B609C82-240A-932B-4BDE-4FAB2314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D9AF2F9-2F3A-2F8A-4475-1683638AD98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AE734B-2546-94AD-1D67-50927E800DB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E553993-7EA3-FAD4-909E-0211F4E9E83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4FB73A-D88F-3E0A-851A-9BEE93D74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7301D760-B1DA-2A69-5C45-7B6F3891145A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5467BA-6BEB-162A-A791-5E1883C80959}"/>
              </a:ext>
            </a:extLst>
          </p:cNvPr>
          <p:cNvSpPr/>
          <p:nvPr/>
        </p:nvSpPr>
        <p:spPr>
          <a:xfrm>
            <a:off x="4572000" y="1083357"/>
            <a:ext cx="1828800" cy="17836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0975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52EEC65-A822-E9CA-72C0-B9993202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35D1852-4A4E-C8FE-AFE2-0BDC13561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2769D77-2128-D6C0-505C-6D766D66129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B20FE4-E929-08CC-7563-B8C1D0DEA48F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A42F155D-A535-EF66-03B7-EF2C3AFB580D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AB490D-8F37-E4EF-BE1E-217D0FD27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0413"/>
            <a:ext cx="8517472" cy="4622710"/>
          </a:xfrm>
          <a:prstGeom prst="rect">
            <a:avLst/>
          </a:prstGeom>
        </p:spPr>
      </p:pic>
      <p:sp>
        <p:nvSpPr>
          <p:cNvPr id="12" name="Google Shape;93;p19">
            <a:extLst>
              <a:ext uri="{FF2B5EF4-FFF2-40B4-BE49-F238E27FC236}">
                <a16:creationId xmlns:a16="http://schemas.microsoft.com/office/drawing/2014/main" id="{01E4482A-AD8F-431C-F62A-F5EE86915453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43485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735C8E0-5C5A-E35E-AA65-6796252C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34EF6D5-1E10-5E7F-5922-E02D8F986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0AACC6-F470-128A-02F0-B2E1D0FCB22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68A984-929B-9EEC-74D2-CB60B9BC8F37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7862D4C-2FE1-8D17-AE86-C26F09B63087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850AE61-76F2-E064-623C-3ECD32AE3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258" y="1026427"/>
            <a:ext cx="5802142" cy="3149012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90C64372-B1F3-0C68-3B04-9B7B7E2AAF70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190A5C-0ACB-F69A-2D51-236F9D522539}"/>
              </a:ext>
            </a:extLst>
          </p:cNvPr>
          <p:cNvSpPr txBox="1"/>
          <p:nvPr/>
        </p:nvSpPr>
        <p:spPr>
          <a:xfrm>
            <a:off x="111600" y="1002433"/>
            <a:ext cx="3156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redd count expansion * Fish per redd estimate’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7488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D511179-85AA-2099-4B8C-79ADBE27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52E2E9D-FC20-37C4-4D40-4062E07D1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B88860-526C-62AD-F573-2E997E76992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EFE27A-74C8-A971-7991-AAB986E3E62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3F4A1B6-A254-83B2-72D6-35BA5BB3A84C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8FDFA1C-5BBE-0A1D-25EF-FC9E82A85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258" y="1026427"/>
            <a:ext cx="5802142" cy="3149012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E752A6AE-E6AF-B15D-9E88-975E6E875B58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B0BE5-A223-CF2D-0863-DD5966F5A036}"/>
              </a:ext>
            </a:extLst>
          </p:cNvPr>
          <p:cNvSpPr txBox="1"/>
          <p:nvPr/>
        </p:nvSpPr>
        <p:spPr>
          <a:xfrm>
            <a:off x="111600" y="1002433"/>
            <a:ext cx="31566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redd count expansion * Fish per redd estimate’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Captures general trends over time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2056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416789C-0551-7A03-75BB-22E88C5A6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14F312A-07EA-0F9C-9C43-75C8B8367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91B4B21-0B49-C4B2-66B4-D48F7361D81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F2CDF3-310E-0881-1C8E-4614D0B92C7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A2B44F39-92A3-A45A-E051-7B903BB4111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D8CEC4-94C3-DC9A-344C-36EED027A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258" y="1026427"/>
            <a:ext cx="5802142" cy="3149012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484B4A4F-AED1-63C6-498B-9020F2010A99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748DD-6904-0C87-E823-58A2A645C35B}"/>
              </a:ext>
            </a:extLst>
          </p:cNvPr>
          <p:cNvSpPr txBox="1"/>
          <p:nvPr/>
        </p:nvSpPr>
        <p:spPr>
          <a:xfrm>
            <a:off x="111600" y="1002433"/>
            <a:ext cx="31566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redd count expansion * Fish per redd estimate’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Captures general trends over time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Obscures short term shifts - impacts of interventions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743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12DFB11-C860-2723-FFB5-6019461B0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EAE0994-46E4-39C7-4983-2759B3666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4515B39-ED95-5976-0BDF-4045EAD9970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1B0F7E-09FF-FBB1-6B94-BD4CC009FCD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31F30B1-2AA7-4E88-BAF4-DDEE5F0A19A5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3407048-151F-75FD-A0EE-EE8AA73A0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258" y="1026427"/>
            <a:ext cx="5802142" cy="3149012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E237E9E1-63AC-ED4C-D1D8-4D849E623C96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3: Low precision, high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C32291-F081-D4E6-AB9B-BD1CC4EF6D8A}"/>
              </a:ext>
            </a:extLst>
          </p:cNvPr>
          <p:cNvSpPr txBox="1"/>
          <p:nvPr/>
        </p:nvSpPr>
        <p:spPr>
          <a:xfrm>
            <a:off x="111600" y="1002433"/>
            <a:ext cx="31566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redd count expansion * Fish per redd estimate’</a:t>
            </a:r>
          </a:p>
          <a:p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Captures general trends over time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Obscures short term shifts - impacts of interventions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Difficult to adjust for low precision</a:t>
            </a:r>
          </a:p>
        </p:txBody>
      </p:sp>
    </p:spTree>
    <p:extLst>
      <p:ext uri="{BB962C8B-B14F-4D97-AF65-F5344CB8AC3E}">
        <p14:creationId xmlns:p14="http://schemas.microsoft.com/office/powerpoint/2010/main" val="12821308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07B49C8-2EA5-2245-A1BF-F4738C1A5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EC39987-D8B6-9403-03A0-F87A38944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F8596C3-F25F-1DE5-2191-A1A46359C9F8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BABC91-C346-1492-977D-473272A354C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6A8534B-8754-7A43-8039-E546BE6AFA9C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63C4C4-F512-7C4D-C0BA-B673AB77E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775" y="509044"/>
            <a:ext cx="5138737" cy="4605831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EC352385-6AA4-4802-CE75-557D8F9B4941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F2E1A-F952-9927-41AF-A2F52300362B}"/>
              </a:ext>
            </a:extLst>
          </p:cNvPr>
          <p:cNvSpPr/>
          <p:nvPr/>
        </p:nvSpPr>
        <p:spPr>
          <a:xfrm>
            <a:off x="4594208" y="3143250"/>
            <a:ext cx="1828800" cy="1814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827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E04EF89-4997-397A-342E-182CE692E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E655B6B-EFBE-93B7-0CDE-16CF14EDC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BE19F2D-B3C7-7E93-58B1-760137DC19F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2A4E3C-5538-1A06-8CDB-20CC3C69B6C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13987F6-4168-2A76-84CE-1EBB43C99009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6DAA695-BECE-F7C7-6AEF-2AB343E55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8401"/>
            <a:ext cx="8452433" cy="4586236"/>
          </a:xfrm>
          <a:prstGeom prst="rect">
            <a:avLst/>
          </a:prstGeom>
        </p:spPr>
      </p:pic>
      <p:sp>
        <p:nvSpPr>
          <p:cNvPr id="9" name="Google Shape;93;p19">
            <a:extLst>
              <a:ext uri="{FF2B5EF4-FFF2-40B4-BE49-F238E27FC236}">
                <a16:creationId xmlns:a16="http://schemas.microsoft.com/office/drawing/2014/main" id="{CE6479FE-4CFC-9A15-C79D-5DF6DE417D1D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4667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F326BF7-D18B-4D90-6E97-890900342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637CCD5-1BE0-DBDC-A9F8-D094C7C7A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0913B00-A94C-46F5-B6E7-B125562B318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A36D0-DB9F-10EB-6274-952F8C42F12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C12CF04-9114-2F6F-C76D-1CB85E250E8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0F86AF-5159-31C8-B99E-EB0A68D9B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180" y="1004251"/>
            <a:ext cx="5840596" cy="3169070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503AEDC4-E818-C7D8-9DEE-04C919C9DC9B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D95D2-39F8-BC5C-5327-D80267BD8C46}"/>
              </a:ext>
            </a:extLst>
          </p:cNvPr>
          <p:cNvSpPr txBox="1"/>
          <p:nvPr/>
        </p:nvSpPr>
        <p:spPr>
          <a:xfrm>
            <a:off x="111600" y="1002433"/>
            <a:ext cx="3156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spawner count expansion’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201299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0D6817E-F0CF-028A-6A20-334A6CEC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9BEBD78-DB49-C5C6-7551-4E47F67F4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B44890D-ABA2-615F-760C-8CEF4B7EC3CC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66BB2-66BD-3855-953D-441343DF23FC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12D12DE-B000-6866-DFB6-C454FCD7556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B093BE-B6E4-550B-7372-141FCBCBD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180" y="1004251"/>
            <a:ext cx="5840596" cy="3169070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89500F71-C678-D4C4-32DC-CABD8805D444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171153-A3B6-0D44-F334-9DE91FAFADB6}"/>
              </a:ext>
            </a:extLst>
          </p:cNvPr>
          <p:cNvSpPr txBox="1"/>
          <p:nvPr/>
        </p:nvSpPr>
        <p:spPr>
          <a:xfrm>
            <a:off x="111600" y="1002433"/>
            <a:ext cx="31566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spawner count expansion’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Worst case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16451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1383B52-34E0-9173-7858-E270C6530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29C73213-0F1F-0655-A774-2025EF84C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99880C-5B1A-E863-9971-6380673A382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810A09-DDAE-1E65-A802-779E359FD8C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883B08E-4885-0B3D-2D62-FAC9D2571B32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37850D-F242-368B-13A8-48A654CEF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180" y="1004251"/>
            <a:ext cx="5840596" cy="3169070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8080050C-08D2-CF0D-EDF9-262E24D9FC36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8A94EA-3960-84BD-B9B8-CDAF7FB12BE2}"/>
              </a:ext>
            </a:extLst>
          </p:cNvPr>
          <p:cNvSpPr txBox="1"/>
          <p:nvPr/>
        </p:nvSpPr>
        <p:spPr>
          <a:xfrm>
            <a:off x="111600" y="1002433"/>
            <a:ext cx="31566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spawner count expansion’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Worst case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Both true abundance and short-term trends are obscured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20883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B95630A-99D3-6BC1-70D7-FC4C22AB4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D330101-7500-D3BB-AD3D-0E5D98D09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7493A3F-20AD-5007-D25F-F463E8979155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DF001B-E0D4-86C8-9CD0-53434E4B150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554CA5A-7E58-1AA3-25AF-072C52BC9AD1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73B1BC2-E407-CB83-FB6E-47E1F5D4F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2180" y="1004251"/>
            <a:ext cx="5840596" cy="3169070"/>
          </a:xfrm>
          <a:prstGeom prst="rect">
            <a:avLst/>
          </a:prstGeom>
        </p:spPr>
      </p:pic>
      <p:sp>
        <p:nvSpPr>
          <p:cNvPr id="4" name="Google Shape;93;p19">
            <a:extLst>
              <a:ext uri="{FF2B5EF4-FFF2-40B4-BE49-F238E27FC236}">
                <a16:creationId xmlns:a16="http://schemas.microsoft.com/office/drawing/2014/main" id="{88E9F875-D509-9DB3-921A-F491A877260A}"/>
              </a:ext>
            </a:extLst>
          </p:cNvPr>
          <p:cNvSpPr txBox="1">
            <a:spLocks/>
          </p:cNvSpPr>
          <p:nvPr/>
        </p:nvSpPr>
        <p:spPr>
          <a:xfrm>
            <a:off x="-1" y="-75626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Case study 4: Low precision, low accuracy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17F6B-A621-732B-5559-4B7E5E3637A9}"/>
              </a:ext>
            </a:extLst>
          </p:cNvPr>
          <p:cNvSpPr txBox="1"/>
          <p:nvPr/>
        </p:nvSpPr>
        <p:spPr>
          <a:xfrm>
            <a:off x="111600" y="1002433"/>
            <a:ext cx="31566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Surveyed with ‘Peak spawner count expansion’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Worst case scenario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Both true abundance and short-term trends are obscured</a:t>
            </a:r>
          </a:p>
          <a:p>
            <a:pPr marL="285750" indent="-285750">
              <a:buFontTx/>
              <a:buChar char="-"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</a:rPr>
              <a:t>Long-term trends are somewhat discernable</a:t>
            </a:r>
          </a:p>
        </p:txBody>
      </p:sp>
    </p:spTree>
    <p:extLst>
      <p:ext uri="{BB962C8B-B14F-4D97-AF65-F5344CB8AC3E}">
        <p14:creationId xmlns:p14="http://schemas.microsoft.com/office/powerpoint/2010/main" val="10925238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F4F2DFA2-590B-F46E-E44C-6D65C8B95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63CF6EA-DE5D-92D4-6CD9-AD9DABD95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D69E11-7747-A0F2-DC55-5A3B452FC8A2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EF557D-D7C5-C331-62F0-B3A71847776F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38BB27C8-4EFA-651F-2652-D154B34AFF7D}"/>
              </a:ext>
            </a:extLst>
          </p:cNvPr>
          <p:cNvSpPr txBox="1">
            <a:spLocks/>
          </p:cNvSpPr>
          <p:nvPr/>
        </p:nvSpPr>
        <p:spPr>
          <a:xfrm>
            <a:off x="311700" y="2118129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176B126-48AF-25FB-47F8-755F4D69B44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2738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A1290F2-E7D4-090E-5D8A-A7A49F821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904CAEB2-A9CE-7A30-AE42-593FF6178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E1AE9F-69CC-EBC3-C0D5-A164B0B344C0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F95DD4-075A-2718-4525-E9830BCE84B8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3B61F7B-0E31-0A07-5FBE-437582B69F4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-3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56BE6BA-A102-FD8D-27E3-34D0032CE419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5196823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Wide variety of survey methods available to biologists</a:t>
            </a: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357650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C9621CF-62D7-48FA-F4C7-7EE88EB7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EBCD859-64BA-426F-A7F3-9180A3D03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97CF074-C8A5-4C15-B2F3-FF9BCC29E813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AC7DB0-F0C5-91A5-13FE-C72146AE9A0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4F927281-C950-9768-CE87-C127FC7F5F5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-3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A544B00-C89D-1FD7-7DED-39BC2CBCCFD7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5196823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Wide variety of survey methods available to biologists</a:t>
            </a: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Understanding accuracy and precision is crucial</a:t>
            </a: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59548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E49507D4-1962-B2E2-D705-01ABE0A6E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A79BF54-79E7-486C-C8FD-81724E582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78550E6-BAA7-373D-CA0E-FEC307A336E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FFD5DD-F817-6120-2CDF-3F6D3106C49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FC951869-8A9F-3B79-9504-580ACA75EAF1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0" i="0" u="none" strike="noStrike" kern="1200" cap="none" spc="-3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A5CCA6BC-BC6A-0948-3A93-735B84CDE265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5196823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Wide variety of survey methods available to biologists</a:t>
            </a: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Understanding </a:t>
            </a:r>
            <a:r>
              <a:rPr lang="en-US" sz="2600" dirty="0">
                <a:solidFill>
                  <a:srgbClr val="000000"/>
                </a:solidFill>
                <a:latin typeface="Arial" panose="020B0604020202020204" pitchFamily="34" charset="0"/>
              </a:rPr>
              <a:t>accuracy</a:t>
            </a: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and precision is crucial</a:t>
            </a: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6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600" b="0" i="0" u="none" strike="noStrike" kern="120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Interpreting impacts of conservation actions depends on fidelity of estimates</a:t>
            </a:r>
            <a:endParaRPr kumimoji="0" lang="en-US" sz="18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6858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1800" b="0" i="0" u="none" strike="noStrike" kern="1200" cap="none" spc="8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8630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74A11600-58FF-3BB8-400E-0511682F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4F14F30E-BD31-5507-EC5F-71661C840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D652048-DB2C-433C-F37E-4B0877F39939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290F9F-D061-7211-35DE-A285A355B165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7CE58604-B0DE-7684-5A7F-99B723BA2EFB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372C666-DF6C-1072-0673-E354170F51D8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Majority of survey methods analyzed are neither heavily inaccurate nor imprecise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38527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FD1C14C-14E8-EFBB-FF15-CD3427283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4CA383C-89B4-BBAD-35A6-03AEABE7E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AA9DBD2-B8E3-195F-A8A4-8A8A4178A956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D3CBC9-AB40-EEE4-528D-6A3A03D5558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9AC940AE-3114-8550-825B-FB1DB19996A0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65A01D5-3027-526A-017F-D43D7CAE2C25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Majority of survey methods analyzed are neither heavily inaccurate nor imprecise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Low precision obscures abundances shifts in the near term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4549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33F46D8-C6D1-CC4B-53F5-34E47DA8B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F963F7E7-C2F5-E8B8-B775-11D89B30B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ADADB5-873C-291C-06B2-D5239258CB4A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FB4E28-CC8D-630B-5B41-C60DA6B5EAC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A4E6B22B-8B2B-5D8A-EFEA-393A1CFF1EDB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DF6B2ECB-7028-78B1-E52F-38874C6C1879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Majority of survey methods analyzed are neither heavily inaccurate nor imprecise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Low precision obscures abundances shifts in the near term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Low accuracy creates false impression of abundance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928342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043CD3C1-9F2E-8834-257D-2AAB42408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761DB4E6-E915-ED8F-A0DD-B000F2B66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D6B6F39-01F8-0A9B-7119-5C7139428288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03A392-4200-C30F-3B03-F6F1D774B26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D0AAA23F-0CE6-7C2A-7C62-F63AF2F74736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3571F119-2F54-3A38-98AD-89650575BBEE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Patterns of survey method behavior occur at level of species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41331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93F34825-FD49-6C41-1766-1D45183BD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56507B3-89D5-7526-9620-8C0B185F3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41D0A0-002A-CB30-835F-A6D4F853D30F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5D97C8-03E7-703A-D1C9-B772352664BD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5418B4A-F5B6-3F0D-B3D4-745143A8E2CE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CC74F46-52D6-859B-CF89-AFB54D8FDBEA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Patterns of survey method behavior occur at level of species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The same survey method can exhibit differing levels of precision and accuracy across species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2859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4F8E02E2-AC12-E770-6DAC-23BDF0DDE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A47C12D4-2934-868D-926E-AF582556D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7401102-DA99-46EA-4208-D9DC63C56DE9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BED9A9-26C5-2D2D-1419-D18D85C3CA3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E691EDFF-B813-9075-B261-3EF9AD1E28D5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F00B0BFC-FB90-B357-073C-8A0DC8EA669D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all methods are universally applicable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8102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972C764-102C-3FD9-542D-D213FF47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57400DF5-3BDC-02C6-449C-83247A941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F304D4-2B1A-5C4D-BBF1-6F0E454EBD07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656F4-3D7A-0FE0-8E2A-E5F18C8E59ED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4EAEEA32-BD6A-892A-0642-0346B20C6749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5A443FDC-0BCA-A5FA-D7F6-77C5C31F3734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all methods are universally applicable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Often employment of method is driven by factors beyond the scope of this work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233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C50A2235-C8C1-9FDD-E483-966876EE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E418DA6E-1E0A-D271-4219-982258EAC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A504F02-0645-AE5E-E6C8-C19B107D5872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E97A21-2561-4304-5230-DF76DE820201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9B465A1-A536-2121-ED48-40AB452B237B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Discussion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7CC4E24-5EB1-629E-59CF-912CDE184A5D}"/>
              </a:ext>
            </a:extLst>
          </p:cNvPr>
          <p:cNvSpPr txBox="1">
            <a:spLocks/>
          </p:cNvSpPr>
          <p:nvPr/>
        </p:nvSpPr>
        <p:spPr>
          <a:xfrm>
            <a:off x="311701" y="1152474"/>
            <a:ext cx="5291578" cy="41200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Not all methods are universally applicable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Often employment of method is driven by factors beyond the scope of this work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The best method is the one that can be implemented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31326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86EC7A3-D04F-90BA-3242-094E668DC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443B3274-B931-F27E-9C0D-E186D58F8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1EE494F-42B9-04BB-1453-AA39C25309D2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D6C905-75E0-00B3-38BE-FAABDA7C874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C4910B4A-4829-39F5-9402-521CB4AFF32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1D778D54-596D-5880-AEE2-8E44A3C043C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529897"/>
            <a:ext cx="8325853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" sz="3600" dirty="0">
                <a:solidFill>
                  <a:schemeClr val="bg1"/>
                </a:solidFill>
              </a:rPr>
              <a:t>Investigating precision and accuracy of commonly used salmonid abundance survey methods</a:t>
            </a:r>
            <a:br>
              <a:rPr lang="en" sz="3600" dirty="0">
                <a:solidFill>
                  <a:schemeClr val="bg1"/>
                </a:solidFill>
              </a:rPr>
            </a:br>
            <a:br>
              <a:rPr lang="en" sz="3600" dirty="0">
                <a:solidFill>
                  <a:schemeClr val="bg1"/>
                </a:solidFill>
              </a:rPr>
            </a:b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FE004C-D83C-ED4C-7EDC-DAD1B6451584}"/>
              </a:ext>
            </a:extLst>
          </p:cNvPr>
          <p:cNvSpPr/>
          <p:nvPr/>
        </p:nvSpPr>
        <p:spPr>
          <a:xfrm>
            <a:off x="311700" y="1899684"/>
            <a:ext cx="7769043" cy="21602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9" name="Google Shape;238;p39">
            <a:extLst>
              <a:ext uri="{FF2B5EF4-FFF2-40B4-BE49-F238E27FC236}">
                <a16:creationId xmlns:a16="http://schemas.microsoft.com/office/drawing/2014/main" id="{E3994D2C-7D47-0134-C09A-37783E20328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765" y="1966500"/>
            <a:ext cx="2664673" cy="122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239;p39">
            <a:extLst>
              <a:ext uri="{FF2B5EF4-FFF2-40B4-BE49-F238E27FC236}">
                <a16:creationId xmlns:a16="http://schemas.microsoft.com/office/drawing/2014/main" id="{3675B93F-F9A6-4BD1-D0A1-DBC1C6D8261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649" y="3438700"/>
            <a:ext cx="3801300" cy="55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8A8FBB-4903-D76B-4458-A352752613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093" y="3375123"/>
            <a:ext cx="1861648" cy="604799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9308B48-D03A-FC1F-0339-5F6144D11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2861" y="1980671"/>
            <a:ext cx="995825" cy="127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Google Shape;237;p39">
            <a:extLst>
              <a:ext uri="{FF2B5EF4-FFF2-40B4-BE49-F238E27FC236}">
                <a16:creationId xmlns:a16="http://schemas.microsoft.com/office/drawing/2014/main" id="{60D7258E-489A-0103-649A-14F715E1BD3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200" y="4581785"/>
            <a:ext cx="8325853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Brian McGreal						bmcgreal@uw.edu</a:t>
            </a:r>
            <a:endParaRPr sz="2400" dirty="0">
              <a:solidFill>
                <a:schemeClr val="dk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0F6FD01-2A64-62B1-6DD8-0BD5AAFE4B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080" y="1993582"/>
            <a:ext cx="1324074" cy="1272769"/>
          </a:xfrm>
          <a:prstGeom prst="rect">
            <a:avLst/>
          </a:prstGeom>
        </p:spPr>
      </p:pic>
      <p:pic>
        <p:nvPicPr>
          <p:cNvPr id="16" name="Picture 15" descr="The image depicts the US Geological Survey (USGS) logo, symbolizing their commitment to science for a changing world.&#10;&#10;AI-generated content may be incorrect.">
            <a:extLst>
              <a:ext uri="{FF2B5EF4-FFF2-40B4-BE49-F238E27FC236}">
                <a16:creationId xmlns:a16="http://schemas.microsoft.com/office/drawing/2014/main" id="{9D297DE7-611B-EE71-921B-135EC19984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2612" y="3380998"/>
            <a:ext cx="1629426" cy="598924"/>
          </a:xfrm>
          <a:prstGeom prst="rect">
            <a:avLst/>
          </a:prstGeom>
        </p:spPr>
      </p:pic>
      <p:pic>
        <p:nvPicPr>
          <p:cNvPr id="17" name="Picture 16" descr="The image depicts the Oregon State University emblem, featuring a bear and the university's acronym, surrounded by the year 1868.&#10;&#10;AI-generated content may be incorrect.">
            <a:extLst>
              <a:ext uri="{FF2B5EF4-FFF2-40B4-BE49-F238E27FC236}">
                <a16:creationId xmlns:a16="http://schemas.microsoft.com/office/drawing/2014/main" id="{64AE957C-7165-B86A-5E94-1E888582D9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4910" y="1980672"/>
            <a:ext cx="1211897" cy="127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15783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92AEF6D9-EB5A-BFCD-F67A-C7225BD82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953A8F-7E9E-683A-7DA0-405C4B413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15C08D-8C61-9CA8-F9A6-9ABBDC5F7E4E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CE4A8F-52C6-379E-3957-650817227BD9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39FF5CE-C3E7-CCEA-E1F1-DBC7BADE886A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FE7AE96-7710-D4DA-0690-343EF9236E4B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Specifying matrices properly is crucial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C12785-2E4B-BCA8-73F2-EE5ACA663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54" y="1846813"/>
            <a:ext cx="8467740" cy="16437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A590F9-C3B1-860B-2C19-78006A7CA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8475" y="3772808"/>
            <a:ext cx="5943600" cy="65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1835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1D4BF78D-697F-20AA-44F4-DE080530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4B30E51B-3AA6-62B6-A693-1B6B2B165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4786C2B-D93E-9016-481B-01EA3ED419E4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8A3600-CCF1-0ED0-8CF5-EE0BCB7D58EF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29910C7B-DA53-BF8F-0A4E-C9EA61851A67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A0BB776-84CA-2D31-62EA-6020A53B2526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Observation equation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b="1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sz="26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y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=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Zx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a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v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, where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v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</a:rPr>
              <a:t>∼MVN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(0,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R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53621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113A6FB6-8A09-A53F-5CCD-275450BFC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285D9AC-2471-092A-BE91-2F1A58F4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2BD94B9-A4A3-3024-056D-303F4F88C09B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2E005F-AEB6-F00B-E6E1-557613ADEF8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375D2F95-478B-52F1-C59F-EC3C887166F3}"/>
              </a:ext>
            </a:extLst>
          </p:cNvPr>
          <p:cNvSpPr txBox="1">
            <a:spLocks/>
          </p:cNvSpPr>
          <p:nvPr/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Modeling approach</a:t>
            </a: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A22F183A-28ED-9C8F-76BF-CD2BFF018075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014153" cy="388375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MARSS models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Underlying state/process equation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	</a:t>
            </a:r>
          </a:p>
          <a:p>
            <a:pPr algn="ctr"/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x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= 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Bx</a:t>
            </a:r>
            <a:r>
              <a:rPr lang="en-US" sz="2600" b="1" baseline="-25000" dirty="0">
                <a:solidFill>
                  <a:schemeClr val="bg1"/>
                </a:solidFill>
                <a:latin typeface="Arial" panose="020B0604020202020204" pitchFamily="34" charset="0"/>
              </a:rPr>
              <a:t>t−1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u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w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, where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</a:rPr>
              <a:t>w</a:t>
            </a:r>
            <a:r>
              <a:rPr lang="en-US" sz="2600" b="1" baseline="-25000" dirty="0" err="1">
                <a:solidFill>
                  <a:schemeClr val="bg1"/>
                </a:solidFill>
                <a:latin typeface="Arial" panose="020B0604020202020204" pitchFamily="34" charset="0"/>
              </a:rPr>
              <a:t>t</a:t>
            </a:r>
            <a:r>
              <a:rPr lang="en-US" sz="2600" dirty="0" err="1">
                <a:solidFill>
                  <a:schemeClr val="bg1"/>
                </a:solidFill>
                <a:latin typeface="Arial" panose="020B0604020202020204" pitchFamily="34" charset="0"/>
              </a:rPr>
              <a:t>∼MVN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(0,</a:t>
            </a:r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</a:rPr>
              <a:t>Q</a:t>
            </a:r>
            <a:r>
              <a:rPr lang="en-US" sz="2600" dirty="0">
                <a:solidFill>
                  <a:schemeClr val="bg1"/>
                </a:solidFill>
                <a:latin typeface="Arial" panose="020B0604020202020204" pitchFamily="34" charset="0"/>
              </a:rPr>
              <a:t>)</a:t>
            </a:r>
          </a:p>
          <a:p>
            <a:pPr algn="ctr"/>
            <a:r>
              <a:rPr lang="en-US" sz="26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y</a:t>
            </a:r>
            <a:r>
              <a:rPr lang="en-US" sz="2600" b="1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= </a:t>
            </a:r>
            <a:r>
              <a:rPr lang="en-US" sz="26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Zx</a:t>
            </a:r>
            <a:r>
              <a:rPr lang="en-US" sz="2600" b="1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+ </a:t>
            </a:r>
            <a:r>
              <a:rPr lang="en-US" sz="26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lang="en-US" sz="2600" b="1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 where </a:t>
            </a:r>
            <a:r>
              <a:rPr lang="en-US" sz="26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v</a:t>
            </a:r>
            <a:r>
              <a:rPr lang="en-US" sz="2600" b="1" baseline="-25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lang="en-US" sz="26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∼MVN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(0,</a:t>
            </a:r>
            <a:r>
              <a:rPr lang="en-US" sz="2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sz="2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algn="ctr"/>
            <a:endParaRPr lang="en-US" sz="2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		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9960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C88AC270-AE0A-5963-8FDE-1E318C3C6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0EBF55-1E89-C300-DE11-D128A6780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7E12C1-656B-DD1F-7852-69CF8CF3EBE2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7C3C13-BB0F-E40D-C590-9F35E99B8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2660" y="-357081"/>
            <a:ext cx="10437896" cy="62892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A1795F-AF30-6C05-9AB1-BEC510C907DF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5E05B2D5-A24E-CB7E-8631-319F3714128C}"/>
              </a:ext>
            </a:extLst>
          </p:cNvPr>
          <p:cNvSpPr txBox="1">
            <a:spLocks/>
          </p:cNvSpPr>
          <p:nvPr/>
        </p:nvSpPr>
        <p:spPr>
          <a:xfrm>
            <a:off x="-1237903" y="288275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latin typeface="Arial" panose="020B0604020202020204" pitchFamily="34" charset="0"/>
              </a:rPr>
              <a:t>Coho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975B8BB-3956-DCE2-233D-B0B63712568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C1AACF-0464-36F1-16DF-A0F89FD4793C}"/>
              </a:ext>
            </a:extLst>
          </p:cNvPr>
          <p:cNvSpPr txBox="1"/>
          <p:nvPr/>
        </p:nvSpPr>
        <p:spPr>
          <a:xfrm>
            <a:off x="5995219" y="4933922"/>
            <a:ext cx="37080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85000"/>
                  </a:schemeClr>
                </a:solidFill>
                <a:latin typeface="Arial" panose="020B0604020202020204" pitchFamily="34" charset="0"/>
              </a:rPr>
              <a:t>Photo credit: Bureau of Land Mgmt.</a:t>
            </a:r>
          </a:p>
        </p:txBody>
      </p:sp>
    </p:spTree>
    <p:extLst>
      <p:ext uri="{BB962C8B-B14F-4D97-AF65-F5344CB8AC3E}">
        <p14:creationId xmlns:p14="http://schemas.microsoft.com/office/powerpoint/2010/main" val="2898184661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2CA5C10F-5A33-228B-4547-E28C5844C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37094E10-B02A-DF49-9284-EEE3A09EF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4BF25-BE54-EAE9-9833-EB5C2BE87768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E6A99F-6C04-5D6A-0A03-D9AFCEC68BAB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4413060D-95A4-9DD1-446A-18345B207686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2ED93-4A06-BB81-9B64-190D8633DF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492"/>
            <a:ext cx="8450796" cy="448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5742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A521FCC4-F213-C033-262D-A4CD1B78A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CADC927F-6112-01DA-646A-EFDF83F33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66B79A7-F0FE-A22C-5E25-FC4662C8DED9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CFE1D4-E40E-101B-FD6C-B8A442F3FB7A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F38876A-E632-760E-5393-1A65C10587FE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F6C4B-130E-6ECB-85F4-16EE36FDD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3365"/>
            <a:ext cx="8517715" cy="44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1154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9A1E7AA6-C69A-5EF2-3C43-F32804C4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8A2F97-9743-6DC8-B0A0-C405DCD33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2BC0BF-454E-B941-B452-2A330BD1AE88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7F64A8-C421-110E-9078-176327F0726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2F5BAF12-D7CF-EAC4-4141-78E629628F40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 descr="The image displays a series of charts comparing the population trends of various Coho salmon populations from 1980 to 2024.&#10;&#10;AI-generated content may be incorrect.">
            <a:extLst>
              <a:ext uri="{FF2B5EF4-FFF2-40B4-BE49-F238E27FC236}">
                <a16:creationId xmlns:a16="http://schemas.microsoft.com/office/drawing/2014/main" id="{5A96C853-B009-4CEA-24D9-CC01905AC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5408"/>
            <a:ext cx="9144000" cy="479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712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28F51CB-6D9D-2C75-88B5-A69CD0AE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9C8F0D-235D-DF79-47B9-D50938B55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82D5BA-9304-521B-14BF-15D17EC21AEE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3FF92E-49A6-E28A-D73A-14C848424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1465" y="-329644"/>
            <a:ext cx="10488125" cy="558205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4C27D3-4407-D2BC-C7AA-C3E3B0C257B4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AC7ED9F5-622B-B951-82DC-77158ABD269F}"/>
              </a:ext>
            </a:extLst>
          </p:cNvPr>
          <p:cNvSpPr txBox="1">
            <a:spLocks/>
          </p:cNvSpPr>
          <p:nvPr/>
        </p:nvSpPr>
        <p:spPr>
          <a:xfrm>
            <a:off x="-2319951" y="288275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latin typeface="Arial" panose="020B0604020202020204" pitchFamily="34" charset="0"/>
              </a:rPr>
              <a:t>Steelhead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9709ACA-2A6A-F25F-7B09-404899ED749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DE1408-5D22-159F-318B-C52BC90540CF}"/>
              </a:ext>
            </a:extLst>
          </p:cNvPr>
          <p:cNvSpPr txBox="1"/>
          <p:nvPr/>
        </p:nvSpPr>
        <p:spPr>
          <a:xfrm>
            <a:off x="5885935" y="4917643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Photo credit: Oregon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297069592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C98C049-E115-FE04-CBF8-D630D60E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8A983746-4107-8A43-C144-1D98B81C6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CA65C7B-7403-A2EC-2A70-28F1DBD06050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71C3B-61BF-77FF-3C2A-255E1249E5A0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76F0A3D4-7422-6FB3-2F6E-F1C9BC7FAE9D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D326A3-ADFC-2B90-0628-CC8DF45DE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3493"/>
            <a:ext cx="8359120" cy="443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94490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D40567F4-148E-110B-00A7-D90692B08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sign on a tree in a forested area, indicating a salmon spawning survey conducted by the Oregon Department of Fish and Wildlife.&#10;&#10;AI-generated content may be incorrect.">
            <a:extLst>
              <a:ext uri="{FF2B5EF4-FFF2-40B4-BE49-F238E27FC236}">
                <a16:creationId xmlns:a16="http://schemas.microsoft.com/office/drawing/2014/main" id="{1B94DD46-5183-5A65-F91C-44815C29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7358" y="-1794425"/>
            <a:ext cx="11550316" cy="77039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015EE17-AF3A-BE4C-A799-8958B2B21091}"/>
              </a:ext>
            </a:extLst>
          </p:cNvPr>
          <p:cNvSpPr/>
          <p:nvPr/>
        </p:nvSpPr>
        <p:spPr>
          <a:xfrm>
            <a:off x="-143710" y="-74165"/>
            <a:ext cx="9872770" cy="585766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0BC650-E58F-EF4E-41F8-DBF104641A67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942E5FAE-23AA-F0B7-491C-0FFDE8B45A2A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46694B-41DC-E080-8982-7D3454A5C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87343"/>
            <a:ext cx="8458200" cy="449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88487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7C4198C-6DEC-7291-DA71-6DB7D7E3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CBB01D-D4B8-CA54-377C-4AB41F250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D8B7DEB-2F11-3240-ECDD-3F7235E92FAB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5AF99-DF6F-DE94-D411-670FC97E576E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BD7CA0E9-2E3A-2A15-6BAE-B901BF9577F9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The image displays a series of graphs comparing steelhead population trends in various rivers from 1980 to 2024.&#10;&#10;AI-generated content may be incorrect.">
            <a:extLst>
              <a:ext uri="{FF2B5EF4-FFF2-40B4-BE49-F238E27FC236}">
                <a16:creationId xmlns:a16="http://schemas.microsoft.com/office/drawing/2014/main" id="{D8E1A96E-DAD0-540D-EB7D-BD2959EAE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964"/>
            <a:ext cx="9144000" cy="4807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4800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30F2C567-AA9E-57C5-E4A8-5348CF3F5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E7603-827F-A5A0-3B31-B30F7B95E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B63940-5F44-47D1-5DCE-05AAF10D67AC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573247-ED40-1138-FF17-3223EC49AC1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E6699BAE-15BA-3005-05F3-3E7F214E3883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This image is a graph displaying various factors such as Chinook Bias and Variance, grouped data like Dam counts and Peak spawner count, and measures of bias and variance, plotted against a scale from -5 to +5.&#10;&#10;AI-generated content may be incorrect.">
            <a:extLst>
              <a:ext uri="{FF2B5EF4-FFF2-40B4-BE49-F238E27FC236}">
                <a16:creationId xmlns:a16="http://schemas.microsoft.com/office/drawing/2014/main" id="{2F0016B9-B74E-0087-4DB6-F2F314760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0621"/>
            <a:ext cx="9144000" cy="482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9444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3282835B-D4CF-6AB3-547F-8DE558F8E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A86B63-5A44-74FD-DA08-5859E5C0B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587BA01-F0BC-8264-BE27-E327C7821160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751F5B-874E-A24F-FC0C-9F09BDCF187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65888776-A3BE-097E-441A-5DD26A463868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The diagram illustrates a comparison of coho salmon monitoring data, highlighting the differences in bias and variance between monitoring area under curve and peak spawner count, with a scale ranging from -2 to 2.&#10;&#10;AI-generated content may be incorrect.">
            <a:extLst>
              <a:ext uri="{FF2B5EF4-FFF2-40B4-BE49-F238E27FC236}">
                <a16:creationId xmlns:a16="http://schemas.microsoft.com/office/drawing/2014/main" id="{D32B328F-F446-5C20-D6CA-4A7846D48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550"/>
            <a:ext cx="9144000" cy="48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099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D3E75E29-361D-6BB7-1B96-5AB386E81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1F1BA-6F95-1338-6704-F76418D72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DE971C-89D3-80F2-6B23-0189543F5A21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41DE6-8F4B-F7A6-A391-0E7B3A20A9E2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0617C468-0F5E-3BF9-D94D-35903EB4AEAF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4" name="Picture 3" descr="The diagram displays a comparison of Steelhead fish counts (redd and dam) against different levels of bias (negative to positive values), suggesting a relationship between bias and fish count variability.&#10;&#10;AI-generated content may be incorrect.">
            <a:extLst>
              <a:ext uri="{FF2B5EF4-FFF2-40B4-BE49-F238E27FC236}">
                <a16:creationId xmlns:a16="http://schemas.microsoft.com/office/drawing/2014/main" id="{CB992E78-14B3-E713-0AB2-6A4BEC0E6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6779"/>
            <a:ext cx="9144000" cy="4789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28539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8ED6EDA7-C6EF-F82B-44BC-80BFF9FB4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5755F-B88D-BD15-9111-5741377AA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98761"/>
            <a:ext cx="9144000" cy="609897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36AAEC-746C-4B9A-6F22-7085743C2EDE}"/>
              </a:ext>
            </a:extLst>
          </p:cNvPr>
          <p:cNvSpPr/>
          <p:nvPr/>
        </p:nvSpPr>
        <p:spPr>
          <a:xfrm>
            <a:off x="-296110" y="-226565"/>
            <a:ext cx="9872770" cy="5857662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90B917-7CB3-CA63-477F-4B23ED9C3966}"/>
              </a:ext>
            </a:extLst>
          </p:cNvPr>
          <p:cNvSpPr/>
          <p:nvPr/>
        </p:nvSpPr>
        <p:spPr>
          <a:xfrm>
            <a:off x="8325853" y="-106224"/>
            <a:ext cx="818147" cy="5513901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928A65-75E7-CF61-9799-498619E9C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4122" y="-504825"/>
            <a:ext cx="8669975" cy="6502482"/>
          </a:xfrm>
          <a:prstGeom prst="rect">
            <a:avLst/>
          </a:prstGeom>
        </p:spPr>
      </p:pic>
      <p:sp>
        <p:nvSpPr>
          <p:cNvPr id="7" name="Google Shape;92;p19">
            <a:extLst>
              <a:ext uri="{FF2B5EF4-FFF2-40B4-BE49-F238E27FC236}">
                <a16:creationId xmlns:a16="http://schemas.microsoft.com/office/drawing/2014/main" id="{8CC4936F-4C5F-6D19-2AF6-3F8DA9154A66}"/>
              </a:ext>
            </a:extLst>
          </p:cNvPr>
          <p:cNvSpPr txBox="1">
            <a:spLocks/>
          </p:cNvSpPr>
          <p:nvPr/>
        </p:nvSpPr>
        <p:spPr>
          <a:xfrm>
            <a:off x="-2034201" y="3098750"/>
            <a:ext cx="7386958" cy="572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38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4200" dirty="0">
                <a:latin typeface="Arial" panose="020B0604020202020204" pitchFamily="34" charset="0"/>
              </a:rPr>
              <a:t>Chinook</a:t>
            </a:r>
            <a:r>
              <a:rPr lang="en-US" sz="42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  <a:p>
            <a:pPr algn="ctr">
              <a:spcBef>
                <a:spcPts val="0"/>
              </a:spcBef>
            </a:pPr>
            <a:endParaRPr lang="en-US" sz="42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8" name="Google Shape;93;p19">
            <a:extLst>
              <a:ext uri="{FF2B5EF4-FFF2-40B4-BE49-F238E27FC236}">
                <a16:creationId xmlns:a16="http://schemas.microsoft.com/office/drawing/2014/main" id="{81F7A2E0-0CA8-E568-158F-AD2905E830B9}"/>
              </a:ext>
            </a:extLst>
          </p:cNvPr>
          <p:cNvSpPr txBox="1">
            <a:spLocks/>
          </p:cNvSpPr>
          <p:nvPr/>
        </p:nvSpPr>
        <p:spPr>
          <a:xfrm>
            <a:off x="311700" y="1152475"/>
            <a:ext cx="5041057" cy="3416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1050"/>
              </a:spcBef>
              <a:spcAft>
                <a:spcPts val="150"/>
              </a:spcAft>
              <a:buClr>
                <a:schemeClr val="accent1"/>
              </a:buClr>
              <a:buSzPct val="80000"/>
              <a:buFont typeface="Arial" pitchFamily="34" charset="0"/>
              <a:buNone/>
              <a:defRPr sz="1650" kern="1200" spc="8" baseline="0">
                <a:solidFill>
                  <a:schemeClr val="tx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65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225"/>
              </a:spcBef>
              <a:spcAft>
                <a:spcPts val="225"/>
              </a:spcAft>
              <a:buClr>
                <a:schemeClr val="accent1"/>
              </a:buClr>
              <a:buFont typeface="Wingdings 2" pitchFamily="18" charset="2"/>
              <a:buNone/>
              <a:defRPr sz="15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</a:pPr>
            <a:endParaRPr lang="en-US" sz="19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A6669-E410-F46A-3FBA-1DDA5707E001}"/>
              </a:ext>
            </a:extLst>
          </p:cNvPr>
          <p:cNvSpPr txBox="1"/>
          <p:nvPr/>
        </p:nvSpPr>
        <p:spPr>
          <a:xfrm>
            <a:off x="6149055" y="4933922"/>
            <a:ext cx="35541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Photo credit: Olympic </a:t>
            </a:r>
            <a:r>
              <a:rPr lang="en-US" sz="10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Nat’l</a:t>
            </a:r>
            <a:r>
              <a:rPr lang="en-US" sz="1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Park</a:t>
            </a:r>
          </a:p>
        </p:txBody>
      </p:sp>
    </p:spTree>
    <p:extLst>
      <p:ext uri="{BB962C8B-B14F-4D97-AF65-F5344CB8AC3E}">
        <p14:creationId xmlns:p14="http://schemas.microsoft.com/office/powerpoint/2010/main" val="68609399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10182</TotalTime>
  <Words>2425</Words>
  <Application>Microsoft Office PowerPoint</Application>
  <PresentationFormat>On-screen Show (16:9)</PresentationFormat>
  <Paragraphs>556</Paragraphs>
  <Slides>125</Slides>
  <Notes>125</Notes>
  <HiddenSlides>15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28" baseType="lpstr">
      <vt:lpstr>Arial</vt:lpstr>
      <vt:lpstr>Wingdings 2</vt:lpstr>
      <vt:lpstr>View</vt:lpstr>
      <vt:lpstr>Investigating precision and accuracy of commonly used salmonid abundance survey methods  </vt:lpstr>
      <vt:lpstr>Investigating precision and accuracy of commonly used salmonid abundance survey methods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Investigating precision and accuracy of commonly used salmonid abundance survey methods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Brian E McGreal</cp:lastModifiedBy>
  <cp:revision>108</cp:revision>
  <dcterms:modified xsi:type="dcterms:W3CDTF">2026-10-24T20:40:55Z</dcterms:modified>
</cp:coreProperties>
</file>